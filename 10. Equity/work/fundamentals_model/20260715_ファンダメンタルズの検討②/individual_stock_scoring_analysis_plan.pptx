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4D"/>
                </a:solidFill>
                <a:latin typeface="Yu Gothic"/>
              </a:defRPr>
            </a:pPr>
            <a:r>
              <a:rPr sz="1100" b="0" i="0" u="none" strike="noStrike">
                <a:solidFill>
                  <a:srgbClr val="0B1F4D"/>
                </a:solidFill>
                <a:latin typeface="Yu Gothic"/>
              </a:rPr>
              <a:t>5分位別の平均翌期リターン（望ましい例）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平均翌期リターン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-0.3</c:v>
                </c:pt>
                <c:pt idx="1">
                  <c:v>0.05</c:v>
                </c:pt>
                <c:pt idx="2">
                  <c:v>0.18</c:v>
                </c:pt>
                <c:pt idx="3">
                  <c:v>0.34</c:v>
                </c:pt>
                <c:pt idx="4">
                  <c:v>0.62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4D"/>
                </a:solidFill>
                <a:latin typeface="Yu Gothic"/>
              </a:defRPr>
            </a:pPr>
            <a:r>
              <a:rPr sz="1100" b="0" i="0" u="none" strike="noStrike">
                <a:solidFill>
                  <a:srgbClr val="0B1F4D"/>
                </a:solidFill>
                <a:latin typeface="Yu Gothic"/>
              </a:rPr>
              <a:t>Q5−Q1累積リターン（望ましい例）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Q5−Q1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0.5</c:v>
                </c:pt>
                <c:pt idx="2">
                  <c:v>0.1</c:v>
                </c:pt>
                <c:pt idx="3">
                  <c:v>0.8</c:v>
                </c:pt>
                <c:pt idx="4">
                  <c:v>1.2</c:v>
                </c:pt>
                <c:pt idx="5">
                  <c:v>1.1</c:v>
                </c:pt>
                <c:pt idx="6">
                  <c:v>1.7</c:v>
                </c:pt>
                <c:pt idx="7">
                  <c:v>2.4</c:v>
                </c:pt>
                <c:pt idx="8">
                  <c:v>2.2</c:v>
                </c:pt>
                <c:pt idx="9">
                  <c:v>2.8</c:v>
                </c:pt>
                <c:pt idx="10">
                  <c:v>3.5</c:v>
                </c:pt>
                <c:pt idx="11">
                  <c:v>4.1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個別銘柄スコアリングモデル改善の実証分析方針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49808"/>
            <a:ext cx="9966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現行の単純合算スコアから、妥当性を検証しながら段階的に改良する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0624" y="1051560"/>
            <a:ext cx="3931920" cy="0"/>
          </a:xfrm>
          <a:prstGeom prst="line">
            <a:avLst/>
          </a:prstGeom>
          <a:noFill/>
          <a:ln w="17780">
            <a:solidFill>
              <a:srgbClr val="1E5B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51560"/>
            <a:ext cx="708660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219456"/>
            <a:ext cx="960120" cy="320040"/>
          </a:xfrm>
          <a:prstGeom prst="roundRect">
            <a:avLst>
              <a:gd name="adj" fmla="val 1714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3072" y="2880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1/10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2984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572768"/>
            <a:ext cx="5166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個別銘柄のファクター値を用いたスコアが、翌期リターンの順位付けにどれだけ有効かを検証し、どの改良が性能・安定性・説明可能性を高めるかを明確化する。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487168"/>
            <a:ext cx="1664208" cy="941832"/>
          </a:xfrm>
          <a:prstGeom prst="roundRect">
            <a:avLst>
              <a:gd name="adj" fmla="val 7767"/>
            </a:avLst>
          </a:prstGeom>
          <a:solidFill>
            <a:srgbClr val="F3F4F6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596896"/>
            <a:ext cx="292608" cy="29260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5633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2624328"/>
            <a:ext cx="1161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現行モデル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1362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0–1順位変換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全ファクター単純平均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59152" y="2962656"/>
            <a:ext cx="12801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578608" y="2487168"/>
            <a:ext cx="1664208" cy="941832"/>
          </a:xfrm>
          <a:prstGeom prst="roundRect">
            <a:avLst>
              <a:gd name="adj" fmla="val 7767"/>
            </a:avLst>
          </a:prstGeom>
          <a:solidFill>
            <a:srgbClr val="E9F7F8"/>
          </a:solidFill>
          <a:ln w="15240">
            <a:solidFill>
              <a:srgbClr val="1FA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2596896"/>
            <a:ext cx="292608" cy="292608"/>
          </a:xfrm>
          <a:prstGeom prst="ellipse">
            <a:avLst/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65633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17520" y="2624328"/>
            <a:ext cx="1161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A4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段階比較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926080"/>
            <a:ext cx="1362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前処理・中立化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グループ化・IC重み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79392" y="2962656"/>
            <a:ext cx="12801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98848" y="2487168"/>
            <a:ext cx="1664208" cy="941832"/>
          </a:xfrm>
          <a:prstGeom prst="roundRect">
            <a:avLst>
              <a:gd name="adj" fmla="val 7767"/>
            </a:avLst>
          </a:prstGeom>
          <a:solidFill>
            <a:srgbClr val="EAF7E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596896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65633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2624328"/>
            <a:ext cx="1161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評価固定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2926080"/>
            <a:ext cx="1362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5分位・RankIC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Q5−Q1を同一条件で比較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99632" y="2962656"/>
            <a:ext cx="128016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19088" y="2487168"/>
            <a:ext cx="1664208" cy="941832"/>
          </a:xfrm>
          <a:prstGeom prst="roundRect">
            <a:avLst>
              <a:gd name="adj" fmla="val 7767"/>
            </a:avLst>
          </a:prstGeom>
          <a:solidFill>
            <a:srgbClr val="EAF2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2596896"/>
            <a:ext cx="292608" cy="292608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65633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2624328"/>
            <a:ext cx="1161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採用判断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2926080"/>
            <a:ext cx="1362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予測力・安定性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説明可能性・実装性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321040" y="1234440"/>
            <a:ext cx="3246120" cy="382219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149047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この資料で明確にすること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549640" y="1874520"/>
            <a:ext cx="292608" cy="292608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9640" y="1933956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42832" y="193852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現行スコアの定義と評価方法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8549640" y="2386584"/>
            <a:ext cx="292608" cy="292608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2446020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42832" y="2450592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どの順番で改良を試すか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8549640" y="2898648"/>
            <a:ext cx="292608" cy="292608"/>
          </a:xfrm>
          <a:prstGeom prst="ellipse">
            <a:avLst/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9640" y="295808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942832" y="296265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各ステップで何が改善すればよいか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8549640" y="3410712"/>
            <a:ext cx="292608" cy="292608"/>
          </a:xfrm>
          <a:prstGeom prst="ellipse">
            <a:avLst/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3470148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42832" y="3474720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最終アウトプットに必要な表・グラフ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8549640" y="3922776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49640" y="398221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942832" y="398678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モデル採用の判断基準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566928" y="5138928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EEF4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" y="5413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最重要メッセージ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816352" y="5321808"/>
            <a:ext cx="8366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シグナル作成方法の改善と、ポートフォリオ構築方法の改善を混ぜない。まずはスコアの順位付け能力だけを、同じ5分位評価で比較する。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411480" y="6574536"/>
            <a:ext cx="11384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9768" y="66019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個別銘柄スコアリングモデル改善の実証分析方針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現行スコアと評価プロトコル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49808"/>
            <a:ext cx="9966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評価方法を固定し、スコア作成ロジックの差分だけを検証する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0624" y="1051560"/>
            <a:ext cx="3931920" cy="0"/>
          </a:xfrm>
          <a:prstGeom prst="line">
            <a:avLst/>
          </a:prstGeom>
          <a:noFill/>
          <a:ln w="17780">
            <a:solidFill>
              <a:srgbClr val="1E5B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51560"/>
            <a:ext cx="708660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219456"/>
            <a:ext cx="960120" cy="320040"/>
          </a:xfrm>
          <a:prstGeom prst="roundRect">
            <a:avLst>
              <a:gd name="adj" fmla="val 1714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3072" y="2880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2/10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34440"/>
            <a:ext cx="5394960" cy="347472"/>
          </a:xfrm>
          <a:prstGeom prst="rect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3075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" y="129844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現行スコアの定義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各ファクターを月次クロスセクションで0–1順位へ変換し、単純平均する。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21488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pᵢₖₜ = (rank(xᵢₖₜ) − 0.5) / Nₜ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542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Sᵢₜ = (1 / K) Σₖ pᵢₖₜ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880360"/>
            <a:ext cx="4709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方向統一・欠損再正規化・グループ階層化が不十分だと、スコアの意味が歪む可能性がある。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0" y="12344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1FA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234440"/>
            <a:ext cx="5257800" cy="347472"/>
          </a:xfrm>
          <a:prstGeom prst="rect">
            <a:avLst/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13075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84848" y="1298448"/>
            <a:ext cx="4800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固定する評価方法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93408" y="1719072"/>
            <a:ext cx="292608" cy="292608"/>
          </a:xfrm>
          <a:prstGeom prst="ellipse">
            <a:avLst/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1778508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59168" y="1764792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月次5分位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092440" y="1764792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Q1〜Q5の翌期等ウェイトリターン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6693408" y="2066544"/>
            <a:ext cx="292608" cy="292608"/>
          </a:xfrm>
          <a:prstGeom prst="ellipse">
            <a:avLst/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2125980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59168" y="2112264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Q5−Q1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8092440" y="2112264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高スコア−低スコアのロングショート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6693408" y="2414016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247345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59168" y="2459736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RankIC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092440" y="2459736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スコア順位と翌期リターン順位の相関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6693408" y="2761488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93408" y="282092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59168" y="2807208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安定性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8092440" y="2807208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国・セクター・期間別の再現性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502920" y="3703320"/>
            <a:ext cx="11155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9502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評価の基本形：スコアで5分位に分け、翌期リターンを見る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05840" y="448056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CECEC"/>
          </a:solidFill>
          <a:ln w="15240">
            <a:solidFill>
              <a:srgbClr val="C84B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" y="460857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97280" y="4956048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低スコア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624328" y="448056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5240">
            <a:solidFill>
              <a:srgbClr val="D87C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0048" y="460857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715768" y="4956048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242816" y="448056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88536" y="460857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334256" y="4956048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中位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861304" y="448056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5240">
            <a:solidFill>
              <a:srgbClr val="1FA4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07024" y="460857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4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Q4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952744" y="4956048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7479792" y="448056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E8F7E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5512" y="460857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571232" y="4956048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高スコア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9052560" y="4892040"/>
            <a:ext cx="1600200" cy="0"/>
          </a:xfrm>
          <a:prstGeom prst="line">
            <a:avLst/>
          </a:prstGeom>
          <a:noFill/>
          <a:ln w="15240">
            <a:solidFill>
              <a:srgbClr val="1E5BBE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8366760" y="45262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Rᴸˢ = R(Q5) − R(Q1)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388352" y="5193792"/>
            <a:ext cx="3977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望ましい状態：Q1 &lt; Q2 &lt; Q3 &lt; Q4 &lt; Q5 かつ Q5−Q1が安定してプラス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11480" y="6574536"/>
            <a:ext cx="11384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9768" y="66019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個別銘柄スコアリングモデル改善の実証分析方針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段階比較：一つずつ変更して効果を測る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49808"/>
            <a:ext cx="9966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どの処理がスコア改善に寄与したかを説明できる形にする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0624" y="1051560"/>
            <a:ext cx="3931920" cy="0"/>
          </a:xfrm>
          <a:prstGeom prst="line">
            <a:avLst/>
          </a:prstGeom>
          <a:noFill/>
          <a:ln w="17780">
            <a:solidFill>
              <a:srgbClr val="1E5B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51560"/>
            <a:ext cx="708660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219456"/>
            <a:ext cx="960120" cy="320040"/>
          </a:xfrm>
          <a:prstGeom prst="roundRect">
            <a:avLst>
              <a:gd name="adj" fmla="val 1714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3072" y="2880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3/10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3F4F6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490472"/>
            <a:ext cx="530352" cy="256032"/>
          </a:xfrm>
          <a:prstGeom prst="roundRect">
            <a:avLst>
              <a:gd name="adj" fmla="val 14286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49908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426464" y="1426464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26464" y="1636776"/>
            <a:ext cx="16733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0–1順位を全ファクター単純平均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1911096" y="1956816"/>
            <a:ext cx="0" cy="-8229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1947672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3970">
            <a:solidFill>
              <a:srgbClr val="1E5B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112264"/>
            <a:ext cx="530352" cy="256032"/>
          </a:xfrm>
          <a:prstGeom prst="roundRect">
            <a:avLst>
              <a:gd name="adj" fmla="val 14286"/>
            </a:avLst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17170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26464" y="2048256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Direction &amp; Missing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26464" y="2258568"/>
            <a:ext cx="16733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方向統一・欠損時のウェイト再正規化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1911096" y="2578608"/>
            <a:ext cx="0" cy="-8229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" y="2569464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3970">
            <a:solidFill>
              <a:srgbClr val="1FA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2734056"/>
            <a:ext cx="530352" cy="256032"/>
          </a:xfrm>
          <a:prstGeom prst="roundRect">
            <a:avLst>
              <a:gd name="adj" fmla="val 14286"/>
            </a:avLst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2793492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26464" y="2670048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A4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Preprocessed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26464" y="2880360"/>
            <a:ext cx="16733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指標妥当性・Winsorize・順位化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1911096" y="3200400"/>
            <a:ext cx="0" cy="-8229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0080" y="3191256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3970">
            <a:solidFill>
              <a:srgbClr val="157A7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3355848"/>
            <a:ext cx="530352" cy="256032"/>
          </a:xfrm>
          <a:prstGeom prst="roundRect">
            <a:avLst>
              <a:gd name="adj" fmla="val 14286"/>
            </a:avLst>
          </a:prstGeom>
          <a:solidFill>
            <a:srgbClr val="157A7F"/>
          </a:solidFill>
          <a:ln w="12700">
            <a:solidFill>
              <a:srgbClr val="157A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3415284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26464" y="3291840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7A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Neutralized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426464" y="3502152"/>
            <a:ext cx="16733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国・セクター・サイズ中立化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3410712" y="3493008"/>
            <a:ext cx="2761488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46520" y="1325880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3970">
            <a:solidFill>
              <a:srgbClr val="2E8B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56248" y="1490472"/>
            <a:ext cx="530352" cy="256032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1549908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232904" y="1426464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Hierarchical EW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32904" y="1636776"/>
            <a:ext cx="16733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グループ内EW＋グループ間EW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7717536" y="1956816"/>
            <a:ext cx="0" cy="-8229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46520" y="1947672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3970">
            <a:solidFill>
              <a:srgbClr val="D87C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56248" y="2112264"/>
            <a:ext cx="530352" cy="256032"/>
          </a:xfrm>
          <a:prstGeom prst="roundRect">
            <a:avLst>
              <a:gd name="adj" fmla="val 14286"/>
            </a:avLst>
          </a:prstGeom>
          <a:solidFill>
            <a:srgbClr val="D87C24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92824" y="217170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S05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232904" y="2048256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 / Corr Weight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32904" y="2258568"/>
            <a:ext cx="16733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予測力と重複を考慮した重み付け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7717536" y="2578608"/>
            <a:ext cx="0" cy="-8229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446520" y="2569464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3970">
            <a:solidFill>
              <a:srgbClr val="7357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56248" y="2734056"/>
            <a:ext cx="530352" cy="256032"/>
          </a:xfrm>
          <a:prstGeom prst="roundRect">
            <a:avLst>
              <a:gd name="adj" fmla="val 14286"/>
            </a:avLst>
          </a:prstGeom>
          <a:solidFill>
            <a:srgbClr val="7357C7"/>
          </a:solidFill>
          <a:ln w="12700">
            <a:solidFill>
              <a:srgbClr val="7357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92824" y="2793492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232904" y="2670048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357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Factor Mapping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32904" y="2880360"/>
            <a:ext cx="16733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線形・区分・二次・Ridgeから選択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7717536" y="3200400"/>
            <a:ext cx="0" cy="-8229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446520" y="3191256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3970">
            <a:solidFill>
              <a:srgbClr val="0B1F4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56248" y="3355848"/>
            <a:ext cx="530352" cy="256032"/>
          </a:xfrm>
          <a:prstGeom prst="roundRect">
            <a:avLst>
              <a:gd name="adj" fmla="val 14286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92824" y="3415284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S07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232904" y="3291840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OOF Ridge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232904" y="3502152"/>
            <a:ext cx="16733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グループ間をOOF Ridgeで統合</a:t>
            </a:r>
            <a:endParaRPr lang="en-US" sz="710" dirty="0"/>
          </a:p>
        </p:txBody>
      </p:sp>
      <p:sp>
        <p:nvSpPr>
          <p:cNvPr id="55" name="Shape 53"/>
          <p:cNvSpPr/>
          <p:nvPr/>
        </p:nvSpPr>
        <p:spPr>
          <a:xfrm>
            <a:off x="640080" y="425196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EEF6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449884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比較の原則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743200" y="4828032"/>
            <a:ext cx="292608" cy="292608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0" y="4887468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127248" y="478231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評価は固定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127248" y="5047488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全シナリオで5分位・Q5−Q1・RankICを同じ条件で計測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5486400" y="4828032"/>
            <a:ext cx="292608" cy="292608"/>
          </a:xfrm>
          <a:prstGeom prst="ellipse">
            <a:avLst/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0" y="4887468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870448" y="478231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変更は1つずつ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870448" y="5047488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改善幅を ΔRankIC、ΔSharpe、ΔTurnover で説明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8229600" y="4828032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29600" y="4887468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613648" y="478231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複雑化は最後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613648" y="5047488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単純モデルで十分なら、説明可能性と運用安定性を優先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411480" y="6574536"/>
            <a:ext cx="11384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9768" y="66019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個別銘柄スコアリングモデル改善の実証分析方針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評価指標：何をもって改善と判断するか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49808"/>
            <a:ext cx="9966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予測順位・分位リターン・安定性・実装性を同時に確認する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0624" y="1051560"/>
            <a:ext cx="3931920" cy="0"/>
          </a:xfrm>
          <a:prstGeom prst="line">
            <a:avLst/>
          </a:prstGeom>
          <a:noFill/>
          <a:ln w="17780">
            <a:solidFill>
              <a:srgbClr val="1E5B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51560"/>
            <a:ext cx="708660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219456"/>
            <a:ext cx="960120" cy="320040"/>
          </a:xfrm>
          <a:prstGeom prst="roundRect">
            <a:avLst>
              <a:gd name="adj" fmla="val 1714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3072" y="2880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4/10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12344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1E5B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234440"/>
            <a:ext cx="109728" cy="960120"/>
          </a:xfrm>
          <a:prstGeom prst="rect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399032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予測順位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1636776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RankIC / RankIC IR / IC正符号率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877824" y="185623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スコア順位が翌期リターン順位をどの程度説明するか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4526280" y="12344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234440"/>
            <a:ext cx="109728" cy="960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399032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分位性能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82312" y="1636776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Q1〜Q5平均・累積 / Q5−Q1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782312" y="185623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高スコア銘柄が低スコア銘柄を上回るか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8430768" y="12344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1FA4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234440"/>
            <a:ext cx="109728" cy="960120"/>
          </a:xfrm>
          <a:prstGeom prst="rect">
            <a:avLst/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1399032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A4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単調性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0" y="1636776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Monotonicity / Adjacent monotonicity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8686800" y="185623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Q1からQ5へ順にリターンが改善しているか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621792" y="2505456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D87C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2505456"/>
            <a:ext cx="109728" cy="960120"/>
          </a:xfrm>
          <a:prstGeom prst="rect">
            <a:avLst/>
          </a:prstGeom>
          <a:solidFill>
            <a:srgbClr val="D87C24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2670048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安定性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7824" y="2907792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国別・セクター別・時価総額別・期間別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877824" y="312724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特定の市場環境や一部銘柄だけに依存していないか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4526280" y="2505456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7357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2505456"/>
            <a:ext cx="109728" cy="960120"/>
          </a:xfrm>
          <a:prstGeom prst="rect">
            <a:avLst/>
          </a:prstGeom>
          <a:solidFill>
            <a:srgbClr val="7357C7"/>
          </a:solidFill>
          <a:ln w="12700">
            <a:solidFill>
              <a:srgbClr val="7357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2670048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357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実装性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82312" y="2907792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Turnover / コスト控除後 / 流動性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4782312" y="312724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実運用で実現可能な改善か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8430768" y="2505456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0B1F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30768" y="2505456"/>
            <a:ext cx="109728" cy="96012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2670048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複雑性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686800" y="2907792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1-SEルール / 係数安定性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8686800" y="312724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改善幅が小さいなら単純モデルを優先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621792" y="3959352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42245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主要指標の数式イメージ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971800" y="416052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RankICₜ = SpearmanCorr(Sᵢₜ, rᵢ,ₜ₊₁)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25312" y="416052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Rᴸˢₜ₊₁ = R(Q5)ₜ₊₁ − R(Q1)ₜ₊₁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75320" y="4160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A4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Monotonicity = SpearmanCorr((1..5), (R̄₁..R̄₅))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21792" y="5285232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54955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望ましい結果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450592" y="5431536"/>
            <a:ext cx="88513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平均RankICが正、Q5−Q1が安定的にプラス、分位リターンが概ね単調、国・セクター別でも方向が崩れず、Turnoverとコストが許容範囲内。</a:t>
            </a:r>
            <a:endParaRPr lang="en-US" sz="1070" dirty="0"/>
          </a:p>
        </p:txBody>
      </p:sp>
      <p:sp>
        <p:nvSpPr>
          <p:cNvPr id="46" name="Shape 44"/>
          <p:cNvSpPr/>
          <p:nvPr/>
        </p:nvSpPr>
        <p:spPr>
          <a:xfrm>
            <a:off x="411480" y="6574536"/>
            <a:ext cx="11384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" y="66019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個別銘柄スコアリングモデル改善の実証分析方針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現行モデルの診断：まず何を見るか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49808"/>
            <a:ext cx="9966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単純合算モデルが「本当に順位付けできているか」を確認する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0624" y="1051560"/>
            <a:ext cx="3931920" cy="0"/>
          </a:xfrm>
          <a:prstGeom prst="line">
            <a:avLst/>
          </a:prstGeom>
          <a:noFill/>
          <a:ln w="17780">
            <a:solidFill>
              <a:srgbClr val="1E5B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51560"/>
            <a:ext cx="708660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219456"/>
            <a:ext cx="960120" cy="320040"/>
          </a:xfrm>
          <a:prstGeom prst="roundRect">
            <a:avLst>
              <a:gd name="adj" fmla="val 1714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3072" y="2880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5/10</a:t>
            </a:r>
            <a:endParaRPr lang="en-US" sz="8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7240" y="1417320"/>
          <a:ext cx="4663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080760" y="141732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777240" y="4160520"/>
            <a:ext cx="48920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4160520"/>
            <a:ext cx="4892040" cy="347472"/>
          </a:xfrm>
          <a:prstGeom prst="rect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0392" y="423367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61288" y="4224528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現行モデルで最初に確認する論点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4617720"/>
            <a:ext cx="452628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Q1〜Q5の平均リターンが概ね単調か
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Q5−Q1が特定の数か月だけに依存していないか
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RankICの平均・中央値・正符号率が十分か
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国・セクター・時価総額別でも方向が維持されるか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6080760" y="4160520"/>
            <a:ext cx="502920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5240">
            <a:solidFill>
              <a:srgbClr val="D87C2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80760" y="4160520"/>
            <a:ext cx="5029200" cy="347472"/>
          </a:xfrm>
          <a:prstGeom prst="rect">
            <a:avLst/>
          </a:prstGeom>
          <a:solidFill>
            <a:srgbClr val="D87C24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53912" y="423367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464808" y="4224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悪い兆候と解釈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263640" y="4617720"/>
            <a:ext cx="466344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Q5だけ高い：上位集中型のシグナルの可能性
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Q1だけ低い：ショート側の判別力だけが強い可能性
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総リターンだけ有効：国・セクター配分を見ている可能性
</a:t>
            </a:r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Turnoverが高い：境界付近の順位入替に弱い可能性</a:t>
            </a:r>
            <a:endParaRPr lang="en-US" sz="830" dirty="0"/>
          </a:p>
        </p:txBody>
      </p:sp>
      <p:sp>
        <p:nvSpPr>
          <p:cNvPr id="20" name="Shape 16"/>
          <p:cNvSpPr/>
          <p:nvPr/>
        </p:nvSpPr>
        <p:spPr>
          <a:xfrm>
            <a:off x="411480" y="6574536"/>
            <a:ext cx="11384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9768" y="66019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個別銘柄スコアリングモデル改善の実証分析方針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前半の改良：スコアの土台を整える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49808"/>
            <a:ext cx="9966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現行モデルから大きく複雑化する前に、まず基礎処理を検証する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0624" y="1051560"/>
            <a:ext cx="3931920" cy="0"/>
          </a:xfrm>
          <a:prstGeom prst="line">
            <a:avLst/>
          </a:prstGeom>
          <a:noFill/>
          <a:ln w="17780">
            <a:solidFill>
              <a:srgbClr val="1E5B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51560"/>
            <a:ext cx="708660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219456"/>
            <a:ext cx="960120" cy="320040"/>
          </a:xfrm>
          <a:prstGeom prst="roundRect">
            <a:avLst>
              <a:gd name="adj" fmla="val 1714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3072" y="2880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6/10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23444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362456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421892"/>
            <a:ext cx="4937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27048" y="1380744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方向・欠損処理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27048" y="16276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すべてのファクターを「高いほど望ましい」方向へ統一。欠損ファクターを除き、利用可能なファクターでウェイト再正規化。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1527048" y="1929384"/>
            <a:ext cx="4251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検証：欠損率がスコアを歪めていないか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658368" y="2350008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1FA4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2478024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2537460"/>
            <a:ext cx="4937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527048" y="24963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A4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27048" y="27432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指標固有の妥当性処理、Winsorize、0–1または[-1,1]順位化。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1527048" y="3044952"/>
            <a:ext cx="4251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検証：外れ値や単位差への過剰反応を抑えられるか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658368" y="3465576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157A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359359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57A7F"/>
          </a:solidFill>
          <a:ln w="12700">
            <a:solidFill>
              <a:srgbClr val="157A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3653028"/>
            <a:ext cx="4937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527048" y="3611880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7A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中立化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27048" y="38587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国・セクター・サイズ要因を回帰で除去した残差を順位化。Rawスコアも比較用に保持。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1527048" y="4160520"/>
            <a:ext cx="4251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検証：個別銘柄固有の選別力があるか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658368" y="4581144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" y="470916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" y="4768596"/>
            <a:ext cx="4937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527048" y="4727448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階層等ウェイト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27048" y="49743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まずグループ内で平均し、次にグループ間で等ウェイト。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1527048" y="5276088"/>
            <a:ext cx="4251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検証：ファクター数が多いグループへの偏りを防げるか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6629400" y="1325880"/>
            <a:ext cx="475488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157276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重要比較：直接平均 vs 階層平均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205740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直接平均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01000" y="2029968"/>
            <a:ext cx="2057400" cy="320040"/>
          </a:xfrm>
          <a:prstGeom prst="rect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8400" y="2029968"/>
            <a:ext cx="411480" cy="320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69880" y="2029968"/>
            <a:ext cx="822960" cy="320040"/>
          </a:xfrm>
          <a:prstGeom prst="rect">
            <a:avLst/>
          </a:prstGeom>
          <a:solidFill>
            <a:srgbClr val="D87C24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2450592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 62.5%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8412480" y="2450592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Momentum 12.5%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9738360" y="2450592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Quality 25.0%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7178040" y="2788920"/>
            <a:ext cx="4114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ファクター数が多いグループほど大きな影響を持つ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7040880" y="333756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階層平均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01000" y="3310128"/>
            <a:ext cx="1097280" cy="320040"/>
          </a:xfrm>
          <a:prstGeom prst="rect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98280" y="3310128"/>
            <a:ext cx="1097280" cy="320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95560" y="3310128"/>
            <a:ext cx="1097280" cy="320040"/>
          </a:xfrm>
          <a:prstGeom prst="rect">
            <a:avLst/>
          </a:prstGeom>
          <a:solidFill>
            <a:srgbClr val="D87C24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18120" y="373075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 33%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8869680" y="373075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Momentum 33%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9921240" y="373075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Quality 33%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7178040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グループ数の多寡ではなく、投資テーマ単位でバランスを取る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49440" y="4782312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EAF7E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78040" y="4965192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最初に確認したい論点：階層化だけでRankICやQ5−Q1が改善するか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411480" y="6574536"/>
            <a:ext cx="11384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" y="66019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個別銘柄スコアリングモデル改善の実証分析方針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後半の改良：予測力と重複を学習する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49808"/>
            <a:ext cx="9966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前処理・階層化で改善が見えた後、推定を使うモデルへ進む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0624" y="1051560"/>
            <a:ext cx="3931920" cy="0"/>
          </a:xfrm>
          <a:prstGeom prst="line">
            <a:avLst/>
          </a:prstGeom>
          <a:noFill/>
          <a:ln w="17780">
            <a:solidFill>
              <a:srgbClr val="1E5B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51560"/>
            <a:ext cx="708660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219456"/>
            <a:ext cx="960120" cy="320040"/>
          </a:xfrm>
          <a:prstGeom prst="roundRect">
            <a:avLst>
              <a:gd name="adj" fmla="val 1714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3072" y="2880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7/10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261872"/>
            <a:ext cx="1097280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5240">
            <a:solidFill>
              <a:srgbClr val="D87C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42646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D87C24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485900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600200" y="1426464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相関調整ICウェイト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142646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過去OOSのRankICが高く、他ファクターと重複しにくいものを重視する。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4160520" y="1856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同じValue内の似た指標を二重計上しない。直近ICが負なら反転ではなく縮小。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8915400" y="1517904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FF3E6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9992" y="16733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採用条件：IC重みが等ウェイトを安定的に上回る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640080" y="2706624"/>
            <a:ext cx="1097280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5240">
            <a:solidFill>
              <a:srgbClr val="7357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871216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7357C7"/>
          </a:solidFill>
          <a:ln w="12700">
            <a:solidFill>
              <a:srgbClr val="7357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930652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S06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600200" y="2871216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357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単一ファクター写像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60520" y="28712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Linear / Piecewise / Quadratic / Combined Ridgeを比較し、各ファクターを期待リターンへ変換する。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4160520" y="330098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順位を足すだけではなく、過去に観測された効き方を使う。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8915400" y="2962656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2EEFF"/>
          </a:solidFill>
          <a:ln w="12700">
            <a:solidFill>
              <a:srgbClr val="7357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9992" y="311810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7357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採用条件：非線形の改善が1-SEを超える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40080" y="4151376"/>
            <a:ext cx="1097280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5240">
            <a:solidFill>
              <a:srgbClr val="0B1F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431596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375404"/>
            <a:ext cx="5852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S07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600200" y="4315968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OOF Ridge統合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60520" y="43159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グループ別のOut-of-Fold予測をRidgeで統合する。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4160520" y="47457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グループ間の重複を抑えつつ、過学習しにくい最終スコアを作る。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8915400" y="4407408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9992" y="456285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採用条件：OOF統合がグループ平均を上回る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640080" y="5715000"/>
            <a:ext cx="10972800" cy="4572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3970">
            <a:solidFill>
              <a:srgbClr val="D87C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5843016"/>
            <a:ext cx="10469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注意：S05以降は学習・評価を必ず分離する。時点 t のウェイトや係数は t−1 までの実現リターンだけで推定し、t+1 のリターンでOOS評価する。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6574536"/>
            <a:ext cx="11384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66019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個別銘柄スコアリングモデル改善の実証分析方針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最終アウトプット：比較結果をどう見せるか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49808"/>
            <a:ext cx="9966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上司説明では「どの処理が効いたか」を一目で追える構成にする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0624" y="1051560"/>
            <a:ext cx="3931920" cy="0"/>
          </a:xfrm>
          <a:prstGeom prst="line">
            <a:avLst/>
          </a:prstGeom>
          <a:noFill/>
          <a:ln w="17780">
            <a:solidFill>
              <a:srgbClr val="1E5B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51560"/>
            <a:ext cx="708660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219456"/>
            <a:ext cx="960120" cy="320040"/>
          </a:xfrm>
          <a:prstGeom prst="roundRect">
            <a:avLst>
              <a:gd name="adj" fmla="val 1714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3072" y="2880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8/10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1170432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17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Scenario Summary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Model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03120" y="178308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RankIC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3063240" y="178308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Q5−Q1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4069080" y="178308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Net SR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4919472" y="178308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Turnover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868680" y="2011680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103120" y="201168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0.03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063240" y="201168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2.1%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069080" y="201168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0.35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9472" y="201168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180%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49808" y="2231136"/>
            <a:ext cx="49834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267712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Hier EW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2103120" y="226771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0.05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063240" y="226771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3.0%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4069080" y="226771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0.52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4919472" y="226771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150%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68680" y="2523744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Neutral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2103120" y="25237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0.06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3063240" y="25237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3.4%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4069080" y="25237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0.60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4919472" y="25237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145%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749808" y="2743200"/>
            <a:ext cx="49834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2779776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 Adj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103120" y="277977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0.07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3063240" y="277977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4.1%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069080" y="277977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0.70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919472" y="277977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155%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6400800" y="1170432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14264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必要なPDF・Excel出力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720840" y="1856232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1915668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14032" y="192024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分位リターン</a:t>
            </a:r>
            <a:endParaRPr lang="en-US" sz="890" dirty="0"/>
          </a:p>
        </p:txBody>
      </p:sp>
      <p:sp>
        <p:nvSpPr>
          <p:cNvPr id="42" name="Text 40"/>
          <p:cNvSpPr/>
          <p:nvPr/>
        </p:nvSpPr>
        <p:spPr>
          <a:xfrm>
            <a:off x="8275320" y="1920240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Q1〜Q5平均・累積、Q5−Q1累積とDD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720840" y="2386584"/>
            <a:ext cx="292608" cy="292608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446020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14032" y="2450592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RankIC時系列</a:t>
            </a:r>
            <a:endParaRPr lang="en-US" sz="890" dirty="0"/>
          </a:p>
        </p:txBody>
      </p:sp>
      <p:sp>
        <p:nvSpPr>
          <p:cNvPr id="46" name="Text 44"/>
          <p:cNvSpPr/>
          <p:nvPr/>
        </p:nvSpPr>
        <p:spPr>
          <a:xfrm>
            <a:off x="8275320" y="2450592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月次RankIC、Rolling 12M、IC正符号率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6720840" y="2916936"/>
            <a:ext cx="292608" cy="292608"/>
          </a:xfrm>
          <a:prstGeom prst="ellipse">
            <a:avLst/>
          </a:prstGeom>
          <a:solidFill>
            <a:srgbClr val="D87C24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297637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14032" y="2980944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増分効果</a:t>
            </a:r>
            <a:endParaRPr lang="en-US" sz="890" dirty="0"/>
          </a:p>
        </p:txBody>
      </p:sp>
      <p:sp>
        <p:nvSpPr>
          <p:cNvPr id="50" name="Text 48"/>
          <p:cNvSpPr/>
          <p:nvPr/>
        </p:nvSpPr>
        <p:spPr>
          <a:xfrm>
            <a:off x="8275320" y="2980944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ΔRankIC / ΔSharpe / ΔTurnoverのウォーターフォール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6720840" y="3447288"/>
            <a:ext cx="292608" cy="292608"/>
          </a:xfrm>
          <a:prstGeom prst="ellipse">
            <a:avLst/>
          </a:prstGeom>
          <a:solidFill>
            <a:srgbClr val="7357C7"/>
          </a:solidFill>
          <a:ln w="12700">
            <a:solidFill>
              <a:srgbClr val="7357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350672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14032" y="351129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7357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安定性分解</a:t>
            </a:r>
            <a:endParaRPr lang="en-US" sz="890" dirty="0"/>
          </a:p>
        </p:txBody>
      </p:sp>
      <p:sp>
        <p:nvSpPr>
          <p:cNvPr id="54" name="Text 52"/>
          <p:cNvSpPr/>
          <p:nvPr/>
        </p:nvSpPr>
        <p:spPr>
          <a:xfrm>
            <a:off x="8275320" y="3511296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国別・セクター別・時価総額別のヒートマップ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6720840" y="3977640"/>
            <a:ext cx="292608" cy="292608"/>
          </a:xfrm>
          <a:prstGeom prst="ellipse">
            <a:avLst/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20840" y="4037076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14032" y="4041648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FA4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モデル選択</a:t>
            </a:r>
            <a:endParaRPr lang="en-US" sz="890" dirty="0"/>
          </a:p>
        </p:txBody>
      </p:sp>
      <p:sp>
        <p:nvSpPr>
          <p:cNvPr id="58" name="Text 56"/>
          <p:cNvSpPr/>
          <p:nvPr/>
        </p:nvSpPr>
        <p:spPr>
          <a:xfrm>
            <a:off x="8275320" y="4041648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4候補のOOS性能、1-SE閾値、採用理由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6720840" y="4507992"/>
            <a:ext cx="292608" cy="29260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4567428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114032" y="457200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実装性</a:t>
            </a:r>
            <a:endParaRPr lang="en-US" sz="890" dirty="0"/>
          </a:p>
        </p:txBody>
      </p:sp>
      <p:sp>
        <p:nvSpPr>
          <p:cNvPr id="62" name="Text 60"/>
          <p:cNvSpPr/>
          <p:nvPr/>
        </p:nvSpPr>
        <p:spPr>
          <a:xfrm>
            <a:off x="8275320" y="4572000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Turnover・流動性・コスト控除後の比較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594360" y="5715000"/>
            <a:ext cx="110185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3970">
            <a:solidFill>
              <a:srgbClr val="1E5BB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5861304"/>
            <a:ext cx="10469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望ましい見せ方：Current → Hierarchical EW → Neutralized → IC Adjusted → Factor Mapping → OOF Ridge の順に、改善幅と理由を同じフォーマットで比較する。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6574536"/>
            <a:ext cx="11384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9768" y="66019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個別銘柄スコアリングモデル改善の実証分析方針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採用判断：どのモデルを良いモデルとみなすか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49808"/>
            <a:ext cx="9966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単一指標ではなく、ゲート方式で予測力・安定性・実装性を評価する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0624" y="1051560"/>
            <a:ext cx="3931920" cy="0"/>
          </a:xfrm>
          <a:prstGeom prst="line">
            <a:avLst/>
          </a:prstGeom>
          <a:noFill/>
          <a:ln w="17780">
            <a:solidFill>
              <a:srgbClr val="1E5B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51560"/>
            <a:ext cx="708660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219456"/>
            <a:ext cx="960120" cy="320040"/>
          </a:xfrm>
          <a:prstGeom prst="roundRect">
            <a:avLst>
              <a:gd name="adj" fmla="val 1714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3072" y="2880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9/10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143560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495044"/>
            <a:ext cx="6126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Gate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15087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平均OOS RankICが正、ベースラインより改善、Q5−Q1がプラス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2926080" y="123444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143560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1495044"/>
            <a:ext cx="6126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Gate 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154680" y="19202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単調性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54680" y="2423160"/>
            <a:ext cx="15087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Q1〜Q5が概ね単調。上位または下位の一部だけに依存しない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5166360" y="123444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1FA4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30952" y="143560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7528" y="1495044"/>
            <a:ext cx="6126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Gate 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94960" y="19202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4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安定性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423160"/>
            <a:ext cx="15087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サブ期間・国・セクター・時価総額別で方向が大きく崩れない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7406640" y="123444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D87C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71232" y="143560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D87C24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1495044"/>
            <a:ext cx="6126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Gate 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635240" y="19202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35240" y="2423160"/>
            <a:ext cx="15087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Turnover、流動性、コスト控除後リターンが許容範囲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9646920" y="1234440"/>
            <a:ext cx="1965960" cy="2240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240">
            <a:solidFill>
              <a:srgbClr val="7357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11512" y="143560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7357C7"/>
          </a:solidFill>
          <a:ln w="12700">
            <a:solidFill>
              <a:srgbClr val="7357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48088" y="1495044"/>
            <a:ext cx="6126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Gate 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875520" y="19202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357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複雑性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75520" y="2423160"/>
            <a:ext cx="15087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改善幅が標準誤差内なら単純モデルを優先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685800" y="3977640"/>
            <a:ext cx="10972800" cy="1572768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2519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最終的に望ましい結論の形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51560" y="4727448"/>
            <a:ext cx="292608" cy="292608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478688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7320" y="469087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性能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417320" y="49560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CurrentよりRankIC・Q5−Q1・Net Sharpeが改善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3749040" y="4727448"/>
            <a:ext cx="292608" cy="292608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478688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0" y="469087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一貫性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0" y="49560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Q1〜Q5の単調性とサブ期間での再現性を確認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6446520" y="4727448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478688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12280" y="469087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説明性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12280" y="49560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改善が「階層化」「中立化」「IC重み」などに分解できる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9144000" y="4727448"/>
            <a:ext cx="292608" cy="292608"/>
          </a:xfrm>
          <a:prstGeom prst="ellipse">
            <a:avLst/>
          </a:prstGeom>
          <a:solidFill>
            <a:srgbClr val="D87C24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0" y="478688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509760" y="469087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実装性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509760" y="49560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Turnoverとコスト控除後でも優位性が残る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685800" y="5806440"/>
            <a:ext cx="1097280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5925312"/>
            <a:ext cx="10515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採用方針：最も複雑で最も高いSharpeのモデルではなく、「十分な改善があり、説明でき、壊れにくいモデル」を選ぶ。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6574536"/>
            <a:ext cx="11384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9768" y="66019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個別銘柄スコアリングモデル改善の実証分析方針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進め方：分析フェーズと成果物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49808"/>
            <a:ext cx="9966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まず個別銘柄スコアの妥当性検証を完了し、その後に高度化へ進む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0624" y="1051560"/>
            <a:ext cx="3931920" cy="0"/>
          </a:xfrm>
          <a:prstGeom prst="line">
            <a:avLst/>
          </a:prstGeom>
          <a:noFill/>
          <a:ln w="17780">
            <a:solidFill>
              <a:srgbClr val="1E5B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051560"/>
            <a:ext cx="7086600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219456"/>
            <a:ext cx="960120" cy="320040"/>
          </a:xfrm>
          <a:prstGeom prst="roundRect">
            <a:avLst>
              <a:gd name="adj" fmla="val 1714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63072" y="28803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10/10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2423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459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96112" y="1581912"/>
            <a:ext cx="868680" cy="292608"/>
          </a:xfrm>
          <a:prstGeom prst="roundRect">
            <a:avLst>
              <a:gd name="adj" fmla="val 12500"/>
            </a:avLst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305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現行モデル診断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587752"/>
            <a:ext cx="1874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Currentスコアの5分位、RankIC、国・セクター別安定性を確認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218688" y="2496312"/>
            <a:ext cx="2743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66160" y="1417320"/>
            <a:ext cx="2423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1FA4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6459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730752" y="1581912"/>
            <a:ext cx="868680" cy="292608"/>
          </a:xfrm>
          <a:prstGeom prst="roundRect">
            <a:avLst>
              <a:gd name="adj" fmla="val 12500"/>
            </a:avLst>
          </a:prstGeom>
          <a:solidFill>
            <a:srgbClr val="1FA4B8"/>
          </a:solidFill>
          <a:ln w="12700">
            <a:solidFill>
              <a:srgbClr val="1FA4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1305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4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基礎改良比較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22192" y="2587752"/>
            <a:ext cx="1874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方向・欠損、前処理、中立化、階層等ウェイトを順に比較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053328" y="2496312"/>
            <a:ext cx="2743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1417320"/>
            <a:ext cx="2423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16459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565392" y="1581912"/>
            <a:ext cx="868680" cy="292608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1305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推定モデル比較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56832" y="2587752"/>
            <a:ext cx="1874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IC重み、相関調整、単一ファクター写像、OOF Ridgeを比較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8887968" y="2496312"/>
            <a:ext cx="2743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35440" y="1417320"/>
            <a:ext cx="2423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D87C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16459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4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400032" y="1581912"/>
            <a:ext cx="868680" cy="292608"/>
          </a:xfrm>
          <a:prstGeom prst="roundRect">
            <a:avLst>
              <a:gd name="adj" fmla="val 12500"/>
            </a:avLst>
          </a:prstGeom>
          <a:solidFill>
            <a:srgbClr val="D87C24"/>
          </a:solidFill>
          <a:ln w="12700">
            <a:solidFill>
              <a:srgbClr val="D87C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21305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採用判定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91472" y="2587752"/>
            <a:ext cx="1874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ゲート方式でモデルを選定し、資料化・再現性確認を行う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731520" y="4069080"/>
            <a:ext cx="1097280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43434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想定成果物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51560" y="4773168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4712" y="4846320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</a:t>
            </a:r>
            <a:endParaRPr lang="en-US" sz="670" dirty="0"/>
          </a:p>
        </p:txBody>
      </p:sp>
      <p:sp>
        <p:nvSpPr>
          <p:cNvPr id="35" name="Text 33"/>
          <p:cNvSpPr/>
          <p:nvPr/>
        </p:nvSpPr>
        <p:spPr>
          <a:xfrm>
            <a:off x="1124712" y="5038344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xlsx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30552" y="4736592"/>
            <a:ext cx="1417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Scenario_Summary / Factor_Model_Selection / RankIC履歴 / 分位リターン履歴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3657600" y="4773168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30752" y="4846320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3730752" y="5038344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B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36592" y="4736592"/>
            <a:ext cx="1417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分位累積リターン / Q5−Q1 / RankIC推移 / 増分効果 / 安定性ヒートマップ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6263640" y="4773168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D87C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4846320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README</a:t>
            </a:r>
            <a:endParaRPr lang="en-US" sz="670" dirty="0"/>
          </a:p>
        </p:txBody>
      </p:sp>
      <p:sp>
        <p:nvSpPr>
          <p:cNvPr id="43" name="Text 41"/>
          <p:cNvSpPr/>
          <p:nvPr/>
        </p:nvSpPr>
        <p:spPr>
          <a:xfrm>
            <a:off x="6336792" y="5038344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7C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342632" y="4736592"/>
            <a:ext cx="1417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各シナリオの定義、設定値、評価指標、採用判断の説明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8869680" y="4773168"/>
            <a:ext cx="9601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7357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42832" y="4846320"/>
            <a:ext cx="813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次ステップ</a:t>
            </a:r>
            <a:endParaRPr lang="en-US" sz="670" dirty="0"/>
          </a:p>
        </p:txBody>
      </p:sp>
      <p:sp>
        <p:nvSpPr>
          <p:cNvPr id="47" name="Text 45"/>
          <p:cNvSpPr/>
          <p:nvPr/>
        </p:nvSpPr>
        <p:spPr>
          <a:xfrm>
            <a:off x="8942832" y="5038344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357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roadmap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948672" y="4736592"/>
            <a:ext cx="1417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個別銘柄モデルを確定後、国指数・先物モデルへ接続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731520" y="5943600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EEF6FF"/>
          </a:solidFill>
          <a:ln w="12700">
            <a:solidFill>
              <a:srgbClr val="1E5B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6044184"/>
            <a:ext cx="10515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B1F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最初の実務タスク：S00〜S04を同一評価プロトコルで走らせ、階層化・中立化が現行モデルに対して改善するかを確認する。</a:t>
            </a:r>
            <a:endParaRPr lang="en-US" sz="890" dirty="0"/>
          </a:p>
        </p:txBody>
      </p:sp>
      <p:sp>
        <p:nvSpPr>
          <p:cNvPr id="51" name="Shape 49"/>
          <p:cNvSpPr/>
          <p:nvPr/>
        </p:nvSpPr>
        <p:spPr>
          <a:xfrm>
            <a:off x="411480" y="6574536"/>
            <a:ext cx="113842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" y="66019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個別銘柄スコアリングモデル改善の実証分析方針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個別銘柄スコアリングモデル改善の実証分析方針</dc:title>
  <dc:subject>個別銘柄スコアリングモデル改善の実証分析方針</dc:subject>
  <dc:creator>OpenAI</dc:creator>
  <cp:lastModifiedBy>OpenAI</cp:lastModifiedBy>
  <cp:revision>1</cp:revision>
  <dcterms:created xsi:type="dcterms:W3CDTF">2026-07-15T14:15:28Z</dcterms:created>
  <dcterms:modified xsi:type="dcterms:W3CDTF">2026-07-15T14:15:28Z</dcterms:modified>
</cp:coreProperties>
</file>