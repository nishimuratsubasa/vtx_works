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本資料の目的は、既存のLGBM中心のモデルから、説明可能性を持つEvidence Architectureと、予測力を高める動的アンサンブル／Transformer Temporal Expertを組み合わせる実装案を、上司・PM向けに説明すること。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PM向けの結論。単一モデル改善ではなく、投資判断プロセス全体の拡張。説明可能性はEvidence化で担保し、予測力はアンサンブルとTransformerで強化する。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現状のSHAPは補助診断としては有効。しかしPM説明では「どの投資仮説が支持されたか」を説明する必要がある。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設計の要点は、説明可能性のためにSignal/Evidence層を作り、予測力向上のために複数モデルを並列化し、Transformerで時系列構造を補足すること。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Evidence化は、機械学習のための前処理であると同時に、PM説明の言語化である。Percentile化によって市場間スケール差を吸収し、PMには「過去3年でどの水準か」と説明できる。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単一モデルでは市場メカニズムの切り分けができないため、投資仮説単位の専門家構造にする。PMへは各Mechanismの状態と信頼度を報告する。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Transformerは深層学習であるため常時最大ウェイトにするのではなく、モデルプールの一員としてOOS成績に応じて採用・抑制する。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モデルウェイトは完全固定ではない。一方で全てを直近成績に任せるとノイズ追随になるため、Priorへの縮小を入れる。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Transformerは過去の時間パターンを入力として扱う。日次Attentionはノイズが多いため、期間帯ごとに集計して説明する。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Attentionは説明の候補であって、単独の根拠にしない。Occlusionなどの因果的に近い感応度チェックを併用する。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Transformerによる説明は、時点ウェイトとEvidence状態の掛け合わせで説明する。Attentionだけでは方向が分からないため、同期間のEvidence状態を併記する。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最終スコアはEvidence score、confidence、dynamic weightsを乗算して算出。ポートフォリオ化ではボラターゲットと売買コストを考慮する。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検証はOOSで行う。重複ターゲットによる過大評価に注意し、必要なら月次または非重複で検証する。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実装は段階的に進めるべき。まずEvidence基盤とBaseline Ensembleで価値を見てからTransformerを追加する。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PMレポートは、単なる予測スコアではなく、Evidence・Mechanism・Model Reliability・Portfolio Adjustmentを一枚で見せる。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上司層への説得点。フローは研究・実務・ガバナンスを同時に満たす。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PM・上司層の懸念を先回りして示す。特にAttentionの説明と過学習は必ず指摘されるポイント。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意思決定依頼はPoC開始。最初からTransformerまで本番実装するのではなく、基盤→動的アンサンブル→Transformerの順で進める。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729"/>
        </a:solidFill>
      </p:bgPr>
    </p:bg>
    <p:spTree>
      <p:nvGrpSpPr>
        <p:cNvPr id="1" name=""/>
        <p:cNvGrpSpPr/>
        <p:nvPr/>
      </p:nvGrpSpPr>
      <p:grpSpPr>
        <a:xfrm>
          <a:off x="0" y="0"/>
          <a:ext cx="0" cy="0"/>
          <a:chOff x="0" y="0"/>
          <a:chExt cx="0" cy="0"/>
        </a:xfrm>
      </p:grpSpPr>
      <p:sp>
        <p:nvSpPr>
          <p:cNvPr id="2" name="Text 0"/>
          <p:cNvSpPr/>
          <p:nvPr/>
        </p:nvSpPr>
        <p:spPr>
          <a:xfrm>
            <a:off x="594360" y="731520"/>
            <a:ext cx="7223760" cy="1051560"/>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Yu Gothic" pitchFamily="34" charset="0"/>
                <a:ea typeface="Yu Gothic" pitchFamily="34" charset="-122"/>
                <a:cs typeface="Yu Gothic" pitchFamily="34" charset="-120"/>
              </a:rPr>
              <a:t>Explainable Evidence Ensemble</a:t>
            </a:r>
            <a:endParaRPr lang="en-US" sz="3100" dirty="0"/>
          </a:p>
          <a:p>
            <a:pPr indent="0" marL="0">
              <a:buNone/>
            </a:pPr>
            <a:r>
              <a:rPr lang="en-US" sz="3100" b="1" dirty="0">
                <a:solidFill>
                  <a:srgbClr val="FFFFFF"/>
                </a:solidFill>
                <a:latin typeface="Yu Gothic" pitchFamily="34" charset="0"/>
                <a:ea typeface="Yu Gothic" pitchFamily="34" charset="-122"/>
                <a:cs typeface="Yu Gothic" pitchFamily="34" charset="-120"/>
              </a:rPr>
              <a:t>for Global Equity Futures</a:t>
            </a:r>
            <a:endParaRPr lang="en-US" sz="3100" dirty="0"/>
          </a:p>
        </p:txBody>
      </p:sp>
      <p:sp>
        <p:nvSpPr>
          <p:cNvPr id="3" name="Text 1"/>
          <p:cNvSpPr/>
          <p:nvPr/>
        </p:nvSpPr>
        <p:spPr>
          <a:xfrm>
            <a:off x="621792" y="1920240"/>
            <a:ext cx="7498080" cy="347472"/>
          </a:xfrm>
          <a:prstGeom prst="rect">
            <a:avLst/>
          </a:prstGeom>
          <a:noFill/>
          <a:ln/>
        </p:spPr>
        <p:txBody>
          <a:bodyPr wrap="square" lIns="0" tIns="0" rIns="0" bIns="0" rtlCol="0" anchor="ctr">
            <a:normAutofit/>
          </a:bodyPr>
          <a:lstStyle/>
          <a:p>
            <a:pPr indent="0" marL="0">
              <a:buNone/>
            </a:pPr>
            <a:r>
              <a:rPr lang="en-US" sz="1250" dirty="0">
                <a:solidFill>
                  <a:srgbClr val="CBD5E1"/>
                </a:solidFill>
                <a:latin typeface="Yu Gothic" pitchFamily="34" charset="0"/>
                <a:ea typeface="Yu Gothic" pitchFamily="34" charset="-122"/>
                <a:cs typeface="Yu Gothic" pitchFamily="34" charset="-120"/>
              </a:rPr>
              <a:t>12主要インデックス先物を対象とした、説明可能性・予測力・運用統制を両立するAI運用モデル案</a:t>
            </a:r>
            <a:endParaRPr lang="en-US" sz="1250" dirty="0"/>
          </a:p>
        </p:txBody>
      </p:sp>
      <p:sp>
        <p:nvSpPr>
          <p:cNvPr id="4" name="Text 2"/>
          <p:cNvSpPr/>
          <p:nvPr/>
        </p:nvSpPr>
        <p:spPr>
          <a:xfrm>
            <a:off x="8275320" y="868680"/>
            <a:ext cx="2834640" cy="310896"/>
          </a:xfrm>
          <a:prstGeom prst="rect">
            <a:avLst/>
          </a:prstGeom>
          <a:solidFill>
            <a:srgbClr val="2563EB"/>
          </a:solidFill>
          <a:ln>
            <a:solidFill>
              <a:srgbClr val="2563EB">
                <a:alpha val="0"/>
              </a:srgbClr>
            </a:solidFill>
          </a:ln>
        </p:spPr>
        <p:txBody>
          <a:bodyPr wrap="square" lIns="1016" tIns="1016" rIns="1016" bIns="1016" rtlCol="0" anchor="ctr">
            <a:norm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Market Data</a:t>
            </a:r>
            <a:endParaRPr lang="en-US" sz="900" dirty="0"/>
          </a:p>
        </p:txBody>
      </p:sp>
      <p:sp>
        <p:nvSpPr>
          <p:cNvPr id="5" name="Text 3"/>
          <p:cNvSpPr/>
          <p:nvPr/>
        </p:nvSpPr>
        <p:spPr>
          <a:xfrm>
            <a:off x="8275320" y="1252728"/>
            <a:ext cx="2834640" cy="310896"/>
          </a:xfrm>
          <a:prstGeom prst="rect">
            <a:avLst/>
          </a:prstGeom>
          <a:solidFill>
            <a:srgbClr val="06B6D4"/>
          </a:solidFill>
          <a:ln>
            <a:solidFill>
              <a:srgbClr val="06B6D4">
                <a:alpha val="0"/>
              </a:srgbClr>
            </a:solidFill>
          </a:ln>
        </p:spPr>
        <p:txBody>
          <a:bodyPr wrap="square" lIns="1016" tIns="1016" rIns="1016" bIns="1016" rtlCol="0" anchor="ctr">
            <a:norm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Signal / Quantile</a:t>
            </a:r>
            <a:endParaRPr lang="en-US" sz="900" dirty="0"/>
          </a:p>
        </p:txBody>
      </p:sp>
      <p:sp>
        <p:nvSpPr>
          <p:cNvPr id="6" name="Text 4"/>
          <p:cNvSpPr/>
          <p:nvPr/>
        </p:nvSpPr>
        <p:spPr>
          <a:xfrm>
            <a:off x="8275320" y="1636776"/>
            <a:ext cx="2834640" cy="310896"/>
          </a:xfrm>
          <a:prstGeom prst="rect">
            <a:avLst/>
          </a:prstGeom>
          <a:solidFill>
            <a:srgbClr val="10B981"/>
          </a:solidFill>
          <a:ln>
            <a:solidFill>
              <a:srgbClr val="10B981">
                <a:alpha val="0"/>
              </a:srgbClr>
            </a:solidFill>
          </a:ln>
        </p:spPr>
        <p:txBody>
          <a:bodyPr wrap="square" lIns="1016" tIns="1016" rIns="1016" bIns="1016" rtlCol="0" anchor="ctr">
            <a:norm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Evidence</a:t>
            </a:r>
            <a:endParaRPr lang="en-US" sz="900" dirty="0"/>
          </a:p>
        </p:txBody>
      </p:sp>
      <p:sp>
        <p:nvSpPr>
          <p:cNvPr id="7" name="Text 5"/>
          <p:cNvSpPr/>
          <p:nvPr/>
        </p:nvSpPr>
        <p:spPr>
          <a:xfrm>
            <a:off x="8275320" y="2020824"/>
            <a:ext cx="2834640" cy="310896"/>
          </a:xfrm>
          <a:prstGeom prst="rect">
            <a:avLst/>
          </a:prstGeom>
          <a:solidFill>
            <a:srgbClr val="7C3AED"/>
          </a:solidFill>
          <a:ln>
            <a:solidFill>
              <a:srgbClr val="7C3AED">
                <a:alpha val="0"/>
              </a:srgbClr>
            </a:solidFill>
          </a:ln>
        </p:spPr>
        <p:txBody>
          <a:bodyPr wrap="square" lIns="1016" tIns="1016" rIns="1016" bIns="1016" rtlCol="0" anchor="ctr">
            <a:norm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Temporal Expert</a:t>
            </a:r>
            <a:endParaRPr lang="en-US" sz="900" dirty="0"/>
          </a:p>
        </p:txBody>
      </p:sp>
      <p:sp>
        <p:nvSpPr>
          <p:cNvPr id="8" name="Text 6"/>
          <p:cNvSpPr/>
          <p:nvPr/>
        </p:nvSpPr>
        <p:spPr>
          <a:xfrm>
            <a:off x="8275320" y="2404872"/>
            <a:ext cx="2834640" cy="310896"/>
          </a:xfrm>
          <a:prstGeom prst="rect">
            <a:avLst/>
          </a:prstGeom>
          <a:solidFill>
            <a:srgbClr val="F59E0B"/>
          </a:solidFill>
          <a:ln>
            <a:solidFill>
              <a:srgbClr val="F59E0B">
                <a:alpha val="0"/>
              </a:srgbClr>
            </a:solidFill>
          </a:ln>
        </p:spPr>
        <p:txBody>
          <a:bodyPr wrap="square" lIns="1016" tIns="1016" rIns="1016" bIns="1016" rtlCol="0" anchor="ctr">
            <a:norm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Dynamic Ensemble</a:t>
            </a:r>
            <a:endParaRPr lang="en-US" sz="900" dirty="0"/>
          </a:p>
        </p:txBody>
      </p:sp>
      <p:sp>
        <p:nvSpPr>
          <p:cNvPr id="9" name="Text 7"/>
          <p:cNvSpPr/>
          <p:nvPr/>
        </p:nvSpPr>
        <p:spPr>
          <a:xfrm>
            <a:off x="8275320" y="2788920"/>
            <a:ext cx="2834640" cy="310896"/>
          </a:xfrm>
          <a:prstGeom prst="rect">
            <a:avLst/>
          </a:prstGeom>
          <a:solidFill>
            <a:srgbClr val="EF4444"/>
          </a:solidFill>
          <a:ln>
            <a:solidFill>
              <a:srgbClr val="EF4444">
                <a:alpha val="0"/>
              </a:srgbClr>
            </a:solidFill>
          </a:ln>
        </p:spPr>
        <p:txBody>
          <a:bodyPr wrap="square" lIns="1016" tIns="1016" rIns="1016" bIns="1016" rtlCol="0" anchor="ctr">
            <a:norm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Portfolio</a:t>
            </a:r>
            <a:endParaRPr lang="en-US" sz="900" dirty="0"/>
          </a:p>
        </p:txBody>
      </p:sp>
      <p:sp>
        <p:nvSpPr>
          <p:cNvPr id="10" name="Shape 8"/>
          <p:cNvSpPr/>
          <p:nvPr/>
        </p:nvSpPr>
        <p:spPr>
          <a:xfrm>
            <a:off x="9692640" y="1197864"/>
            <a:ext cx="0" cy="1856232"/>
          </a:xfrm>
          <a:prstGeom prst="line">
            <a:avLst/>
          </a:prstGeom>
          <a:noFill/>
          <a:ln w="13970">
            <a:solidFill>
              <a:srgbClr val="E2E8F0"/>
            </a:solidFill>
            <a:prstDash val="solid"/>
            <a:headEnd type="none"/>
            <a:tailEnd type="triangle"/>
          </a:ln>
        </p:spPr>
      </p:sp>
      <p:sp>
        <p:nvSpPr>
          <p:cNvPr id="11" name="Text 9"/>
          <p:cNvSpPr/>
          <p:nvPr/>
        </p:nvSpPr>
        <p:spPr>
          <a:xfrm>
            <a:off x="640080" y="5257800"/>
            <a:ext cx="2148840" cy="566928"/>
          </a:xfrm>
          <a:prstGeom prst="rect">
            <a:avLst/>
          </a:prstGeom>
          <a:solidFill>
            <a:srgbClr val="122B4B"/>
          </a:solidFill>
          <a:ln w="12700">
            <a:solidFill>
              <a:srgbClr val="1D4ED8"/>
            </a:solidFill>
          </a:ln>
        </p:spPr>
        <p:txBody>
          <a:bodyPr wrap="square" lIns="1016" tIns="1016" rIns="1016" bIns="1016" rtlCol="0" anchor="ctr">
            <a:normAutofit/>
          </a:bodyPr>
          <a:lstStyle/>
          <a:p>
            <a:pPr algn="ctr" indent="0" marL="0">
              <a:buNone/>
            </a:pPr>
            <a:r>
              <a:rPr lang="en-US" sz="1100" b="1" dirty="0">
                <a:solidFill>
                  <a:srgbClr val="E2E8F0"/>
                </a:solidFill>
                <a:latin typeface="Yu Gothic" pitchFamily="34" charset="0"/>
                <a:ea typeface="Yu Gothic" pitchFamily="34" charset="-122"/>
                <a:cs typeface="Yu Gothic" pitchFamily="34" charset="-120"/>
              </a:rPr>
              <a:t>PM報告用</a:t>
            </a:r>
            <a:endParaRPr lang="en-US" sz="1100" dirty="0"/>
          </a:p>
          <a:p>
            <a:pPr algn="ctr" indent="0" marL="0">
              <a:buNone/>
            </a:pPr>
            <a:r>
              <a:rPr lang="en-US" sz="1100" b="1" dirty="0">
                <a:solidFill>
                  <a:srgbClr val="E2E8F0"/>
                </a:solidFill>
                <a:latin typeface="Yu Gothic" pitchFamily="34" charset="0"/>
                <a:ea typeface="Yu Gothic" pitchFamily="34" charset="-122"/>
                <a:cs typeface="Yu Gothic" pitchFamily="34" charset="-120"/>
              </a:rPr>
              <a:t>実装検討資料</a:t>
            </a:r>
            <a:endParaRPr lang="en-US" sz="1100" dirty="0"/>
          </a:p>
        </p:txBody>
      </p:sp>
      <p:sp>
        <p:nvSpPr>
          <p:cNvPr id="12" name="Text 10"/>
          <p:cNvSpPr/>
          <p:nvPr/>
        </p:nvSpPr>
        <p:spPr>
          <a:xfrm>
            <a:off x="658368" y="5989320"/>
            <a:ext cx="2743200" cy="182880"/>
          </a:xfrm>
          <a:prstGeom prst="rect">
            <a:avLst/>
          </a:prstGeom>
          <a:noFill/>
          <a:ln/>
        </p:spPr>
        <p:txBody>
          <a:bodyPr wrap="square" lIns="0" tIns="0" rIns="0" bIns="0" rtlCol="0" anchor="ctr"/>
          <a:lstStyle/>
          <a:p>
            <a:pPr indent="0" marL="0">
              <a:buNone/>
            </a:pPr>
            <a:r>
              <a:rPr lang="en-US" sz="750" dirty="0">
                <a:solidFill>
                  <a:srgbClr val="94A3B8"/>
                </a:solidFill>
                <a:latin typeface="Yu Gothic" pitchFamily="34" charset="0"/>
                <a:ea typeface="Yu Gothic" pitchFamily="34" charset="-122"/>
                <a:cs typeface="Yu Gothic" pitchFamily="34" charset="-120"/>
              </a:rPr>
              <a:t>Version 1.0 / Draft</a:t>
            </a:r>
            <a:endParaRPr lang="en-US" sz="750" dirty="0"/>
          </a:p>
        </p:txBody>
      </p:sp>
      <p:sp>
        <p:nvSpPr>
          <p:cNvPr id="13" name="Text 11"/>
          <p:cNvSpPr/>
          <p:nvPr/>
        </p:nvSpPr>
        <p:spPr>
          <a:xfrm>
            <a:off x="10835640" y="6355080"/>
            <a:ext cx="731520" cy="182880"/>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OpenAI</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Executive Summary：実装価値のある拡張案</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特徴量の説明ではなく「市場仮説の証拠」を説明し、予測力は動的アンサンブルで改善する</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594360" y="1435608"/>
            <a:ext cx="310896" cy="310896"/>
          </a:xfrm>
          <a:prstGeom prst="rect">
            <a:avLst/>
          </a:prstGeom>
          <a:solidFill>
            <a:srgbClr val="2563EB"/>
          </a:solidFill>
          <a:ln>
            <a:solidFill>
              <a:srgbClr val="2563EB"/>
            </a:solid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6" name="Text 4"/>
          <p:cNvSpPr/>
          <p:nvPr/>
        </p:nvSpPr>
        <p:spPr>
          <a:xfrm>
            <a:off x="1005840" y="1325880"/>
            <a:ext cx="2011680" cy="228600"/>
          </a:xfrm>
          <a:prstGeom prst="rect">
            <a:avLst/>
          </a:prstGeom>
          <a:noFill/>
          <a:ln/>
        </p:spPr>
        <p:txBody>
          <a:bodyPr wrap="square" lIns="0" tIns="0" rIns="0" bIns="0" rtlCol="0" anchor="ctr"/>
          <a:lstStyle/>
          <a:p>
            <a:pPr indent="0" marL="0">
              <a:buNone/>
            </a:pPr>
            <a:r>
              <a:rPr lang="en-US" sz="1300" b="1" dirty="0">
                <a:solidFill>
                  <a:srgbClr val="0B1F3A"/>
                </a:solidFill>
                <a:latin typeface="Yu Gothic" pitchFamily="34" charset="0"/>
                <a:ea typeface="Yu Gothic" pitchFamily="34" charset="-122"/>
                <a:cs typeface="Yu Gothic" pitchFamily="34" charset="-120"/>
              </a:rPr>
              <a:t>説明可能性</a:t>
            </a:r>
            <a:endParaRPr lang="en-US" sz="1300" dirty="0"/>
          </a:p>
        </p:txBody>
      </p:sp>
      <p:sp>
        <p:nvSpPr>
          <p:cNvPr id="7" name="Text 5"/>
          <p:cNvSpPr/>
          <p:nvPr/>
        </p:nvSpPr>
        <p:spPr>
          <a:xfrm>
            <a:off x="1005840" y="1618488"/>
            <a:ext cx="8046720" cy="347472"/>
          </a:xfrm>
          <a:prstGeom prst="rect">
            <a:avLst/>
          </a:prstGeom>
          <a:noFill/>
          <a:ln/>
        </p:spPr>
        <p:txBody>
          <a:bodyPr wrap="square" lIns="0" tIns="0" rIns="0" bIns="0" rtlCol="0" anchor="ctr">
            <a:normAutofit/>
          </a:bodyPr>
          <a:lstStyle/>
          <a:p>
            <a:pPr indent="0" marL="0">
              <a:buNone/>
            </a:pPr>
            <a:r>
              <a:rPr lang="en-US" sz="940" dirty="0">
                <a:solidFill>
                  <a:srgbClr val="334155"/>
                </a:solidFill>
                <a:latin typeface="Yu Gothic" pitchFamily="34" charset="0"/>
                <a:ea typeface="Yu Gothic" pitchFamily="34" charset="-122"/>
                <a:cs typeface="Yu Gothic" pitchFamily="34" charset="-120"/>
              </a:rPr>
              <a:t>SignalをEvidence化し、Persistence / Flow / Volatility等の市場メカニズムとして説明する。SHAP依存を下げる。</a:t>
            </a:r>
            <a:endParaRPr lang="en-US" sz="940" dirty="0"/>
          </a:p>
        </p:txBody>
      </p:sp>
      <p:sp>
        <p:nvSpPr>
          <p:cNvPr id="8" name="Text 6"/>
          <p:cNvSpPr/>
          <p:nvPr/>
        </p:nvSpPr>
        <p:spPr>
          <a:xfrm>
            <a:off x="594360" y="2441448"/>
            <a:ext cx="310896" cy="310896"/>
          </a:xfrm>
          <a:prstGeom prst="rect">
            <a:avLst/>
          </a:prstGeom>
          <a:solidFill>
            <a:srgbClr val="10B981"/>
          </a:solidFill>
          <a:ln>
            <a:solidFill>
              <a:srgbClr val="10B981"/>
            </a:solid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9" name="Text 7"/>
          <p:cNvSpPr/>
          <p:nvPr/>
        </p:nvSpPr>
        <p:spPr>
          <a:xfrm>
            <a:off x="1005840" y="2331720"/>
            <a:ext cx="2011680" cy="228600"/>
          </a:xfrm>
          <a:prstGeom prst="rect">
            <a:avLst/>
          </a:prstGeom>
          <a:noFill/>
          <a:ln/>
        </p:spPr>
        <p:txBody>
          <a:bodyPr wrap="square" lIns="0" tIns="0" rIns="0" bIns="0" rtlCol="0" anchor="ctr"/>
          <a:lstStyle/>
          <a:p>
            <a:pPr indent="0" marL="0">
              <a:buNone/>
            </a:pPr>
            <a:r>
              <a:rPr lang="en-US" sz="1300" b="1" dirty="0">
                <a:solidFill>
                  <a:srgbClr val="0B1F3A"/>
                </a:solidFill>
                <a:latin typeface="Yu Gothic" pitchFamily="34" charset="0"/>
                <a:ea typeface="Yu Gothic" pitchFamily="34" charset="-122"/>
                <a:cs typeface="Yu Gothic" pitchFamily="34" charset="-120"/>
              </a:rPr>
              <a:t>予測力・適応性</a:t>
            </a:r>
            <a:endParaRPr lang="en-US" sz="1300" dirty="0"/>
          </a:p>
        </p:txBody>
      </p:sp>
      <p:sp>
        <p:nvSpPr>
          <p:cNvPr id="10" name="Text 8"/>
          <p:cNvSpPr/>
          <p:nvPr/>
        </p:nvSpPr>
        <p:spPr>
          <a:xfrm>
            <a:off x="1005840" y="2624328"/>
            <a:ext cx="8046720" cy="347472"/>
          </a:xfrm>
          <a:prstGeom prst="rect">
            <a:avLst/>
          </a:prstGeom>
          <a:noFill/>
          <a:ln/>
        </p:spPr>
        <p:txBody>
          <a:bodyPr wrap="square" lIns="0" tIns="0" rIns="0" bIns="0" rtlCol="0" anchor="ctr">
            <a:normAutofit/>
          </a:bodyPr>
          <a:lstStyle/>
          <a:p>
            <a:pPr indent="0" marL="0">
              <a:buNone/>
            </a:pPr>
            <a:r>
              <a:rPr lang="en-US" sz="940" dirty="0">
                <a:solidFill>
                  <a:srgbClr val="334155"/>
                </a:solidFill>
                <a:latin typeface="Yu Gothic" pitchFamily="34" charset="0"/>
                <a:ea typeface="Yu Gothic" pitchFamily="34" charset="-122"/>
                <a:cs typeface="Yu Gothic" pitchFamily="34" charset="-120"/>
              </a:rPr>
              <a:t>Rule / Ridge / LightGBM / RF / Transformerを並列化し、OOS Rank IC・ICIRで発言力を調整する。</a:t>
            </a:r>
            <a:endParaRPr lang="en-US" sz="940" dirty="0"/>
          </a:p>
        </p:txBody>
      </p:sp>
      <p:sp>
        <p:nvSpPr>
          <p:cNvPr id="11" name="Text 9"/>
          <p:cNvSpPr/>
          <p:nvPr/>
        </p:nvSpPr>
        <p:spPr>
          <a:xfrm>
            <a:off x="594360" y="3447288"/>
            <a:ext cx="310896" cy="310896"/>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12" name="Text 10"/>
          <p:cNvSpPr/>
          <p:nvPr/>
        </p:nvSpPr>
        <p:spPr>
          <a:xfrm>
            <a:off x="1005840" y="3337560"/>
            <a:ext cx="2011680" cy="228600"/>
          </a:xfrm>
          <a:prstGeom prst="rect">
            <a:avLst/>
          </a:prstGeom>
          <a:noFill/>
          <a:ln/>
        </p:spPr>
        <p:txBody>
          <a:bodyPr wrap="square" lIns="0" tIns="0" rIns="0" bIns="0" rtlCol="0" anchor="ctr"/>
          <a:lstStyle/>
          <a:p>
            <a:pPr indent="0" marL="0">
              <a:buNone/>
            </a:pPr>
            <a:r>
              <a:rPr lang="en-US" sz="1300" b="1" dirty="0">
                <a:solidFill>
                  <a:srgbClr val="0B1F3A"/>
                </a:solidFill>
                <a:latin typeface="Yu Gothic" pitchFamily="34" charset="0"/>
                <a:ea typeface="Yu Gothic" pitchFamily="34" charset="-122"/>
                <a:cs typeface="Yu Gothic" pitchFamily="34" charset="-120"/>
              </a:rPr>
              <a:t>時間構造の理解</a:t>
            </a:r>
            <a:endParaRPr lang="en-US" sz="1300" dirty="0"/>
          </a:p>
        </p:txBody>
      </p:sp>
      <p:sp>
        <p:nvSpPr>
          <p:cNvPr id="13" name="Text 11"/>
          <p:cNvSpPr/>
          <p:nvPr/>
        </p:nvSpPr>
        <p:spPr>
          <a:xfrm>
            <a:off x="1005840" y="3630168"/>
            <a:ext cx="8046720" cy="347472"/>
          </a:xfrm>
          <a:prstGeom prst="rect">
            <a:avLst/>
          </a:prstGeom>
          <a:noFill/>
          <a:ln/>
        </p:spPr>
        <p:txBody>
          <a:bodyPr wrap="square" lIns="0" tIns="0" rIns="0" bIns="0" rtlCol="0" anchor="ctr">
            <a:normAutofit/>
          </a:bodyPr>
          <a:lstStyle/>
          <a:p>
            <a:pPr indent="0" marL="0">
              <a:buNone/>
            </a:pPr>
            <a:r>
              <a:rPr lang="en-US" sz="940" dirty="0">
                <a:solidFill>
                  <a:srgbClr val="334155"/>
                </a:solidFill>
                <a:latin typeface="Yu Gothic" pitchFamily="34" charset="0"/>
                <a:ea typeface="Yu Gothic" pitchFamily="34" charset="-122"/>
                <a:cs typeface="Yu Gothic" pitchFamily="34" charset="-120"/>
              </a:rPr>
              <a:t>Transformer Temporal Expertにより、過去どの期間を重視したかを可視化し、Evidence状態と結び付ける。</a:t>
            </a:r>
            <a:endParaRPr lang="en-US" sz="940" dirty="0"/>
          </a:p>
        </p:txBody>
      </p:sp>
      <p:sp>
        <p:nvSpPr>
          <p:cNvPr id="14" name="Text 12"/>
          <p:cNvSpPr/>
          <p:nvPr/>
        </p:nvSpPr>
        <p:spPr>
          <a:xfrm>
            <a:off x="594360" y="4453128"/>
            <a:ext cx="310896" cy="310896"/>
          </a:xfrm>
          <a:prstGeom prst="rect">
            <a:avLst/>
          </a:prstGeom>
          <a:solidFill>
            <a:srgbClr val="F59E0B"/>
          </a:solidFill>
          <a:ln>
            <a:solidFill>
              <a:srgbClr val="F59E0B"/>
            </a:solid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4</a:t>
            </a:r>
            <a:endParaRPr lang="en-US" sz="900" dirty="0"/>
          </a:p>
        </p:txBody>
      </p:sp>
      <p:sp>
        <p:nvSpPr>
          <p:cNvPr id="15" name="Text 13"/>
          <p:cNvSpPr/>
          <p:nvPr/>
        </p:nvSpPr>
        <p:spPr>
          <a:xfrm>
            <a:off x="1005840" y="4343400"/>
            <a:ext cx="2011680" cy="228600"/>
          </a:xfrm>
          <a:prstGeom prst="rect">
            <a:avLst/>
          </a:prstGeom>
          <a:noFill/>
          <a:ln/>
        </p:spPr>
        <p:txBody>
          <a:bodyPr wrap="square" lIns="0" tIns="0" rIns="0" bIns="0" rtlCol="0" anchor="ctr"/>
          <a:lstStyle/>
          <a:p>
            <a:pPr indent="0" marL="0">
              <a:buNone/>
            </a:pPr>
            <a:r>
              <a:rPr lang="en-US" sz="1300" b="1" dirty="0">
                <a:solidFill>
                  <a:srgbClr val="0B1F3A"/>
                </a:solidFill>
                <a:latin typeface="Yu Gothic" pitchFamily="34" charset="0"/>
                <a:ea typeface="Yu Gothic" pitchFamily="34" charset="-122"/>
                <a:cs typeface="Yu Gothic" pitchFamily="34" charset="-120"/>
              </a:rPr>
              <a:t>運用統制</a:t>
            </a:r>
            <a:endParaRPr lang="en-US" sz="1300" dirty="0"/>
          </a:p>
        </p:txBody>
      </p:sp>
      <p:sp>
        <p:nvSpPr>
          <p:cNvPr id="16" name="Text 14"/>
          <p:cNvSpPr/>
          <p:nvPr/>
        </p:nvSpPr>
        <p:spPr>
          <a:xfrm>
            <a:off x="1005840" y="4636008"/>
            <a:ext cx="8046720" cy="347472"/>
          </a:xfrm>
          <a:prstGeom prst="rect">
            <a:avLst/>
          </a:prstGeom>
          <a:noFill/>
          <a:ln/>
        </p:spPr>
        <p:txBody>
          <a:bodyPr wrap="square" lIns="0" tIns="0" rIns="0" bIns="0" rtlCol="0" anchor="ctr">
            <a:normAutofit/>
          </a:bodyPr>
          <a:lstStyle/>
          <a:p>
            <a:pPr indent="0" marL="0">
              <a:buNone/>
            </a:pPr>
            <a:r>
              <a:rPr lang="en-US" sz="940" dirty="0">
                <a:solidFill>
                  <a:srgbClr val="334155"/>
                </a:solidFill>
                <a:latin typeface="Yu Gothic" pitchFamily="34" charset="0"/>
                <a:ea typeface="Yu Gothic" pitchFamily="34" charset="-122"/>
                <a:cs typeface="Yu Gothic" pitchFamily="34" charset="-120"/>
              </a:rPr>
              <a:t>Point-in-time、Walk-forward、Weight上限、Conflict Penalty、Vol Targetで過学習とリスクを抑える。</a:t>
            </a:r>
            <a:endParaRPr lang="en-US" sz="940" dirty="0"/>
          </a:p>
        </p:txBody>
      </p:sp>
      <p:sp>
        <p:nvSpPr>
          <p:cNvPr id="17" name="Text 15"/>
          <p:cNvSpPr/>
          <p:nvPr/>
        </p:nvSpPr>
        <p:spPr>
          <a:xfrm>
            <a:off x="9372600" y="1325880"/>
            <a:ext cx="2331720" cy="4343400"/>
          </a:xfrm>
          <a:prstGeom prst="rect">
            <a:avLst/>
          </a:prstGeom>
          <a:solidFill>
            <a:srgbClr val="0B1F3A"/>
          </a:solidFill>
          <a:ln>
            <a:solidFill>
              <a:srgbClr val="0B1F3A">
                <a:alpha val="0"/>
              </a:srgbClr>
            </a:solidFill>
          </a:ln>
        </p:spPr>
        <p:txBody>
          <a:bodyPr wrap="square" lIns="2032" tIns="2032" rIns="2032" bIns="2032" rtlCol="0" anchor="ctr">
            <a:normAutofit/>
          </a:bodyPr>
          <a:lstStyle/>
          <a:p>
            <a:pPr algn="ctr" indent="0" marL="0">
              <a:buNone/>
            </a:pPr>
            <a:r>
              <a:rPr lang="en-US" sz="1300" dirty="0">
                <a:solidFill>
                  <a:srgbClr val="FFFFFF"/>
                </a:solidFill>
                <a:latin typeface="Yu Gothic" pitchFamily="34" charset="0"/>
                <a:ea typeface="Yu Gothic" pitchFamily="34" charset="-122"/>
                <a:cs typeface="Yu Gothic" pitchFamily="34" charset="-120"/>
              </a:rPr>
              <a:t>提案の核</a:t>
            </a:r>
            <a:endParaRPr lang="en-US" sz="1300" dirty="0"/>
          </a:p>
          <a:p>
            <a:pPr algn="ctr" indent="0" marL="0">
              <a:buNone/>
            </a:pPr>
            <a:endParaRPr lang="en-US" sz="1300" dirty="0"/>
          </a:p>
          <a:p>
            <a:pPr algn="ctr" indent="0" marL="0">
              <a:buNone/>
            </a:pPr>
            <a:r>
              <a:rPr lang="en-US" sz="1300" dirty="0">
                <a:solidFill>
                  <a:srgbClr val="FFFFFF"/>
                </a:solidFill>
                <a:latin typeface="Yu Gothic" pitchFamily="34" charset="0"/>
                <a:ea typeface="Yu Gothic" pitchFamily="34" charset="-122"/>
                <a:cs typeface="Yu Gothic" pitchFamily="34" charset="-120"/>
              </a:rPr>
              <a:t>「当たるモデル」を探すのではなく、</a:t>
            </a:r>
            <a:endParaRPr lang="en-US" sz="1300" dirty="0"/>
          </a:p>
          <a:p>
            <a:pPr algn="ctr" indent="0" marL="0">
              <a:buNone/>
            </a:pPr>
            <a:r>
              <a:rPr lang="en-US" sz="1300" dirty="0">
                <a:solidFill>
                  <a:srgbClr val="FFFFFF"/>
                </a:solidFill>
                <a:latin typeface="Yu Gothic" pitchFamily="34" charset="0"/>
                <a:ea typeface="Yu Gothic" pitchFamily="34" charset="-122"/>
                <a:cs typeface="Yu Gothic" pitchFamily="34" charset="-120"/>
              </a:rPr>
              <a:t>市場仮説ごとのEvidenceを評価し、</a:t>
            </a:r>
            <a:endParaRPr lang="en-US" sz="1300" dirty="0"/>
          </a:p>
          <a:p>
            <a:pPr algn="ctr" indent="0" marL="0">
              <a:buNone/>
            </a:pPr>
            <a:r>
              <a:rPr lang="en-US" sz="1300" dirty="0">
                <a:solidFill>
                  <a:srgbClr val="FFFFFF"/>
                </a:solidFill>
                <a:latin typeface="Yu Gothic" pitchFamily="34" charset="0"/>
                <a:ea typeface="Yu Gothic" pitchFamily="34" charset="-122"/>
                <a:cs typeface="Yu Gothic" pitchFamily="34" charset="-120"/>
              </a:rPr>
              <a:t>直近OOSで信頼できるモデルに</a:t>
            </a:r>
            <a:endParaRPr lang="en-US" sz="1300" dirty="0"/>
          </a:p>
          <a:p>
            <a:pPr algn="ctr" indent="0" marL="0">
              <a:buNone/>
            </a:pPr>
            <a:r>
              <a:rPr lang="en-US" sz="1300" dirty="0">
                <a:solidFill>
                  <a:srgbClr val="FFFFFF"/>
                </a:solidFill>
                <a:latin typeface="Yu Gothic" pitchFamily="34" charset="0"/>
                <a:ea typeface="Yu Gothic" pitchFamily="34" charset="-122"/>
                <a:cs typeface="Yu Gothic" pitchFamily="34" charset="-120"/>
              </a:rPr>
              <a:t>発言力を移す。</a:t>
            </a:r>
            <a:endParaRPr lang="en-US" sz="1300" dirty="0"/>
          </a:p>
        </p:txBody>
      </p:sp>
      <p:sp>
        <p:nvSpPr>
          <p:cNvPr id="18" name="Text 16"/>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19" name="Text 17"/>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02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現状の課題：単一LGBM + SHAPだけではPM説明に限界</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「モデルが何を見たか」と「市場がなぜそう動くと考えるか」は別問題</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640080" y="1508760"/>
            <a:ext cx="2011680" cy="502920"/>
          </a:xfrm>
          <a:prstGeom prst="rect">
            <a:avLst/>
          </a:prstGeom>
          <a:solidFill>
            <a:srgbClr val="DBEAFE"/>
          </a:solidFill>
          <a:ln w="12700">
            <a:solidFill>
              <a:srgbClr val="CBD5E1"/>
            </a:solidFill>
          </a:ln>
        </p:spPr>
        <p:txBody>
          <a:bodyPr wrap="square" lIns="1016" tIns="1016" rIns="1016" bIns="1016" rtlCol="0" anchor="ctr">
            <a:normAutofit/>
          </a:bodyPr>
          <a:lstStyle/>
          <a:p>
            <a:pPr algn="ctr" indent="0" marL="0">
              <a:buNone/>
            </a:pPr>
            <a:r>
              <a:rPr lang="en-US" sz="1300" b="1" dirty="0">
                <a:solidFill>
                  <a:srgbClr val="2563EB"/>
                </a:solidFill>
                <a:latin typeface="Yu Gothic" pitchFamily="34" charset="0"/>
                <a:ea typeface="Yu Gothic" pitchFamily="34" charset="-122"/>
                <a:cs typeface="Yu Gothic" pitchFamily="34" charset="-120"/>
              </a:rPr>
              <a:t>単一LGBM</a:t>
            </a:r>
            <a:endParaRPr lang="en-US" sz="1300" dirty="0"/>
          </a:p>
        </p:txBody>
      </p:sp>
      <p:sp>
        <p:nvSpPr>
          <p:cNvPr id="6" name="Shape 4"/>
          <p:cNvSpPr/>
          <p:nvPr/>
        </p:nvSpPr>
        <p:spPr>
          <a:xfrm>
            <a:off x="2697480" y="1755648"/>
            <a:ext cx="960120" cy="0"/>
          </a:xfrm>
          <a:prstGeom prst="line">
            <a:avLst/>
          </a:prstGeom>
          <a:noFill/>
          <a:ln w="17780">
            <a:solidFill>
              <a:srgbClr val="64748B"/>
            </a:solidFill>
            <a:prstDash val="solid"/>
            <a:headEnd type="none"/>
            <a:tailEnd type="triangle"/>
          </a:ln>
        </p:spPr>
      </p:sp>
      <p:sp>
        <p:nvSpPr>
          <p:cNvPr id="7" name="Text 5"/>
          <p:cNvSpPr/>
          <p:nvPr/>
        </p:nvSpPr>
        <p:spPr>
          <a:xfrm>
            <a:off x="3703320" y="1508760"/>
            <a:ext cx="2011680" cy="502920"/>
          </a:xfrm>
          <a:prstGeom prst="rect">
            <a:avLst/>
          </a:prstGeom>
          <a:solidFill>
            <a:srgbClr val="D1FAE5"/>
          </a:solidFill>
          <a:ln w="12700">
            <a:solidFill>
              <a:srgbClr val="CBD5E1"/>
            </a:solidFill>
          </a:ln>
        </p:spPr>
        <p:txBody>
          <a:bodyPr wrap="square" lIns="1016" tIns="1016" rIns="1016" bIns="1016" rtlCol="0" anchor="ctr">
            <a:normAutofit/>
          </a:bodyPr>
          <a:lstStyle/>
          <a:p>
            <a:pPr algn="ctr" indent="0" marL="0">
              <a:buNone/>
            </a:pPr>
            <a:r>
              <a:rPr lang="en-US" sz="1300" b="1" dirty="0">
                <a:solidFill>
                  <a:srgbClr val="10B981"/>
                </a:solidFill>
                <a:latin typeface="Yu Gothic" pitchFamily="34" charset="0"/>
                <a:ea typeface="Yu Gothic" pitchFamily="34" charset="-122"/>
                <a:cs typeface="Yu Gothic" pitchFamily="34" charset="-120"/>
              </a:rPr>
              <a:t>予測スコア</a:t>
            </a:r>
            <a:endParaRPr lang="en-US" sz="1300" dirty="0"/>
          </a:p>
        </p:txBody>
      </p:sp>
      <p:sp>
        <p:nvSpPr>
          <p:cNvPr id="8" name="Shape 6"/>
          <p:cNvSpPr/>
          <p:nvPr/>
        </p:nvSpPr>
        <p:spPr>
          <a:xfrm>
            <a:off x="5760720" y="1755648"/>
            <a:ext cx="960120" cy="0"/>
          </a:xfrm>
          <a:prstGeom prst="line">
            <a:avLst/>
          </a:prstGeom>
          <a:noFill/>
          <a:ln w="17780">
            <a:solidFill>
              <a:srgbClr val="64748B"/>
            </a:solidFill>
            <a:prstDash val="solid"/>
            <a:headEnd type="none"/>
            <a:tailEnd type="triangle"/>
          </a:ln>
        </p:spPr>
      </p:sp>
      <p:sp>
        <p:nvSpPr>
          <p:cNvPr id="9" name="Text 7"/>
          <p:cNvSpPr/>
          <p:nvPr/>
        </p:nvSpPr>
        <p:spPr>
          <a:xfrm>
            <a:off x="6766560" y="1508760"/>
            <a:ext cx="1828800" cy="502920"/>
          </a:xfrm>
          <a:prstGeom prst="rect">
            <a:avLst/>
          </a:prstGeom>
          <a:solidFill>
            <a:srgbClr val="FEF3C7"/>
          </a:solidFill>
          <a:ln w="12700">
            <a:solidFill>
              <a:srgbClr val="CBD5E1"/>
            </a:solidFill>
          </a:ln>
        </p:spPr>
        <p:txBody>
          <a:bodyPr wrap="square" lIns="1016" tIns="1016" rIns="1016" bIns="1016" rtlCol="0" anchor="ctr">
            <a:normAutofit/>
          </a:bodyPr>
          <a:lstStyle/>
          <a:p>
            <a:pPr algn="ctr" indent="0" marL="0">
              <a:buNone/>
            </a:pPr>
            <a:r>
              <a:rPr lang="en-US" sz="1300" b="1" dirty="0">
                <a:solidFill>
                  <a:srgbClr val="F59E0B"/>
                </a:solidFill>
                <a:latin typeface="Yu Gothic" pitchFamily="34" charset="0"/>
                <a:ea typeface="Yu Gothic" pitchFamily="34" charset="-122"/>
                <a:cs typeface="Yu Gothic" pitchFamily="34" charset="-120"/>
              </a:rPr>
              <a:t>SHAP</a:t>
            </a:r>
            <a:endParaRPr lang="en-US" sz="1300" dirty="0"/>
          </a:p>
        </p:txBody>
      </p:sp>
      <p:sp>
        <p:nvSpPr>
          <p:cNvPr id="10" name="Shape 8"/>
          <p:cNvSpPr/>
          <p:nvPr/>
        </p:nvSpPr>
        <p:spPr>
          <a:xfrm>
            <a:off x="8641080" y="1755648"/>
            <a:ext cx="960120" cy="0"/>
          </a:xfrm>
          <a:prstGeom prst="line">
            <a:avLst/>
          </a:prstGeom>
          <a:noFill/>
          <a:ln w="17780">
            <a:solidFill>
              <a:srgbClr val="64748B"/>
            </a:solidFill>
            <a:prstDash val="solid"/>
            <a:headEnd type="none"/>
            <a:tailEnd type="triangle"/>
          </a:ln>
        </p:spPr>
      </p:sp>
      <p:sp>
        <p:nvSpPr>
          <p:cNvPr id="11" name="Text 9"/>
          <p:cNvSpPr/>
          <p:nvPr/>
        </p:nvSpPr>
        <p:spPr>
          <a:xfrm>
            <a:off x="9646920" y="1508760"/>
            <a:ext cx="1965960" cy="502920"/>
          </a:xfrm>
          <a:prstGeom prst="rect">
            <a:avLst/>
          </a:prstGeom>
          <a:solidFill>
            <a:srgbClr val="EDE9FE"/>
          </a:solidFill>
          <a:ln w="12700">
            <a:solidFill>
              <a:srgbClr val="CBD5E1"/>
            </a:solidFill>
          </a:ln>
        </p:spPr>
        <p:txBody>
          <a:bodyPr wrap="square" lIns="1016" tIns="1016" rIns="1016" bIns="1016" rtlCol="0" anchor="ctr">
            <a:normAutofit/>
          </a:bodyPr>
          <a:lstStyle/>
          <a:p>
            <a:pPr algn="ctr" indent="0" marL="0">
              <a:buNone/>
            </a:pPr>
            <a:r>
              <a:rPr lang="en-US" sz="1300" b="1" dirty="0">
                <a:solidFill>
                  <a:srgbClr val="7C3AED"/>
                </a:solidFill>
                <a:latin typeface="Yu Gothic" pitchFamily="34" charset="0"/>
                <a:ea typeface="Yu Gothic" pitchFamily="34" charset="-122"/>
                <a:cs typeface="Yu Gothic" pitchFamily="34" charset="-120"/>
              </a:rPr>
              <a:t>特徴量寄与</a:t>
            </a:r>
            <a:endParaRPr lang="en-US" sz="1300" dirty="0"/>
          </a:p>
        </p:txBody>
      </p:sp>
      <p:sp>
        <p:nvSpPr>
          <p:cNvPr id="12" name="Text 10"/>
          <p:cNvSpPr/>
          <p:nvPr/>
        </p:nvSpPr>
        <p:spPr>
          <a:xfrm>
            <a:off x="685800" y="2743200"/>
            <a:ext cx="2286000" cy="256032"/>
          </a:xfrm>
          <a:prstGeom prst="rect">
            <a:avLst/>
          </a:prstGeom>
          <a:noFill/>
          <a:ln/>
        </p:spPr>
        <p:txBody>
          <a:bodyPr wrap="square" lIns="0" tIns="0" rIns="0" bIns="0" rtlCol="0" anchor="ctr"/>
          <a:lstStyle/>
          <a:p>
            <a:pPr indent="0" marL="0">
              <a:buNone/>
            </a:pPr>
            <a:r>
              <a:rPr lang="en-US" sz="1400" b="1" dirty="0">
                <a:solidFill>
                  <a:srgbClr val="EF4444"/>
                </a:solidFill>
                <a:latin typeface="Yu Gothic" pitchFamily="34" charset="0"/>
                <a:ea typeface="Yu Gothic" pitchFamily="34" charset="-122"/>
                <a:cs typeface="Yu Gothic" pitchFamily="34" charset="-120"/>
              </a:rPr>
              <a:t>説明上のギャップ</a:t>
            </a:r>
            <a:endParaRPr lang="en-US" sz="1400" dirty="0"/>
          </a:p>
        </p:txBody>
      </p:sp>
      <p:sp>
        <p:nvSpPr>
          <p:cNvPr id="13" name="Text 11"/>
          <p:cNvSpPr/>
          <p:nvPr/>
        </p:nvSpPr>
        <p:spPr>
          <a:xfrm>
            <a:off x="777240" y="3246120"/>
            <a:ext cx="6400800" cy="310896"/>
          </a:xfrm>
          <a:prstGeom prst="rect">
            <a:avLst/>
          </a:prstGeom>
          <a:solidFill>
            <a:srgbClr val="FFF7ED"/>
          </a:solidFill>
          <a:ln w="12700">
            <a:solidFill>
              <a:srgbClr val="FED7AA"/>
            </a:solidFill>
          </a:ln>
        </p:spPr>
        <p:txBody>
          <a:bodyPr wrap="square" lIns="1016" tIns="1016" rIns="1016" bIns="1016" rtlCol="0" anchor="ctr">
            <a:normAutofit/>
          </a:bodyPr>
          <a:lstStyle/>
          <a:p>
            <a:pPr algn="l" indent="0" marL="0">
              <a:buNone/>
            </a:pPr>
            <a:r>
              <a:rPr lang="en-US" sz="950" dirty="0">
                <a:solidFill>
                  <a:srgbClr val="334155"/>
                </a:solidFill>
                <a:latin typeface="Yu Gothic" pitchFamily="34" charset="0"/>
                <a:ea typeface="Yu Gothic" pitchFamily="34" charset="-122"/>
                <a:cs typeface="Yu Gothic" pitchFamily="34" charset="-120"/>
              </a:rPr>
              <a:t>なぜその特徴量が市場メカニズムとして有効なのかは説明しにくい</a:t>
            </a:r>
            <a:endParaRPr lang="en-US" sz="950" dirty="0"/>
          </a:p>
        </p:txBody>
      </p:sp>
      <p:sp>
        <p:nvSpPr>
          <p:cNvPr id="14" name="Text 12"/>
          <p:cNvSpPr/>
          <p:nvPr/>
        </p:nvSpPr>
        <p:spPr>
          <a:xfrm>
            <a:off x="777240" y="3721608"/>
            <a:ext cx="6400800" cy="310896"/>
          </a:xfrm>
          <a:prstGeom prst="rect">
            <a:avLst/>
          </a:prstGeom>
          <a:solidFill>
            <a:srgbClr val="FFF7ED"/>
          </a:solidFill>
          <a:ln w="12700">
            <a:solidFill>
              <a:srgbClr val="FED7AA"/>
            </a:solidFill>
          </a:ln>
        </p:spPr>
        <p:txBody>
          <a:bodyPr wrap="square" lIns="1016" tIns="1016" rIns="1016" bIns="1016" rtlCol="0" anchor="ctr">
            <a:normAutofit/>
          </a:bodyPr>
          <a:lstStyle/>
          <a:p>
            <a:pPr algn="l" indent="0" marL="0">
              <a:buNone/>
            </a:pPr>
            <a:r>
              <a:rPr lang="en-US" sz="950" dirty="0">
                <a:solidFill>
                  <a:srgbClr val="334155"/>
                </a:solidFill>
                <a:latin typeface="Yu Gothic" pitchFamily="34" charset="0"/>
                <a:ea typeface="Yu Gothic" pitchFamily="34" charset="-122"/>
                <a:cs typeface="Yu Gothic" pitchFamily="34" charset="-120"/>
              </a:rPr>
              <a:t>同じLGBMが常に有効とは限らず、レジーム変化への適応が弱い</a:t>
            </a:r>
            <a:endParaRPr lang="en-US" sz="950" dirty="0"/>
          </a:p>
        </p:txBody>
      </p:sp>
      <p:sp>
        <p:nvSpPr>
          <p:cNvPr id="15" name="Text 13"/>
          <p:cNvSpPr/>
          <p:nvPr/>
        </p:nvSpPr>
        <p:spPr>
          <a:xfrm>
            <a:off x="777240" y="4197096"/>
            <a:ext cx="6400800" cy="310896"/>
          </a:xfrm>
          <a:prstGeom prst="rect">
            <a:avLst/>
          </a:prstGeom>
          <a:solidFill>
            <a:srgbClr val="FFF7ED"/>
          </a:solidFill>
          <a:ln w="12700">
            <a:solidFill>
              <a:srgbClr val="FED7AA"/>
            </a:solidFill>
          </a:ln>
        </p:spPr>
        <p:txBody>
          <a:bodyPr wrap="square" lIns="1016" tIns="1016" rIns="1016" bIns="1016" rtlCol="0" anchor="ctr">
            <a:normAutofit/>
          </a:bodyPr>
          <a:lstStyle/>
          <a:p>
            <a:pPr algn="l" indent="0" marL="0">
              <a:buNone/>
            </a:pPr>
            <a:r>
              <a:rPr lang="en-US" sz="950" dirty="0">
                <a:solidFill>
                  <a:srgbClr val="334155"/>
                </a:solidFill>
                <a:latin typeface="Yu Gothic" pitchFamily="34" charset="0"/>
                <a:ea typeface="Yu Gothic" pitchFamily="34" charset="-122"/>
                <a:cs typeface="Yu Gothic" pitchFamily="34" charset="-120"/>
              </a:rPr>
              <a:t>時系列パターンの「どの期間を重視したか」を説明しにくい</a:t>
            </a:r>
            <a:endParaRPr lang="en-US" sz="950" dirty="0"/>
          </a:p>
        </p:txBody>
      </p:sp>
      <p:sp>
        <p:nvSpPr>
          <p:cNvPr id="16" name="Text 14"/>
          <p:cNvSpPr/>
          <p:nvPr/>
        </p:nvSpPr>
        <p:spPr>
          <a:xfrm>
            <a:off x="777240" y="4672584"/>
            <a:ext cx="6400800" cy="310896"/>
          </a:xfrm>
          <a:prstGeom prst="rect">
            <a:avLst/>
          </a:prstGeom>
          <a:solidFill>
            <a:srgbClr val="FFF7ED"/>
          </a:solidFill>
          <a:ln w="12700">
            <a:solidFill>
              <a:srgbClr val="FED7AA"/>
            </a:solidFill>
          </a:ln>
        </p:spPr>
        <p:txBody>
          <a:bodyPr wrap="square" lIns="1016" tIns="1016" rIns="1016" bIns="1016" rtlCol="0" anchor="ctr">
            <a:normAutofit/>
          </a:bodyPr>
          <a:lstStyle/>
          <a:p>
            <a:pPr algn="l" indent="0" marL="0">
              <a:buNone/>
            </a:pPr>
            <a:r>
              <a:rPr lang="en-US" sz="950" dirty="0">
                <a:solidFill>
                  <a:srgbClr val="334155"/>
                </a:solidFill>
                <a:latin typeface="Yu Gothic" pitchFamily="34" charset="0"/>
                <a:ea typeface="Yu Gothic" pitchFamily="34" charset="-122"/>
                <a:cs typeface="Yu Gothic" pitchFamily="34" charset="-120"/>
              </a:rPr>
              <a:t>PM・上司層が知りたいのは特徴量寄与ではなく投資仮説の妥当性</a:t>
            </a:r>
            <a:endParaRPr lang="en-US" sz="950" dirty="0"/>
          </a:p>
        </p:txBody>
      </p:sp>
      <p:sp>
        <p:nvSpPr>
          <p:cNvPr id="17" name="Text 15"/>
          <p:cNvSpPr/>
          <p:nvPr/>
        </p:nvSpPr>
        <p:spPr>
          <a:xfrm>
            <a:off x="8046720" y="2926080"/>
            <a:ext cx="3291840" cy="2560320"/>
          </a:xfrm>
          <a:prstGeom prst="rect">
            <a:avLst/>
          </a:prstGeom>
          <a:solidFill>
            <a:srgbClr val="FFFFFF"/>
          </a:solidFill>
          <a:ln w="12700">
            <a:solidFill>
              <a:srgbClr val="CBD5E1"/>
            </a:solidFill>
          </a:ln>
        </p:spPr>
        <p:txBody>
          <a:bodyPr wrap="square" lIns="2032" tIns="2032" rIns="2032" bIns="2032" rtlCol="0" anchor="ctr">
            <a:normAutofit/>
          </a:bodyPr>
          <a:lstStyle/>
          <a:p>
            <a:pPr algn="ctr" indent="0" marL="0">
              <a:buNone/>
            </a:pPr>
            <a:r>
              <a:rPr lang="en-US" sz="1200" dirty="0">
                <a:solidFill>
                  <a:srgbClr val="0B1F3A"/>
                </a:solidFill>
                <a:latin typeface="Yu Gothic" pitchFamily="34" charset="0"/>
                <a:ea typeface="Yu Gothic" pitchFamily="34" charset="-122"/>
                <a:cs typeface="Yu Gothic" pitchFamily="34" charset="-120"/>
              </a:rPr>
              <a:t>目指す状態</a:t>
            </a:r>
            <a:endParaRPr lang="en-US" sz="1200" dirty="0"/>
          </a:p>
          <a:p>
            <a:pPr algn="ctr" indent="0" marL="0">
              <a:buNone/>
            </a:pPr>
            <a:endParaRPr lang="en-US" sz="1200" dirty="0"/>
          </a:p>
          <a:p>
            <a:pPr algn="ctr" indent="0" marL="0">
              <a:buNone/>
            </a:pPr>
            <a:r>
              <a:rPr lang="en-US" sz="1200" dirty="0">
                <a:solidFill>
                  <a:srgbClr val="0B1F3A"/>
                </a:solidFill>
                <a:latin typeface="Yu Gothic" pitchFamily="34" charset="0"/>
                <a:ea typeface="Yu Gothic" pitchFamily="34" charset="-122"/>
                <a:cs typeface="Yu Gothic" pitchFamily="34" charset="-120"/>
              </a:rPr>
              <a:t>特徴量寄与ではなく、</a:t>
            </a:r>
            <a:endParaRPr lang="en-US" sz="1200" dirty="0"/>
          </a:p>
          <a:p>
            <a:pPr algn="ctr" indent="0" marL="0">
              <a:buNone/>
            </a:pPr>
            <a:r>
              <a:rPr lang="en-US" sz="1200" dirty="0">
                <a:solidFill>
                  <a:srgbClr val="0B1F3A"/>
                </a:solidFill>
                <a:latin typeface="Yu Gothic" pitchFamily="34" charset="0"/>
                <a:ea typeface="Yu Gothic" pitchFamily="34" charset="-122"/>
                <a:cs typeface="Yu Gothic" pitchFamily="34" charset="-120"/>
              </a:rPr>
              <a:t>「Persistenceが強い」</a:t>
            </a:r>
            <a:endParaRPr lang="en-US" sz="1200" dirty="0"/>
          </a:p>
          <a:p>
            <a:pPr algn="ctr" indent="0" marL="0">
              <a:buNone/>
            </a:pPr>
            <a:r>
              <a:rPr lang="en-US" sz="1200" dirty="0">
                <a:solidFill>
                  <a:srgbClr val="0B1F3A"/>
                </a:solidFill>
                <a:latin typeface="Yu Gothic" pitchFamily="34" charset="0"/>
                <a:ea typeface="Yu Gothic" pitchFamily="34" charset="-122"/>
                <a:cs typeface="Yu Gothic" pitchFamily="34" charset="-120"/>
              </a:rPr>
              <a:t>「Flowが支えている」</a:t>
            </a:r>
            <a:endParaRPr lang="en-US" sz="1200" dirty="0"/>
          </a:p>
          <a:p>
            <a:pPr algn="ctr" indent="0" marL="0">
              <a:buNone/>
            </a:pPr>
            <a:r>
              <a:rPr lang="en-US" sz="1200" dirty="0">
                <a:solidFill>
                  <a:srgbClr val="0B1F3A"/>
                </a:solidFill>
                <a:latin typeface="Yu Gothic" pitchFamily="34" charset="0"/>
                <a:ea typeface="Yu Gothic" pitchFamily="34" charset="-122"/>
                <a:cs typeface="Yu Gothic" pitchFamily="34" charset="-120"/>
              </a:rPr>
              <a:t>「Volatilityが抑制要因」</a:t>
            </a:r>
            <a:endParaRPr lang="en-US" sz="1200" dirty="0"/>
          </a:p>
          <a:p>
            <a:pPr algn="ctr" indent="0" marL="0">
              <a:buNone/>
            </a:pPr>
            <a:r>
              <a:rPr lang="en-US" sz="1200" dirty="0">
                <a:solidFill>
                  <a:srgbClr val="0B1F3A"/>
                </a:solidFill>
                <a:latin typeface="Yu Gothic" pitchFamily="34" charset="0"/>
                <a:ea typeface="Yu Gothic" pitchFamily="34" charset="-122"/>
                <a:cs typeface="Yu Gothic" pitchFamily="34" charset="-120"/>
              </a:rPr>
              <a:t>のように説明する。</a:t>
            </a:r>
            <a:endParaRPr lang="en-US" sz="1200" dirty="0"/>
          </a:p>
        </p:txBody>
      </p:sp>
      <p:sp>
        <p:nvSpPr>
          <p:cNvPr id="18" name="Text 16"/>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19" name="Text 17"/>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03</a:t>
            </a:r>
            <a:endParaRPr lang="en-US" sz="750" dirty="0"/>
          </a:p>
        </p:txBody>
      </p:sp>
      <p:sp>
        <p:nvSpPr>
          <p:cNvPr id="20" name="Text 18"/>
          <p:cNvSpPr/>
          <p:nvPr/>
        </p:nvSpPr>
        <p:spPr>
          <a:xfrm>
            <a:off x="411480" y="6281928"/>
            <a:ext cx="10972800" cy="182880"/>
          </a:xfrm>
          <a:prstGeom prst="rect">
            <a:avLst/>
          </a:prstGeom>
          <a:noFill/>
          <a:ln/>
        </p:spPr>
        <p:txBody>
          <a:bodyPr wrap="square" lIns="0" tIns="0" rIns="0" bIns="0" rtlCol="0" anchor="ctr">
            <a:normAutofit/>
          </a:bodyPr>
          <a:lstStyle/>
          <a:p>
            <a:pPr indent="0" marL="0">
              <a:buNone/>
            </a:pPr>
            <a:r>
              <a:rPr lang="en-US" sz="500" dirty="0">
                <a:solidFill>
                  <a:srgbClr val="94A3B8"/>
                </a:solidFill>
                <a:latin typeface="Yu Gothic" pitchFamily="34" charset="0"/>
                <a:ea typeface="Yu Gothic" pitchFamily="34" charset="-122"/>
                <a:cs typeface="Yu Gothic" pitchFamily="34" charset="-120"/>
              </a:rPr>
              <a:t>Refs: SHAP [3] / Attention explanation caveats [7][8]</a:t>
            </a:r>
            <a:endParaRPr lang="en-US" sz="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提案アーキテクチャ：Evidence × Dynamic Ensemble × Transformer</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説明可能性・予測力・時間構造の解釈を分業させる</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502920" y="1554480"/>
            <a:ext cx="1600200" cy="475488"/>
          </a:xfrm>
          <a:prstGeom prst="rect">
            <a:avLst/>
          </a:prstGeom>
          <a:solidFill>
            <a:srgbClr val="DBEAFE"/>
          </a:solidFill>
          <a:ln w="12700">
            <a:solidFill>
              <a:srgbClr val="CBD5E1"/>
            </a:solidFill>
          </a:ln>
        </p:spPr>
        <p:txBody>
          <a:bodyPr wrap="square" lIns="1016" tIns="1016" rIns="1016" bIns="1016" rtlCol="0" anchor="ctr">
            <a:normAutofit/>
          </a:bodyPr>
          <a:lstStyle/>
          <a:p>
            <a:pPr algn="ctr" indent="0" marL="0">
              <a:buNone/>
            </a:pPr>
            <a:r>
              <a:rPr lang="en-US" sz="1000" b="1" dirty="0">
                <a:solidFill>
                  <a:srgbClr val="2563EB"/>
                </a:solidFill>
                <a:latin typeface="Yu Gothic" pitchFamily="34" charset="0"/>
                <a:ea typeface="Yu Gothic" pitchFamily="34" charset="-122"/>
                <a:cs typeface="Yu Gothic" pitchFamily="34" charset="-120"/>
              </a:rPr>
              <a:t>Market Data</a:t>
            </a:r>
            <a:endParaRPr lang="en-US" sz="1000" dirty="0"/>
          </a:p>
        </p:txBody>
      </p:sp>
      <p:sp>
        <p:nvSpPr>
          <p:cNvPr id="6" name="Text 4"/>
          <p:cNvSpPr/>
          <p:nvPr/>
        </p:nvSpPr>
        <p:spPr>
          <a:xfrm>
            <a:off x="502920" y="2148840"/>
            <a:ext cx="1600200" cy="411480"/>
          </a:xfrm>
          <a:prstGeom prst="rect">
            <a:avLst/>
          </a:prstGeom>
          <a:noFill/>
          <a:ln/>
        </p:spPr>
        <p:txBody>
          <a:bodyPr wrap="square" lIns="0" tIns="0" rIns="0" bIns="0" rtlCol="0" anchor="ctr">
            <a:normAutofit/>
          </a:bodyPr>
          <a:lstStyle/>
          <a:p>
            <a:pPr algn="ctr" indent="0" marL="0">
              <a:buNone/>
            </a:pPr>
            <a:r>
              <a:rPr lang="en-US" sz="720" dirty="0">
                <a:solidFill>
                  <a:srgbClr val="334155"/>
                </a:solidFill>
                <a:latin typeface="Yu Gothic" pitchFamily="34" charset="0"/>
                <a:ea typeface="Yu Gothic" pitchFamily="34" charset="-122"/>
                <a:cs typeface="Yu Gothic" pitchFamily="34" charset="-120"/>
              </a:rPr>
              <a:t>価格・出来高・建玉・金利・FX・商品</a:t>
            </a:r>
            <a:endParaRPr lang="en-US" sz="720" dirty="0"/>
          </a:p>
        </p:txBody>
      </p:sp>
      <p:sp>
        <p:nvSpPr>
          <p:cNvPr id="7" name="Text 5"/>
          <p:cNvSpPr/>
          <p:nvPr/>
        </p:nvSpPr>
        <p:spPr>
          <a:xfrm>
            <a:off x="1133856" y="1124712"/>
            <a:ext cx="310896" cy="310896"/>
          </a:xfrm>
          <a:prstGeom prst="rect">
            <a:avLst/>
          </a:prstGeom>
          <a:solidFill>
            <a:srgbClr val="2563EB"/>
          </a:solidFill>
          <a:ln>
            <a:solidFill>
              <a:srgbClr val="2563EB"/>
            </a:solid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8" name="Shape 6"/>
          <p:cNvSpPr/>
          <p:nvPr/>
        </p:nvSpPr>
        <p:spPr>
          <a:xfrm>
            <a:off x="2121408" y="1792224"/>
            <a:ext cx="228600" cy="0"/>
          </a:xfrm>
          <a:prstGeom prst="line">
            <a:avLst/>
          </a:prstGeom>
          <a:noFill/>
          <a:ln w="13970">
            <a:solidFill>
              <a:srgbClr val="64748B"/>
            </a:solidFill>
            <a:prstDash val="solid"/>
            <a:headEnd type="none"/>
            <a:tailEnd type="triangle"/>
          </a:ln>
        </p:spPr>
      </p:sp>
      <p:sp>
        <p:nvSpPr>
          <p:cNvPr id="9" name="Text 7"/>
          <p:cNvSpPr/>
          <p:nvPr/>
        </p:nvSpPr>
        <p:spPr>
          <a:xfrm>
            <a:off x="2404872" y="1554480"/>
            <a:ext cx="1600200" cy="475488"/>
          </a:xfrm>
          <a:prstGeom prst="rect">
            <a:avLst/>
          </a:prstGeom>
          <a:solidFill>
            <a:srgbClr val="D1FAE5"/>
          </a:solidFill>
          <a:ln w="12700">
            <a:solidFill>
              <a:srgbClr val="CBD5E1"/>
            </a:solidFill>
          </a:ln>
        </p:spPr>
        <p:txBody>
          <a:bodyPr wrap="square" lIns="1016" tIns="1016" rIns="1016" bIns="1016" rtlCol="0" anchor="ctr">
            <a:normAutofit/>
          </a:bodyPr>
          <a:lstStyle/>
          <a:p>
            <a:pPr algn="ctr" indent="0" marL="0">
              <a:buNone/>
            </a:pPr>
            <a:r>
              <a:rPr lang="en-US" sz="1000" b="1" dirty="0">
                <a:solidFill>
                  <a:srgbClr val="10B981"/>
                </a:solidFill>
                <a:latin typeface="Yu Gothic" pitchFamily="34" charset="0"/>
                <a:ea typeface="Yu Gothic" pitchFamily="34" charset="-122"/>
                <a:cs typeface="Yu Gothic" pitchFamily="34" charset="-120"/>
              </a:rPr>
              <a:t>Signal Store</a:t>
            </a:r>
            <a:endParaRPr lang="en-US" sz="1000" dirty="0"/>
          </a:p>
        </p:txBody>
      </p:sp>
      <p:sp>
        <p:nvSpPr>
          <p:cNvPr id="10" name="Text 8"/>
          <p:cNvSpPr/>
          <p:nvPr/>
        </p:nvSpPr>
        <p:spPr>
          <a:xfrm>
            <a:off x="2404872" y="2148840"/>
            <a:ext cx="1600200" cy="411480"/>
          </a:xfrm>
          <a:prstGeom prst="rect">
            <a:avLst/>
          </a:prstGeom>
          <a:noFill/>
          <a:ln/>
        </p:spPr>
        <p:txBody>
          <a:bodyPr wrap="square" lIns="0" tIns="0" rIns="0" bIns="0" rtlCol="0" anchor="ctr">
            <a:normAutofit/>
          </a:bodyPr>
          <a:lstStyle/>
          <a:p>
            <a:pPr algn="ctr" indent="0" marL="0">
              <a:buNone/>
            </a:pPr>
            <a:r>
              <a:rPr lang="en-US" sz="720" dirty="0">
                <a:solidFill>
                  <a:srgbClr val="334155"/>
                </a:solidFill>
                <a:latin typeface="Yu Gothic" pitchFamily="34" charset="0"/>
                <a:ea typeface="Yu Gothic" pitchFamily="34" charset="-122"/>
                <a:cs typeface="Yu Gothic" pitchFamily="34" charset="-120"/>
              </a:rPr>
              <a:t>Quantile / Z-score / Rankへ変換</a:t>
            </a:r>
            <a:endParaRPr lang="en-US" sz="720" dirty="0"/>
          </a:p>
        </p:txBody>
      </p:sp>
      <p:sp>
        <p:nvSpPr>
          <p:cNvPr id="11" name="Text 9"/>
          <p:cNvSpPr/>
          <p:nvPr/>
        </p:nvSpPr>
        <p:spPr>
          <a:xfrm>
            <a:off x="3035808" y="1124712"/>
            <a:ext cx="310896" cy="310896"/>
          </a:xfrm>
          <a:prstGeom prst="rect">
            <a:avLst/>
          </a:prstGeom>
          <a:solidFill>
            <a:srgbClr val="10B981"/>
          </a:solidFill>
          <a:ln>
            <a:solidFill>
              <a:srgbClr val="10B981"/>
            </a:solid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12" name="Shape 10"/>
          <p:cNvSpPr/>
          <p:nvPr/>
        </p:nvSpPr>
        <p:spPr>
          <a:xfrm>
            <a:off x="4023360" y="1792224"/>
            <a:ext cx="228600" cy="0"/>
          </a:xfrm>
          <a:prstGeom prst="line">
            <a:avLst/>
          </a:prstGeom>
          <a:noFill/>
          <a:ln w="13970">
            <a:solidFill>
              <a:srgbClr val="64748B"/>
            </a:solidFill>
            <a:prstDash val="solid"/>
            <a:headEnd type="none"/>
            <a:tailEnd type="triangle"/>
          </a:ln>
        </p:spPr>
      </p:sp>
      <p:sp>
        <p:nvSpPr>
          <p:cNvPr id="13" name="Text 11"/>
          <p:cNvSpPr/>
          <p:nvPr/>
        </p:nvSpPr>
        <p:spPr>
          <a:xfrm>
            <a:off x="4306824" y="1554480"/>
            <a:ext cx="1600200" cy="475488"/>
          </a:xfrm>
          <a:prstGeom prst="rect">
            <a:avLst/>
          </a:prstGeom>
          <a:solidFill>
            <a:srgbClr val="FEF3C7"/>
          </a:solidFill>
          <a:ln w="12700">
            <a:solidFill>
              <a:srgbClr val="CBD5E1"/>
            </a:solidFill>
          </a:ln>
        </p:spPr>
        <p:txBody>
          <a:bodyPr wrap="square" lIns="1016" tIns="1016" rIns="1016" bIns="1016" rtlCol="0" anchor="ctr">
            <a:normAutofit/>
          </a:bodyPr>
          <a:lstStyle/>
          <a:p>
            <a:pPr algn="ctr" indent="0" marL="0">
              <a:buNone/>
            </a:pPr>
            <a:r>
              <a:rPr lang="en-US" sz="1000" b="1" dirty="0">
                <a:solidFill>
                  <a:srgbClr val="F59E0B"/>
                </a:solidFill>
                <a:latin typeface="Yu Gothic" pitchFamily="34" charset="0"/>
                <a:ea typeface="Yu Gothic" pitchFamily="34" charset="-122"/>
                <a:cs typeface="Yu Gothic" pitchFamily="34" charset="-120"/>
              </a:rPr>
              <a:t>Evidence</a:t>
            </a:r>
            <a:endParaRPr lang="en-US" sz="1000" dirty="0"/>
          </a:p>
        </p:txBody>
      </p:sp>
      <p:sp>
        <p:nvSpPr>
          <p:cNvPr id="14" name="Text 12"/>
          <p:cNvSpPr/>
          <p:nvPr/>
        </p:nvSpPr>
        <p:spPr>
          <a:xfrm>
            <a:off x="4306824" y="2148840"/>
            <a:ext cx="1600200" cy="411480"/>
          </a:xfrm>
          <a:prstGeom prst="rect">
            <a:avLst/>
          </a:prstGeom>
          <a:noFill/>
          <a:ln/>
        </p:spPr>
        <p:txBody>
          <a:bodyPr wrap="square" lIns="0" tIns="0" rIns="0" bIns="0" rtlCol="0" anchor="ctr">
            <a:normAutofit/>
          </a:bodyPr>
          <a:lstStyle/>
          <a:p>
            <a:pPr algn="ctr" indent="0" marL="0">
              <a:buNone/>
            </a:pPr>
            <a:r>
              <a:rPr lang="en-US" sz="720" dirty="0">
                <a:solidFill>
                  <a:srgbClr val="334155"/>
                </a:solidFill>
                <a:latin typeface="Yu Gothic" pitchFamily="34" charset="0"/>
                <a:ea typeface="Yu Gothic" pitchFamily="34" charset="-122"/>
                <a:cs typeface="Yu Gothic" pitchFamily="34" charset="-120"/>
              </a:rPr>
              <a:t>投資仮説を支える証拠へ変換</a:t>
            </a:r>
            <a:endParaRPr lang="en-US" sz="720" dirty="0"/>
          </a:p>
        </p:txBody>
      </p:sp>
      <p:sp>
        <p:nvSpPr>
          <p:cNvPr id="15" name="Text 13"/>
          <p:cNvSpPr/>
          <p:nvPr/>
        </p:nvSpPr>
        <p:spPr>
          <a:xfrm>
            <a:off x="4937760" y="1124712"/>
            <a:ext cx="310896" cy="310896"/>
          </a:xfrm>
          <a:prstGeom prst="rect">
            <a:avLst/>
          </a:prstGeom>
          <a:solidFill>
            <a:srgbClr val="F59E0B"/>
          </a:solidFill>
          <a:ln>
            <a:solidFill>
              <a:srgbClr val="F59E0B"/>
            </a:solid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16" name="Shape 14"/>
          <p:cNvSpPr/>
          <p:nvPr/>
        </p:nvSpPr>
        <p:spPr>
          <a:xfrm>
            <a:off x="5925312" y="1792224"/>
            <a:ext cx="228600" cy="0"/>
          </a:xfrm>
          <a:prstGeom prst="line">
            <a:avLst/>
          </a:prstGeom>
          <a:noFill/>
          <a:ln w="13970">
            <a:solidFill>
              <a:srgbClr val="64748B"/>
            </a:solidFill>
            <a:prstDash val="solid"/>
            <a:headEnd type="none"/>
            <a:tailEnd type="triangle"/>
          </a:ln>
        </p:spPr>
      </p:sp>
      <p:sp>
        <p:nvSpPr>
          <p:cNvPr id="17" name="Text 15"/>
          <p:cNvSpPr/>
          <p:nvPr/>
        </p:nvSpPr>
        <p:spPr>
          <a:xfrm>
            <a:off x="6208776" y="1554480"/>
            <a:ext cx="1600200" cy="475488"/>
          </a:xfrm>
          <a:prstGeom prst="rect">
            <a:avLst/>
          </a:prstGeom>
          <a:solidFill>
            <a:srgbClr val="EDE9FE"/>
          </a:solidFill>
          <a:ln w="12700">
            <a:solidFill>
              <a:srgbClr val="CBD5E1"/>
            </a:solidFill>
          </a:ln>
        </p:spPr>
        <p:txBody>
          <a:bodyPr wrap="square" lIns="1016" tIns="1016" rIns="1016" bIns="1016" rtlCol="0" anchor="ctr">
            <a:normAutofit/>
          </a:bodyPr>
          <a:lstStyle/>
          <a:p>
            <a:pPr algn="ctr" indent="0" marL="0">
              <a:buNone/>
            </a:pPr>
            <a:r>
              <a:rPr lang="en-US" sz="1000" b="1" dirty="0">
                <a:solidFill>
                  <a:srgbClr val="7C3AED"/>
                </a:solidFill>
                <a:latin typeface="Yu Gothic" pitchFamily="34" charset="0"/>
                <a:ea typeface="Yu Gothic" pitchFamily="34" charset="-122"/>
                <a:cs typeface="Yu Gothic" pitchFamily="34" charset="-120"/>
              </a:rPr>
              <a:t>Model Pool</a:t>
            </a:r>
            <a:endParaRPr lang="en-US" sz="1000" dirty="0"/>
          </a:p>
        </p:txBody>
      </p:sp>
      <p:sp>
        <p:nvSpPr>
          <p:cNvPr id="18" name="Text 16"/>
          <p:cNvSpPr/>
          <p:nvPr/>
        </p:nvSpPr>
        <p:spPr>
          <a:xfrm>
            <a:off x="6208776" y="2148840"/>
            <a:ext cx="1600200" cy="411480"/>
          </a:xfrm>
          <a:prstGeom prst="rect">
            <a:avLst/>
          </a:prstGeom>
          <a:noFill/>
          <a:ln/>
        </p:spPr>
        <p:txBody>
          <a:bodyPr wrap="square" lIns="0" tIns="0" rIns="0" bIns="0" rtlCol="0" anchor="ctr">
            <a:normAutofit/>
          </a:bodyPr>
          <a:lstStyle/>
          <a:p>
            <a:pPr algn="ctr" indent="0" marL="0">
              <a:buNone/>
            </a:pPr>
            <a:r>
              <a:rPr lang="en-US" sz="720" dirty="0">
                <a:solidFill>
                  <a:srgbClr val="334155"/>
                </a:solidFill>
                <a:latin typeface="Yu Gothic" pitchFamily="34" charset="0"/>
                <a:ea typeface="Yu Gothic" pitchFamily="34" charset="-122"/>
                <a:cs typeface="Yu Gothic" pitchFamily="34" charset="-120"/>
              </a:rPr>
              <a:t>Rule / Ridge / LGBM / RF / Transformer</a:t>
            </a:r>
            <a:endParaRPr lang="en-US" sz="720" dirty="0"/>
          </a:p>
        </p:txBody>
      </p:sp>
      <p:sp>
        <p:nvSpPr>
          <p:cNvPr id="19" name="Text 17"/>
          <p:cNvSpPr/>
          <p:nvPr/>
        </p:nvSpPr>
        <p:spPr>
          <a:xfrm>
            <a:off x="6839712" y="1124712"/>
            <a:ext cx="310896" cy="310896"/>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4</a:t>
            </a:r>
            <a:endParaRPr lang="en-US" sz="900" dirty="0"/>
          </a:p>
        </p:txBody>
      </p:sp>
      <p:sp>
        <p:nvSpPr>
          <p:cNvPr id="20" name="Shape 18"/>
          <p:cNvSpPr/>
          <p:nvPr/>
        </p:nvSpPr>
        <p:spPr>
          <a:xfrm>
            <a:off x="7827264" y="1792224"/>
            <a:ext cx="228600" cy="0"/>
          </a:xfrm>
          <a:prstGeom prst="line">
            <a:avLst/>
          </a:prstGeom>
          <a:noFill/>
          <a:ln w="13970">
            <a:solidFill>
              <a:srgbClr val="64748B"/>
            </a:solidFill>
            <a:prstDash val="solid"/>
            <a:headEnd type="none"/>
            <a:tailEnd type="triangle"/>
          </a:ln>
        </p:spPr>
      </p:sp>
      <p:sp>
        <p:nvSpPr>
          <p:cNvPr id="21" name="Text 19"/>
          <p:cNvSpPr/>
          <p:nvPr/>
        </p:nvSpPr>
        <p:spPr>
          <a:xfrm>
            <a:off x="8110728" y="1554480"/>
            <a:ext cx="1600200" cy="475488"/>
          </a:xfrm>
          <a:prstGeom prst="rect">
            <a:avLst/>
          </a:prstGeom>
          <a:solidFill>
            <a:srgbClr val="FCE7F3"/>
          </a:solidFill>
          <a:ln w="12700">
            <a:solidFill>
              <a:srgbClr val="CBD5E1"/>
            </a:solidFill>
          </a:ln>
        </p:spPr>
        <p:txBody>
          <a:bodyPr wrap="square" lIns="1016" tIns="1016" rIns="1016" bIns="1016" rtlCol="0" anchor="ctr">
            <a:normAutofit/>
          </a:bodyPr>
          <a:lstStyle/>
          <a:p>
            <a:pPr algn="ctr" indent="0" marL="0">
              <a:buNone/>
            </a:pPr>
            <a:r>
              <a:rPr lang="en-US" sz="1000" b="1" dirty="0">
                <a:solidFill>
                  <a:srgbClr val="BE185D"/>
                </a:solidFill>
                <a:latin typeface="Yu Gothic" pitchFamily="34" charset="0"/>
                <a:ea typeface="Yu Gothic" pitchFamily="34" charset="-122"/>
                <a:cs typeface="Yu Gothic" pitchFamily="34" charset="-120"/>
              </a:rPr>
              <a:t>Dynamic Ensemble</a:t>
            </a:r>
            <a:endParaRPr lang="en-US" sz="1000" dirty="0"/>
          </a:p>
        </p:txBody>
      </p:sp>
      <p:sp>
        <p:nvSpPr>
          <p:cNvPr id="22" name="Text 20"/>
          <p:cNvSpPr/>
          <p:nvPr/>
        </p:nvSpPr>
        <p:spPr>
          <a:xfrm>
            <a:off x="8110728" y="2148840"/>
            <a:ext cx="1600200" cy="411480"/>
          </a:xfrm>
          <a:prstGeom prst="rect">
            <a:avLst/>
          </a:prstGeom>
          <a:noFill/>
          <a:ln/>
        </p:spPr>
        <p:txBody>
          <a:bodyPr wrap="square" lIns="0" tIns="0" rIns="0" bIns="0" rtlCol="0" anchor="ctr">
            <a:normAutofit/>
          </a:bodyPr>
          <a:lstStyle/>
          <a:p>
            <a:pPr algn="ctr" indent="0" marL="0">
              <a:buNone/>
            </a:pPr>
            <a:r>
              <a:rPr lang="en-US" sz="720" dirty="0">
                <a:solidFill>
                  <a:srgbClr val="334155"/>
                </a:solidFill>
                <a:latin typeface="Yu Gothic" pitchFamily="34" charset="0"/>
                <a:ea typeface="Yu Gothic" pitchFamily="34" charset="-122"/>
                <a:cs typeface="Yu Gothic" pitchFamily="34" charset="-120"/>
              </a:rPr>
              <a:t>OOS Rank IC・ICIRで発言力調整</a:t>
            </a:r>
            <a:endParaRPr lang="en-US" sz="720" dirty="0"/>
          </a:p>
        </p:txBody>
      </p:sp>
      <p:sp>
        <p:nvSpPr>
          <p:cNvPr id="23" name="Text 21"/>
          <p:cNvSpPr/>
          <p:nvPr/>
        </p:nvSpPr>
        <p:spPr>
          <a:xfrm>
            <a:off x="8741664" y="1124712"/>
            <a:ext cx="310896" cy="310896"/>
          </a:xfrm>
          <a:prstGeom prst="rect">
            <a:avLst/>
          </a:prstGeom>
          <a:solidFill>
            <a:srgbClr val="BE185D"/>
          </a:solidFill>
          <a:ln>
            <a:solidFill>
              <a:srgbClr val="BE185D"/>
            </a:solid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5</a:t>
            </a:r>
            <a:endParaRPr lang="en-US" sz="900" dirty="0"/>
          </a:p>
        </p:txBody>
      </p:sp>
      <p:sp>
        <p:nvSpPr>
          <p:cNvPr id="24" name="Shape 22"/>
          <p:cNvSpPr/>
          <p:nvPr/>
        </p:nvSpPr>
        <p:spPr>
          <a:xfrm>
            <a:off x="9729216" y="1792224"/>
            <a:ext cx="228600" cy="0"/>
          </a:xfrm>
          <a:prstGeom prst="line">
            <a:avLst/>
          </a:prstGeom>
          <a:noFill/>
          <a:ln w="13970">
            <a:solidFill>
              <a:srgbClr val="64748B"/>
            </a:solidFill>
            <a:prstDash val="solid"/>
            <a:headEnd type="none"/>
            <a:tailEnd type="triangle"/>
          </a:ln>
        </p:spPr>
      </p:sp>
      <p:sp>
        <p:nvSpPr>
          <p:cNvPr id="25" name="Text 23"/>
          <p:cNvSpPr/>
          <p:nvPr/>
        </p:nvSpPr>
        <p:spPr>
          <a:xfrm>
            <a:off x="10012680" y="1554480"/>
            <a:ext cx="1600200" cy="475488"/>
          </a:xfrm>
          <a:prstGeom prst="rect">
            <a:avLst/>
          </a:prstGeom>
          <a:solidFill>
            <a:srgbClr val="E0F2FE"/>
          </a:solidFill>
          <a:ln w="12700">
            <a:solidFill>
              <a:srgbClr val="CBD5E1"/>
            </a:solidFill>
          </a:ln>
        </p:spPr>
        <p:txBody>
          <a:bodyPr wrap="square" lIns="1016" tIns="1016" rIns="1016" bIns="1016" rtlCol="0" anchor="ctr">
            <a:normAutofit/>
          </a:bodyPr>
          <a:lstStyle/>
          <a:p>
            <a:pPr algn="ctr" indent="0" marL="0">
              <a:buNone/>
            </a:pPr>
            <a:r>
              <a:rPr lang="en-US" sz="1000" b="1" dirty="0">
                <a:solidFill>
                  <a:srgbClr val="06B6D4"/>
                </a:solidFill>
                <a:latin typeface="Yu Gothic" pitchFamily="34" charset="0"/>
                <a:ea typeface="Yu Gothic" pitchFamily="34" charset="-122"/>
                <a:cs typeface="Yu Gothic" pitchFamily="34" charset="-120"/>
              </a:rPr>
              <a:t>Portfolio</a:t>
            </a:r>
            <a:endParaRPr lang="en-US" sz="1000" dirty="0"/>
          </a:p>
        </p:txBody>
      </p:sp>
      <p:sp>
        <p:nvSpPr>
          <p:cNvPr id="26" name="Text 24"/>
          <p:cNvSpPr/>
          <p:nvPr/>
        </p:nvSpPr>
        <p:spPr>
          <a:xfrm>
            <a:off x="10012680" y="2148840"/>
            <a:ext cx="1600200" cy="411480"/>
          </a:xfrm>
          <a:prstGeom prst="rect">
            <a:avLst/>
          </a:prstGeom>
          <a:noFill/>
          <a:ln/>
        </p:spPr>
        <p:txBody>
          <a:bodyPr wrap="square" lIns="0" tIns="0" rIns="0" bIns="0" rtlCol="0" anchor="ctr">
            <a:normAutofit/>
          </a:bodyPr>
          <a:lstStyle/>
          <a:p>
            <a:pPr algn="ctr" indent="0" marL="0">
              <a:buNone/>
            </a:pPr>
            <a:r>
              <a:rPr lang="en-US" sz="720" dirty="0">
                <a:solidFill>
                  <a:srgbClr val="334155"/>
                </a:solidFill>
                <a:latin typeface="Yu Gothic" pitchFamily="34" charset="0"/>
                <a:ea typeface="Yu Gothic" pitchFamily="34" charset="-122"/>
                <a:cs typeface="Yu Gothic" pitchFamily="34" charset="-120"/>
              </a:rPr>
              <a:t>Vol Target・Turnover・Conflict制御</a:t>
            </a:r>
            <a:endParaRPr lang="en-US" sz="720" dirty="0"/>
          </a:p>
        </p:txBody>
      </p:sp>
      <p:sp>
        <p:nvSpPr>
          <p:cNvPr id="27" name="Text 25"/>
          <p:cNvSpPr/>
          <p:nvPr/>
        </p:nvSpPr>
        <p:spPr>
          <a:xfrm>
            <a:off x="10643616" y="1124712"/>
            <a:ext cx="310896" cy="310896"/>
          </a:xfrm>
          <a:prstGeom prst="rect">
            <a:avLst/>
          </a:prstGeom>
          <a:solidFill>
            <a:srgbClr val="06B6D4"/>
          </a:solidFill>
          <a:ln>
            <a:solidFill>
              <a:srgbClr val="06B6D4"/>
            </a:solid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6</a:t>
            </a:r>
            <a:endParaRPr lang="en-US" sz="900" dirty="0"/>
          </a:p>
        </p:txBody>
      </p:sp>
      <p:sp>
        <p:nvSpPr>
          <p:cNvPr id="28" name="Text 26"/>
          <p:cNvSpPr/>
          <p:nvPr/>
        </p:nvSpPr>
        <p:spPr>
          <a:xfrm>
            <a:off x="822960" y="3886200"/>
            <a:ext cx="3154680" cy="1005840"/>
          </a:xfrm>
          <a:prstGeom prst="rect">
            <a:avLst/>
          </a:prstGeom>
          <a:solidFill>
            <a:srgbClr val="FFFFFF"/>
          </a:solidFill>
          <a:ln w="12700">
            <a:solidFill>
              <a:srgbClr val="CBD5E1"/>
            </a:solidFill>
          </a:ln>
        </p:spPr>
        <p:txBody>
          <a:bodyPr wrap="square" lIns="1270" tIns="1270" rIns="1270" bIns="1270" rtlCol="0" anchor="ctr">
            <a:normAutofit/>
          </a:bodyPr>
          <a:lstStyle/>
          <a:p>
            <a:pPr algn="ctr" indent="0" marL="0">
              <a:buNone/>
            </a:pPr>
            <a:r>
              <a:rPr lang="en-US" sz="1100" b="1" dirty="0">
                <a:solidFill>
                  <a:srgbClr val="0B1F3A"/>
                </a:solidFill>
                <a:latin typeface="Yu Gothic" pitchFamily="34" charset="0"/>
                <a:ea typeface="Yu Gothic" pitchFamily="34" charset="-122"/>
                <a:cs typeface="Yu Gothic" pitchFamily="34" charset="-120"/>
              </a:rPr>
              <a:t>説明可能性</a:t>
            </a:r>
            <a:endParaRPr lang="en-US" sz="1100" dirty="0"/>
          </a:p>
          <a:p>
            <a:pPr algn="ctr" indent="0" marL="0">
              <a:buNone/>
            </a:pPr>
            <a:r>
              <a:rPr lang="en-US" sz="1100" b="1" dirty="0">
                <a:solidFill>
                  <a:srgbClr val="0B1F3A"/>
                </a:solidFill>
                <a:latin typeface="Yu Gothic" pitchFamily="34" charset="0"/>
                <a:ea typeface="Yu Gothic" pitchFamily="34" charset="-122"/>
                <a:cs typeface="Yu Gothic" pitchFamily="34" charset="-120"/>
              </a:rPr>
              <a:t>Evidence化により、特徴量ではなく市場仮説で説明</a:t>
            </a:r>
            <a:endParaRPr lang="en-US" sz="1100" dirty="0"/>
          </a:p>
        </p:txBody>
      </p:sp>
      <p:sp>
        <p:nvSpPr>
          <p:cNvPr id="29" name="Text 27"/>
          <p:cNvSpPr/>
          <p:nvPr/>
        </p:nvSpPr>
        <p:spPr>
          <a:xfrm>
            <a:off x="4526280" y="3886200"/>
            <a:ext cx="3154680" cy="1005840"/>
          </a:xfrm>
          <a:prstGeom prst="rect">
            <a:avLst/>
          </a:prstGeom>
          <a:solidFill>
            <a:srgbClr val="FFFFFF"/>
          </a:solidFill>
          <a:ln w="12700">
            <a:solidFill>
              <a:srgbClr val="CBD5E1"/>
            </a:solidFill>
          </a:ln>
        </p:spPr>
        <p:txBody>
          <a:bodyPr wrap="square" lIns="1270" tIns="1270" rIns="1270" bIns="1270" rtlCol="0" anchor="ctr">
            <a:normAutofit/>
          </a:bodyPr>
          <a:lstStyle/>
          <a:p>
            <a:pPr algn="ctr" indent="0" marL="0">
              <a:buNone/>
            </a:pPr>
            <a:r>
              <a:rPr lang="en-US" sz="1100" b="1" dirty="0">
                <a:solidFill>
                  <a:srgbClr val="0B1F3A"/>
                </a:solidFill>
                <a:latin typeface="Yu Gothic" pitchFamily="34" charset="0"/>
                <a:ea typeface="Yu Gothic" pitchFamily="34" charset="-122"/>
                <a:cs typeface="Yu Gothic" pitchFamily="34" charset="-120"/>
              </a:rPr>
              <a:t>適応性</a:t>
            </a:r>
            <a:endParaRPr lang="en-US" sz="1100" dirty="0"/>
          </a:p>
          <a:p>
            <a:pPr algn="ctr" indent="0" marL="0">
              <a:buNone/>
            </a:pPr>
            <a:r>
              <a:rPr lang="en-US" sz="1100" b="1" dirty="0">
                <a:solidFill>
                  <a:srgbClr val="0B1F3A"/>
                </a:solidFill>
                <a:latin typeface="Yu Gothic" pitchFamily="34" charset="0"/>
                <a:ea typeface="Yu Gothic" pitchFamily="34" charset="-122"/>
                <a:cs typeface="Yu Gothic" pitchFamily="34" charset="-120"/>
              </a:rPr>
              <a:t>直近OOSで外しているモデルの発言力を下げる</a:t>
            </a:r>
            <a:endParaRPr lang="en-US" sz="1100" dirty="0"/>
          </a:p>
        </p:txBody>
      </p:sp>
      <p:sp>
        <p:nvSpPr>
          <p:cNvPr id="30" name="Text 28"/>
          <p:cNvSpPr/>
          <p:nvPr/>
        </p:nvSpPr>
        <p:spPr>
          <a:xfrm>
            <a:off x="8229600" y="3886200"/>
            <a:ext cx="3154680" cy="1005840"/>
          </a:xfrm>
          <a:prstGeom prst="rect">
            <a:avLst/>
          </a:prstGeom>
          <a:solidFill>
            <a:srgbClr val="FFFFFF"/>
          </a:solidFill>
          <a:ln w="12700">
            <a:solidFill>
              <a:srgbClr val="CBD5E1"/>
            </a:solidFill>
          </a:ln>
        </p:spPr>
        <p:txBody>
          <a:bodyPr wrap="square" lIns="1270" tIns="1270" rIns="1270" bIns="1270" rtlCol="0" anchor="ctr">
            <a:normAutofit/>
          </a:bodyPr>
          <a:lstStyle/>
          <a:p>
            <a:pPr algn="ctr" indent="0" marL="0">
              <a:buNone/>
            </a:pPr>
            <a:r>
              <a:rPr lang="en-US" sz="1100" b="1" dirty="0">
                <a:solidFill>
                  <a:srgbClr val="0B1F3A"/>
                </a:solidFill>
                <a:latin typeface="Yu Gothic" pitchFamily="34" charset="0"/>
                <a:ea typeface="Yu Gothic" pitchFamily="34" charset="-122"/>
                <a:cs typeface="Yu Gothic" pitchFamily="34" charset="-120"/>
              </a:rPr>
              <a:t>時間解釈</a:t>
            </a:r>
            <a:endParaRPr lang="en-US" sz="1100" dirty="0"/>
          </a:p>
          <a:p>
            <a:pPr algn="ctr" indent="0" marL="0">
              <a:buNone/>
            </a:pPr>
            <a:r>
              <a:rPr lang="en-US" sz="1100" b="1" dirty="0">
                <a:solidFill>
                  <a:srgbClr val="0B1F3A"/>
                </a:solidFill>
                <a:latin typeface="Yu Gothic" pitchFamily="34" charset="0"/>
                <a:ea typeface="Yu Gothic" pitchFamily="34" charset="-122"/>
                <a:cs typeface="Yu Gothic" pitchFamily="34" charset="-120"/>
              </a:rPr>
              <a:t>Transformerで「どの期間を見たか」を診断</a:t>
            </a:r>
            <a:endParaRPr lang="en-US" sz="1100" dirty="0"/>
          </a:p>
        </p:txBody>
      </p:sp>
      <p:sp>
        <p:nvSpPr>
          <p:cNvPr id="31" name="Text 29"/>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32" name="Text 30"/>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04</a:t>
            </a:r>
            <a:endParaRPr lang="en-US" sz="750" dirty="0"/>
          </a:p>
        </p:txBody>
      </p:sp>
      <p:sp>
        <p:nvSpPr>
          <p:cNvPr id="33" name="Text 31"/>
          <p:cNvSpPr/>
          <p:nvPr/>
        </p:nvSpPr>
        <p:spPr>
          <a:xfrm>
            <a:off x="411480" y="6281928"/>
            <a:ext cx="10972800" cy="182880"/>
          </a:xfrm>
          <a:prstGeom prst="rect">
            <a:avLst/>
          </a:prstGeom>
          <a:noFill/>
          <a:ln/>
        </p:spPr>
        <p:txBody>
          <a:bodyPr wrap="square" lIns="0" tIns="0" rIns="0" bIns="0" rtlCol="0" anchor="ctr">
            <a:normAutofit/>
          </a:bodyPr>
          <a:lstStyle/>
          <a:p>
            <a:pPr indent="0" marL="0">
              <a:buNone/>
            </a:pPr>
            <a:r>
              <a:rPr lang="en-US" sz="500" dirty="0">
                <a:solidFill>
                  <a:srgbClr val="94A3B8"/>
                </a:solidFill>
                <a:latin typeface="Yu Gothic" pitchFamily="34" charset="0"/>
                <a:ea typeface="Yu Gothic" pitchFamily="34" charset="-122"/>
                <a:cs typeface="Yu Gothic" pitchFamily="34" charset="-120"/>
              </a:rPr>
              <a:t>Refs: Forecast combinations [1], TFT [4], PatchTST [5], dynamic IC weighting [9]</a:t>
            </a:r>
            <a:endParaRPr lang="en-US" sz="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Step 1–3：市場データをEvidenceへ変換する</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Raw数値をそのまま使わず、比較可能なSignalにしてから投資判断の証拠へ落とす</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685800" y="1417320"/>
            <a:ext cx="2240280" cy="384048"/>
          </a:xfrm>
          <a:prstGeom prst="rect">
            <a:avLst/>
          </a:prstGeom>
          <a:solidFill>
            <a:srgbClr val="DBEAFE"/>
          </a:solidFill>
          <a:ln w="12700">
            <a:solidFill>
              <a:srgbClr val="CBD5E1"/>
            </a:solidFill>
          </a:ln>
        </p:spPr>
        <p:txBody>
          <a:bodyPr wrap="square" lIns="1016" tIns="1016" rIns="1016" bIns="1016" rtlCol="0" anchor="ctr">
            <a:normAutofit/>
          </a:bodyPr>
          <a:lstStyle/>
          <a:p>
            <a:pPr algn="ctr" indent="0" marL="0">
              <a:buNone/>
            </a:pPr>
            <a:r>
              <a:rPr lang="en-US" sz="1200" b="1" dirty="0">
                <a:solidFill>
                  <a:srgbClr val="2563EB"/>
                </a:solidFill>
                <a:latin typeface="Yu Gothic" pitchFamily="34" charset="0"/>
                <a:ea typeface="Yu Gothic" pitchFamily="34" charset="-122"/>
                <a:cs typeface="Yu Gothic" pitchFamily="34" charset="-120"/>
              </a:rPr>
              <a:t>Raw Data</a:t>
            </a:r>
            <a:endParaRPr lang="en-US" sz="1200" dirty="0"/>
          </a:p>
        </p:txBody>
      </p:sp>
      <p:sp>
        <p:nvSpPr>
          <p:cNvPr id="6" name="Text 4"/>
          <p:cNvSpPr/>
          <p:nvPr/>
        </p:nvSpPr>
        <p:spPr>
          <a:xfrm>
            <a:off x="685800" y="1947672"/>
            <a:ext cx="2240280" cy="987552"/>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00" dirty="0">
                <a:solidFill>
                  <a:srgbClr val="334155"/>
                </a:solidFill>
                <a:latin typeface="Yu Gothic" pitchFamily="34" charset="0"/>
                <a:ea typeface="Yu Gothic" pitchFamily="34" charset="-122"/>
                <a:cs typeface="Yu Gothic" pitchFamily="34" charset="-120"/>
              </a:rPr>
              <a:t>PX_LAST</a:t>
            </a:r>
            <a:endParaRPr lang="en-US" sz="900" dirty="0"/>
          </a:p>
          <a:p>
            <a:pPr algn="ctr" indent="0" marL="0">
              <a:buNone/>
            </a:pPr>
            <a:r>
              <a:rPr lang="en-US" sz="900" dirty="0">
                <a:solidFill>
                  <a:srgbClr val="334155"/>
                </a:solidFill>
                <a:latin typeface="Yu Gothic" pitchFamily="34" charset="0"/>
                <a:ea typeface="Yu Gothic" pitchFamily="34" charset="-122"/>
                <a:cs typeface="Yu Gothic" pitchFamily="34" charset="-120"/>
              </a:rPr>
              <a:t>PX_VOLUME</a:t>
            </a:r>
            <a:endParaRPr lang="en-US" sz="900" dirty="0"/>
          </a:p>
          <a:p>
            <a:pPr algn="ctr" indent="0" marL="0">
              <a:buNone/>
            </a:pPr>
            <a:r>
              <a:rPr lang="en-US" sz="900" dirty="0">
                <a:solidFill>
                  <a:srgbClr val="334155"/>
                </a:solidFill>
                <a:latin typeface="Yu Gothic" pitchFamily="34" charset="0"/>
                <a:ea typeface="Yu Gothic" pitchFamily="34" charset="-122"/>
                <a:cs typeface="Yu Gothic" pitchFamily="34" charset="-120"/>
              </a:rPr>
              <a:t>OPEN_INT</a:t>
            </a:r>
            <a:endParaRPr lang="en-US" sz="900" dirty="0"/>
          </a:p>
          <a:p>
            <a:pPr algn="ctr" indent="0" marL="0">
              <a:buNone/>
            </a:pPr>
            <a:r>
              <a:rPr lang="en-US" sz="900" dirty="0">
                <a:solidFill>
                  <a:srgbClr val="334155"/>
                </a:solidFill>
                <a:latin typeface="Yu Gothic" pitchFamily="34" charset="0"/>
                <a:ea typeface="Yu Gothic" pitchFamily="34" charset="-122"/>
                <a:cs typeface="Yu Gothic" pitchFamily="34" charset="-120"/>
              </a:rPr>
              <a:t>VIX / Rates / FX</a:t>
            </a:r>
            <a:endParaRPr lang="en-US" sz="900" dirty="0"/>
          </a:p>
        </p:txBody>
      </p:sp>
      <p:sp>
        <p:nvSpPr>
          <p:cNvPr id="7" name="Shape 5"/>
          <p:cNvSpPr/>
          <p:nvPr/>
        </p:nvSpPr>
        <p:spPr>
          <a:xfrm>
            <a:off x="2953512" y="2240280"/>
            <a:ext cx="429768" cy="0"/>
          </a:xfrm>
          <a:prstGeom prst="line">
            <a:avLst/>
          </a:prstGeom>
          <a:noFill/>
          <a:ln w="12700">
            <a:solidFill>
              <a:srgbClr val="64748B"/>
            </a:solidFill>
            <a:prstDash val="solid"/>
            <a:headEnd type="none"/>
            <a:tailEnd type="triangle"/>
          </a:ln>
        </p:spPr>
      </p:sp>
      <p:sp>
        <p:nvSpPr>
          <p:cNvPr id="8" name="Text 6"/>
          <p:cNvSpPr/>
          <p:nvPr/>
        </p:nvSpPr>
        <p:spPr>
          <a:xfrm>
            <a:off x="3474720" y="1417320"/>
            <a:ext cx="2240280" cy="384048"/>
          </a:xfrm>
          <a:prstGeom prst="rect">
            <a:avLst/>
          </a:prstGeom>
          <a:solidFill>
            <a:srgbClr val="D1FAE5"/>
          </a:solidFill>
          <a:ln w="12700">
            <a:solidFill>
              <a:srgbClr val="CBD5E1"/>
            </a:solidFill>
          </a:ln>
        </p:spPr>
        <p:txBody>
          <a:bodyPr wrap="square" lIns="1016" tIns="1016" rIns="1016" bIns="1016" rtlCol="0" anchor="ctr">
            <a:normAutofit/>
          </a:bodyPr>
          <a:lstStyle/>
          <a:p>
            <a:pPr algn="ctr" indent="0" marL="0">
              <a:buNone/>
            </a:pPr>
            <a:r>
              <a:rPr lang="en-US" sz="1200" b="1" dirty="0">
                <a:solidFill>
                  <a:srgbClr val="10B981"/>
                </a:solidFill>
                <a:latin typeface="Yu Gothic" pitchFamily="34" charset="0"/>
                <a:ea typeface="Yu Gothic" pitchFamily="34" charset="-122"/>
                <a:cs typeface="Yu Gothic" pitchFamily="34" charset="-120"/>
              </a:rPr>
              <a:t>Derived Feature</a:t>
            </a:r>
            <a:endParaRPr lang="en-US" sz="1200" dirty="0"/>
          </a:p>
        </p:txBody>
      </p:sp>
      <p:sp>
        <p:nvSpPr>
          <p:cNvPr id="9" name="Text 7"/>
          <p:cNvSpPr/>
          <p:nvPr/>
        </p:nvSpPr>
        <p:spPr>
          <a:xfrm>
            <a:off x="3474720" y="1947672"/>
            <a:ext cx="2240280" cy="987552"/>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00" dirty="0">
                <a:solidFill>
                  <a:srgbClr val="334155"/>
                </a:solidFill>
                <a:latin typeface="Yu Gothic" pitchFamily="34" charset="0"/>
                <a:ea typeface="Yu Gothic" pitchFamily="34" charset="-122"/>
                <a:cs typeface="Yu Gothic" pitchFamily="34" charset="-120"/>
              </a:rPr>
              <a:t>20日Return</a:t>
            </a:r>
            <a:endParaRPr lang="en-US" sz="900" dirty="0"/>
          </a:p>
          <a:p>
            <a:pPr algn="ctr" indent="0" marL="0">
              <a:buNone/>
            </a:pPr>
            <a:r>
              <a:rPr lang="en-US" sz="900" dirty="0">
                <a:solidFill>
                  <a:srgbClr val="334155"/>
                </a:solidFill>
                <a:latin typeface="Yu Gothic" pitchFamily="34" charset="0"/>
                <a:ea typeface="Yu Gothic" pitchFamily="34" charset="-122"/>
                <a:cs typeface="Yu Gothic" pitchFamily="34" charset="-120"/>
              </a:rPr>
              <a:t>60日Return</a:t>
            </a:r>
            <a:endParaRPr lang="en-US" sz="900" dirty="0"/>
          </a:p>
          <a:p>
            <a:pPr algn="ctr" indent="0" marL="0">
              <a:buNone/>
            </a:pPr>
            <a:r>
              <a:rPr lang="en-US" sz="900" dirty="0">
                <a:solidFill>
                  <a:srgbClr val="334155"/>
                </a:solidFill>
                <a:latin typeface="Yu Gothic" pitchFamily="34" charset="0"/>
                <a:ea typeface="Yu Gothic" pitchFamily="34" charset="-122"/>
                <a:cs typeface="Yu Gothic" pitchFamily="34" charset="-120"/>
              </a:rPr>
              <a:t>RV / ATR</a:t>
            </a:r>
            <a:endParaRPr lang="en-US" sz="900" dirty="0"/>
          </a:p>
          <a:p>
            <a:pPr algn="ctr" indent="0" marL="0">
              <a:buNone/>
            </a:pPr>
            <a:r>
              <a:rPr lang="en-US" sz="900" dirty="0">
                <a:solidFill>
                  <a:srgbClr val="334155"/>
                </a:solidFill>
                <a:latin typeface="Yu Gothic" pitchFamily="34" charset="0"/>
                <a:ea typeface="Yu Gothic" pitchFamily="34" charset="-122"/>
                <a:cs typeface="Yu Gothic" pitchFamily="34" charset="-120"/>
              </a:rPr>
              <a:t>Volume Ratio</a:t>
            </a:r>
            <a:endParaRPr lang="en-US" sz="900" dirty="0"/>
          </a:p>
        </p:txBody>
      </p:sp>
      <p:sp>
        <p:nvSpPr>
          <p:cNvPr id="10" name="Shape 8"/>
          <p:cNvSpPr/>
          <p:nvPr/>
        </p:nvSpPr>
        <p:spPr>
          <a:xfrm>
            <a:off x="5742432" y="2240280"/>
            <a:ext cx="429768" cy="0"/>
          </a:xfrm>
          <a:prstGeom prst="line">
            <a:avLst/>
          </a:prstGeom>
          <a:noFill/>
          <a:ln w="12700">
            <a:solidFill>
              <a:srgbClr val="64748B"/>
            </a:solidFill>
            <a:prstDash val="solid"/>
            <a:headEnd type="none"/>
            <a:tailEnd type="triangle"/>
          </a:ln>
        </p:spPr>
      </p:sp>
      <p:sp>
        <p:nvSpPr>
          <p:cNvPr id="11" name="Text 9"/>
          <p:cNvSpPr/>
          <p:nvPr/>
        </p:nvSpPr>
        <p:spPr>
          <a:xfrm>
            <a:off x="6263640" y="1417320"/>
            <a:ext cx="2240280" cy="384048"/>
          </a:xfrm>
          <a:prstGeom prst="rect">
            <a:avLst/>
          </a:prstGeom>
          <a:solidFill>
            <a:srgbClr val="FEF3C7"/>
          </a:solidFill>
          <a:ln w="12700">
            <a:solidFill>
              <a:srgbClr val="CBD5E1"/>
            </a:solidFill>
          </a:ln>
        </p:spPr>
        <p:txBody>
          <a:bodyPr wrap="square" lIns="1016" tIns="1016" rIns="1016" bIns="1016" rtlCol="0" anchor="ctr">
            <a:normAutofit/>
          </a:bodyPr>
          <a:lstStyle/>
          <a:p>
            <a:pPr algn="ctr" indent="0" marL="0">
              <a:buNone/>
            </a:pPr>
            <a:r>
              <a:rPr lang="en-US" sz="1200" b="1" dirty="0">
                <a:solidFill>
                  <a:srgbClr val="F59E0B"/>
                </a:solidFill>
                <a:latin typeface="Yu Gothic" pitchFamily="34" charset="0"/>
                <a:ea typeface="Yu Gothic" pitchFamily="34" charset="-122"/>
                <a:cs typeface="Yu Gothic" pitchFamily="34" charset="-120"/>
              </a:rPr>
              <a:t>Statistical Signal</a:t>
            </a:r>
            <a:endParaRPr lang="en-US" sz="1200" dirty="0"/>
          </a:p>
        </p:txBody>
      </p:sp>
      <p:sp>
        <p:nvSpPr>
          <p:cNvPr id="12" name="Text 10"/>
          <p:cNvSpPr/>
          <p:nvPr/>
        </p:nvSpPr>
        <p:spPr>
          <a:xfrm>
            <a:off x="6263640" y="1947672"/>
            <a:ext cx="2240280" cy="987552"/>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00" dirty="0">
                <a:solidFill>
                  <a:srgbClr val="334155"/>
                </a:solidFill>
                <a:latin typeface="Yu Gothic" pitchFamily="34" charset="0"/>
                <a:ea typeface="Yu Gothic" pitchFamily="34" charset="-122"/>
                <a:cs typeface="Yu Gothic" pitchFamily="34" charset="-120"/>
              </a:rPr>
              <a:t>Percentile</a:t>
            </a:r>
            <a:endParaRPr lang="en-US" sz="900" dirty="0"/>
          </a:p>
          <a:p>
            <a:pPr algn="ctr" indent="0" marL="0">
              <a:buNone/>
            </a:pPr>
            <a:r>
              <a:rPr lang="en-US" sz="900" dirty="0">
                <a:solidFill>
                  <a:srgbClr val="334155"/>
                </a:solidFill>
                <a:latin typeface="Yu Gothic" pitchFamily="34" charset="0"/>
                <a:ea typeface="Yu Gothic" pitchFamily="34" charset="-122"/>
                <a:cs typeface="Yu Gothic" pitchFamily="34" charset="-120"/>
              </a:rPr>
              <a:t>Z-score</a:t>
            </a:r>
            <a:endParaRPr lang="en-US" sz="900" dirty="0"/>
          </a:p>
          <a:p>
            <a:pPr algn="ctr" indent="0" marL="0">
              <a:buNone/>
            </a:pPr>
            <a:r>
              <a:rPr lang="en-US" sz="900" dirty="0">
                <a:solidFill>
                  <a:srgbClr val="334155"/>
                </a:solidFill>
                <a:latin typeface="Yu Gothic" pitchFamily="34" charset="0"/>
                <a:ea typeface="Yu Gothic" pitchFamily="34" charset="-122"/>
                <a:cs typeface="Yu Gothic" pitchFamily="34" charset="-120"/>
              </a:rPr>
              <a:t>Cross-sectional Rank</a:t>
            </a:r>
            <a:endParaRPr lang="en-US" sz="900" dirty="0"/>
          </a:p>
        </p:txBody>
      </p:sp>
      <p:sp>
        <p:nvSpPr>
          <p:cNvPr id="13" name="Shape 11"/>
          <p:cNvSpPr/>
          <p:nvPr/>
        </p:nvSpPr>
        <p:spPr>
          <a:xfrm>
            <a:off x="8531352" y="2240280"/>
            <a:ext cx="429768" cy="0"/>
          </a:xfrm>
          <a:prstGeom prst="line">
            <a:avLst/>
          </a:prstGeom>
          <a:noFill/>
          <a:ln w="12700">
            <a:solidFill>
              <a:srgbClr val="64748B"/>
            </a:solidFill>
            <a:prstDash val="solid"/>
            <a:headEnd type="none"/>
            <a:tailEnd type="triangle"/>
          </a:ln>
        </p:spPr>
      </p:sp>
      <p:sp>
        <p:nvSpPr>
          <p:cNvPr id="14" name="Text 12"/>
          <p:cNvSpPr/>
          <p:nvPr/>
        </p:nvSpPr>
        <p:spPr>
          <a:xfrm>
            <a:off x="9052560" y="1417320"/>
            <a:ext cx="2240280" cy="384048"/>
          </a:xfrm>
          <a:prstGeom prst="rect">
            <a:avLst/>
          </a:prstGeom>
          <a:solidFill>
            <a:srgbClr val="EDE9FE"/>
          </a:solidFill>
          <a:ln w="12700">
            <a:solidFill>
              <a:srgbClr val="CBD5E1"/>
            </a:solidFill>
          </a:ln>
        </p:spPr>
        <p:txBody>
          <a:bodyPr wrap="square" lIns="1016" tIns="1016" rIns="1016" bIns="1016" rtlCol="0" anchor="ctr">
            <a:normAutofit/>
          </a:bodyPr>
          <a:lstStyle/>
          <a:p>
            <a:pPr algn="ctr" indent="0" marL="0">
              <a:buNone/>
            </a:pPr>
            <a:r>
              <a:rPr lang="en-US" sz="1200" b="1" dirty="0">
                <a:solidFill>
                  <a:srgbClr val="7C3AED"/>
                </a:solidFill>
                <a:latin typeface="Yu Gothic" pitchFamily="34" charset="0"/>
                <a:ea typeface="Yu Gothic" pitchFamily="34" charset="-122"/>
                <a:cs typeface="Yu Gothic" pitchFamily="34" charset="-120"/>
              </a:rPr>
              <a:t>Investment Evidence</a:t>
            </a:r>
            <a:endParaRPr lang="en-US" sz="1200" dirty="0"/>
          </a:p>
        </p:txBody>
      </p:sp>
      <p:sp>
        <p:nvSpPr>
          <p:cNvPr id="15" name="Text 13"/>
          <p:cNvSpPr/>
          <p:nvPr/>
        </p:nvSpPr>
        <p:spPr>
          <a:xfrm>
            <a:off x="9052560" y="1947672"/>
            <a:ext cx="2240280" cy="987552"/>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00" dirty="0">
                <a:solidFill>
                  <a:srgbClr val="334155"/>
                </a:solidFill>
                <a:latin typeface="Yu Gothic" pitchFamily="34" charset="0"/>
                <a:ea typeface="Yu Gothic" pitchFamily="34" charset="-122"/>
                <a:cs typeface="Yu Gothic" pitchFamily="34" charset="-120"/>
              </a:rPr>
              <a:t>Strong Momentum</a:t>
            </a:r>
            <a:endParaRPr lang="en-US" sz="900" dirty="0"/>
          </a:p>
          <a:p>
            <a:pPr algn="ctr" indent="0" marL="0">
              <a:buNone/>
            </a:pPr>
            <a:r>
              <a:rPr lang="en-US" sz="900" dirty="0">
                <a:solidFill>
                  <a:srgbClr val="334155"/>
                </a:solidFill>
                <a:latin typeface="Yu Gothic" pitchFamily="34" charset="0"/>
                <a:ea typeface="Yu Gothic" pitchFamily="34" charset="-122"/>
                <a:cs typeface="Yu Gothic" pitchFamily="34" charset="-120"/>
              </a:rPr>
              <a:t>Volatility Stress</a:t>
            </a:r>
            <a:endParaRPr lang="en-US" sz="900" dirty="0"/>
          </a:p>
          <a:p>
            <a:pPr algn="ctr" indent="0" marL="0">
              <a:buNone/>
            </a:pPr>
            <a:r>
              <a:rPr lang="en-US" sz="900" dirty="0">
                <a:solidFill>
                  <a:srgbClr val="334155"/>
                </a:solidFill>
                <a:latin typeface="Yu Gothic" pitchFamily="34" charset="0"/>
                <a:ea typeface="Yu Gothic" pitchFamily="34" charset="-122"/>
                <a:cs typeface="Yu Gothic" pitchFamily="34" charset="-120"/>
              </a:rPr>
              <a:t>Bullish Flow</a:t>
            </a:r>
            <a:endParaRPr lang="en-US" sz="900" dirty="0"/>
          </a:p>
        </p:txBody>
      </p:sp>
      <p:sp>
        <p:nvSpPr>
          <p:cNvPr id="16" name="Shape 14"/>
          <p:cNvSpPr/>
          <p:nvPr/>
        </p:nvSpPr>
        <p:spPr>
          <a:xfrm>
            <a:off x="685800" y="3703320"/>
            <a:ext cx="10789920" cy="0"/>
          </a:xfrm>
          <a:prstGeom prst="line">
            <a:avLst/>
          </a:prstGeom>
          <a:noFill/>
          <a:ln w="12700">
            <a:solidFill>
              <a:srgbClr val="CBD5E1"/>
            </a:solidFill>
            <a:prstDash val="solid"/>
          </a:ln>
        </p:spPr>
      </p:sp>
      <p:sp>
        <p:nvSpPr>
          <p:cNvPr id="17" name="Text 15"/>
          <p:cNvSpPr/>
          <p:nvPr/>
        </p:nvSpPr>
        <p:spPr>
          <a:xfrm>
            <a:off x="713232" y="3977640"/>
            <a:ext cx="2103120" cy="228600"/>
          </a:xfrm>
          <a:prstGeom prst="rect">
            <a:avLst/>
          </a:prstGeom>
          <a:noFill/>
          <a:ln/>
        </p:spPr>
        <p:txBody>
          <a:bodyPr wrap="square" lIns="0" tIns="0" rIns="0" bIns="0" rtlCol="0" anchor="ctr"/>
          <a:lstStyle/>
          <a:p>
            <a:pPr indent="0" marL="0">
              <a:buNone/>
            </a:pPr>
            <a:r>
              <a:rPr lang="en-US" sz="1300" b="1" dirty="0">
                <a:solidFill>
                  <a:srgbClr val="0B1F3A"/>
                </a:solidFill>
                <a:latin typeface="Yu Gothic" pitchFamily="34" charset="0"/>
                <a:ea typeface="Yu Gothic" pitchFamily="34" charset="-122"/>
                <a:cs typeface="Yu Gothic" pitchFamily="34" charset="-120"/>
              </a:rPr>
              <a:t>例：日経225先物</a:t>
            </a:r>
            <a:endParaRPr lang="en-US" sz="1300" dirty="0"/>
          </a:p>
        </p:txBody>
      </p:sp>
      <p:sp>
        <p:nvSpPr>
          <p:cNvPr id="18" name="Text 16"/>
          <p:cNvSpPr/>
          <p:nvPr/>
        </p:nvSpPr>
        <p:spPr>
          <a:xfrm>
            <a:off x="749808" y="4434840"/>
            <a:ext cx="2240280" cy="713232"/>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20" dirty="0">
                <a:solidFill>
                  <a:srgbClr val="334155"/>
                </a:solidFill>
                <a:latin typeface="Yu Gothic" pitchFamily="34" charset="0"/>
                <a:ea typeface="Yu Gothic" pitchFamily="34" charset="-122"/>
                <a:cs typeface="Yu Gothic" pitchFamily="34" charset="-120"/>
              </a:rPr>
              <a:t>60日Return = +12.4%</a:t>
            </a:r>
            <a:endParaRPr lang="en-US" sz="920" dirty="0"/>
          </a:p>
          <a:p>
            <a:pPr algn="ctr" indent="0" marL="0">
              <a:buNone/>
            </a:pPr>
            <a:r>
              <a:rPr lang="en-US" sz="920" dirty="0">
                <a:solidFill>
                  <a:srgbClr val="334155"/>
                </a:solidFill>
                <a:latin typeface="Yu Gothic" pitchFamily="34" charset="0"/>
                <a:ea typeface="Yu Gothic" pitchFamily="34" charset="-122"/>
                <a:cs typeface="Yu Gothic" pitchFamily="34" charset="-120"/>
              </a:rPr>
              <a:t>数値だけでは説明しにくい</a:t>
            </a:r>
            <a:endParaRPr lang="en-US" sz="920" dirty="0"/>
          </a:p>
        </p:txBody>
      </p:sp>
      <p:sp>
        <p:nvSpPr>
          <p:cNvPr id="19" name="Text 17"/>
          <p:cNvSpPr/>
          <p:nvPr/>
        </p:nvSpPr>
        <p:spPr>
          <a:xfrm>
            <a:off x="3529584" y="4434840"/>
            <a:ext cx="2240280" cy="713232"/>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20" dirty="0">
                <a:solidFill>
                  <a:srgbClr val="334155"/>
                </a:solidFill>
                <a:latin typeface="Yu Gothic" pitchFamily="34" charset="0"/>
                <a:ea typeface="Yu Gothic" pitchFamily="34" charset="-122"/>
                <a:cs typeface="Yu Gothic" pitchFamily="34" charset="-120"/>
              </a:rPr>
              <a:t>60日Return Percentile = 0.91</a:t>
            </a:r>
            <a:endParaRPr lang="en-US" sz="920" dirty="0"/>
          </a:p>
          <a:p>
            <a:pPr algn="ctr" indent="0" marL="0">
              <a:buNone/>
            </a:pPr>
            <a:r>
              <a:rPr lang="en-US" sz="920" dirty="0">
                <a:solidFill>
                  <a:srgbClr val="334155"/>
                </a:solidFill>
                <a:latin typeface="Yu Gothic" pitchFamily="34" charset="0"/>
                <a:ea typeface="Yu Gothic" pitchFamily="34" charset="-122"/>
                <a:cs typeface="Yu Gothic" pitchFamily="34" charset="-120"/>
              </a:rPr>
              <a:t>過去3年分布の上位9%</a:t>
            </a:r>
            <a:endParaRPr lang="en-US" sz="920" dirty="0"/>
          </a:p>
        </p:txBody>
      </p:sp>
      <p:sp>
        <p:nvSpPr>
          <p:cNvPr id="20" name="Text 18"/>
          <p:cNvSpPr/>
          <p:nvPr/>
        </p:nvSpPr>
        <p:spPr>
          <a:xfrm>
            <a:off x="6309360" y="4434840"/>
            <a:ext cx="2240280" cy="713232"/>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20" dirty="0">
                <a:solidFill>
                  <a:srgbClr val="334155"/>
                </a:solidFill>
                <a:latin typeface="Yu Gothic" pitchFamily="34" charset="0"/>
                <a:ea typeface="Yu Gothic" pitchFamily="34" charset="-122"/>
                <a:cs typeface="Yu Gothic" pitchFamily="34" charset="-120"/>
              </a:rPr>
              <a:t>Strong Medium-Term Momentum</a:t>
            </a:r>
            <a:endParaRPr lang="en-US" sz="920" dirty="0"/>
          </a:p>
          <a:p>
            <a:pPr algn="ctr" indent="0" marL="0">
              <a:buNone/>
            </a:pPr>
            <a:r>
              <a:rPr lang="en-US" sz="920" dirty="0">
                <a:solidFill>
                  <a:srgbClr val="334155"/>
                </a:solidFill>
                <a:latin typeface="Yu Gothic" pitchFamily="34" charset="0"/>
                <a:ea typeface="Yu Gothic" pitchFamily="34" charset="-122"/>
                <a:cs typeface="Yu Gothic" pitchFamily="34" charset="-120"/>
              </a:rPr>
              <a:t>中期モメンタムが強い</a:t>
            </a:r>
            <a:endParaRPr lang="en-US" sz="920" dirty="0"/>
          </a:p>
        </p:txBody>
      </p:sp>
      <p:sp>
        <p:nvSpPr>
          <p:cNvPr id="21" name="Text 19"/>
          <p:cNvSpPr/>
          <p:nvPr/>
        </p:nvSpPr>
        <p:spPr>
          <a:xfrm>
            <a:off x="9089136" y="4434840"/>
            <a:ext cx="2240280" cy="713232"/>
          </a:xfrm>
          <a:prstGeom prst="rect">
            <a:avLst/>
          </a:prstGeom>
          <a:solidFill>
            <a:srgbClr val="0B1F3A"/>
          </a:solidFill>
          <a:ln w="12700">
            <a:solidFill>
              <a:srgbClr val="CBD5E1"/>
            </a:solidFill>
          </a:ln>
        </p:spPr>
        <p:txBody>
          <a:bodyPr wrap="square" lIns="1016" tIns="1016" rIns="1016" bIns="1016" rtlCol="0" anchor="ctr">
            <a:normAutofit/>
          </a:bodyPr>
          <a:lstStyle/>
          <a:p>
            <a:pPr algn="ctr" indent="0" marL="0">
              <a:buNone/>
            </a:pPr>
            <a:r>
              <a:rPr lang="en-US" sz="920" b="1" dirty="0">
                <a:solidFill>
                  <a:srgbClr val="FFFFFF"/>
                </a:solidFill>
                <a:latin typeface="Yu Gothic" pitchFamily="34" charset="0"/>
                <a:ea typeface="Yu Gothic" pitchFamily="34" charset="-122"/>
                <a:cs typeface="Yu Gothic" pitchFamily="34" charset="-120"/>
              </a:rPr>
              <a:t>Persistence = Bullish</a:t>
            </a:r>
            <a:endParaRPr lang="en-US" sz="920" dirty="0"/>
          </a:p>
          <a:p>
            <a:pPr algn="ctr" indent="0" marL="0">
              <a:buNone/>
            </a:pPr>
            <a:r>
              <a:rPr lang="en-US" sz="920" b="1" dirty="0">
                <a:solidFill>
                  <a:srgbClr val="FFFFFF"/>
                </a:solidFill>
                <a:latin typeface="Yu Gothic" pitchFamily="34" charset="0"/>
                <a:ea typeface="Yu Gothic" pitchFamily="34" charset="-122"/>
                <a:cs typeface="Yu Gothic" pitchFamily="34" charset="-120"/>
              </a:rPr>
              <a:t>価格持続性が強気</a:t>
            </a:r>
            <a:endParaRPr lang="en-US" sz="920" dirty="0"/>
          </a:p>
        </p:txBody>
      </p:sp>
      <p:sp>
        <p:nvSpPr>
          <p:cNvPr id="22" name="Text 20"/>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23" name="Text 21"/>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05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Step 4：Market Mechanismごとにモデル群を持つ</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「何でも一つのモデルに入れる」ではなく、投資仮説ごとに専門モデルを作る</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731520" y="1325880"/>
            <a:ext cx="3063240" cy="347472"/>
          </a:xfrm>
          <a:prstGeom prst="rect">
            <a:avLst/>
          </a:prstGeom>
          <a:solidFill>
            <a:srgbClr val="2563EB"/>
          </a:solidFill>
          <a:ln>
            <a:solidFill>
              <a:srgbClr val="2563EB">
                <a:alpha val="0"/>
              </a:srgbClr>
            </a:solidFill>
          </a:ln>
        </p:spPr>
        <p:txBody>
          <a:bodyPr wrap="square" lIns="1016" tIns="1016" rIns="1016" bIns="1016" rtlCol="0" anchor="ctr">
            <a:norm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Persistence</a:t>
            </a:r>
            <a:endParaRPr lang="en-US" sz="1200" dirty="0"/>
          </a:p>
        </p:txBody>
      </p:sp>
      <p:sp>
        <p:nvSpPr>
          <p:cNvPr id="6" name="Text 4"/>
          <p:cNvSpPr/>
          <p:nvPr/>
        </p:nvSpPr>
        <p:spPr>
          <a:xfrm>
            <a:off x="731520" y="1764792"/>
            <a:ext cx="3063240" cy="749808"/>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00" dirty="0">
                <a:solidFill>
                  <a:srgbClr val="334155"/>
                </a:solidFill>
                <a:latin typeface="Yu Gothic" pitchFamily="34" charset="0"/>
                <a:ea typeface="Yu Gothic" pitchFamily="34" charset="-122"/>
                <a:cs typeface="Yu Gothic" pitchFamily="34" charset="-120"/>
              </a:rPr>
              <a:t>モメンタム・トレンド持続</a:t>
            </a:r>
            <a:endParaRPr lang="en-US" sz="900" dirty="0"/>
          </a:p>
          <a:p>
            <a:pPr algn="ctr" indent="0" marL="0">
              <a:buNone/>
            </a:pPr>
            <a:r>
              <a:rPr lang="en-US" sz="900" dirty="0">
                <a:solidFill>
                  <a:srgbClr val="334155"/>
                </a:solidFill>
                <a:latin typeface="Yu Gothic" pitchFamily="34" charset="0"/>
                <a:ea typeface="Yu Gothic" pitchFamily="34" charset="-122"/>
                <a:cs typeface="Yu Gothic" pitchFamily="34" charset="-120"/>
              </a:rPr>
              <a:t>Rule / Ridge / LightGBM / RF / Transformer</a:t>
            </a:r>
            <a:endParaRPr lang="en-US" sz="900" dirty="0"/>
          </a:p>
        </p:txBody>
      </p:sp>
      <p:sp>
        <p:nvSpPr>
          <p:cNvPr id="7" name="Text 5"/>
          <p:cNvSpPr/>
          <p:nvPr/>
        </p:nvSpPr>
        <p:spPr>
          <a:xfrm>
            <a:off x="4526280" y="1325880"/>
            <a:ext cx="3063240" cy="347472"/>
          </a:xfrm>
          <a:prstGeom prst="rect">
            <a:avLst/>
          </a:prstGeom>
          <a:solidFill>
            <a:srgbClr val="F59E0B"/>
          </a:solidFill>
          <a:ln>
            <a:solidFill>
              <a:srgbClr val="F59E0B">
                <a:alpha val="0"/>
              </a:srgbClr>
            </a:solidFill>
          </a:ln>
        </p:spPr>
        <p:txBody>
          <a:bodyPr wrap="square" lIns="1016" tIns="1016" rIns="1016" bIns="1016" rtlCol="0" anchor="ctr">
            <a:norm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Correction</a:t>
            </a:r>
            <a:endParaRPr lang="en-US" sz="1200" dirty="0"/>
          </a:p>
        </p:txBody>
      </p:sp>
      <p:sp>
        <p:nvSpPr>
          <p:cNvPr id="8" name="Text 6"/>
          <p:cNvSpPr/>
          <p:nvPr/>
        </p:nvSpPr>
        <p:spPr>
          <a:xfrm>
            <a:off x="4526280" y="1764792"/>
            <a:ext cx="3063240" cy="749808"/>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00" dirty="0">
                <a:solidFill>
                  <a:srgbClr val="334155"/>
                </a:solidFill>
                <a:latin typeface="Yu Gothic" pitchFamily="34" charset="0"/>
                <a:ea typeface="Yu Gothic" pitchFamily="34" charset="-122"/>
                <a:cs typeface="Yu Gothic" pitchFamily="34" charset="-120"/>
              </a:rPr>
              <a:t>短期過熱・反転</a:t>
            </a:r>
            <a:endParaRPr lang="en-US" sz="900" dirty="0"/>
          </a:p>
          <a:p>
            <a:pPr algn="ctr" indent="0" marL="0">
              <a:buNone/>
            </a:pPr>
            <a:r>
              <a:rPr lang="en-US" sz="900" dirty="0">
                <a:solidFill>
                  <a:srgbClr val="334155"/>
                </a:solidFill>
                <a:latin typeface="Yu Gothic" pitchFamily="34" charset="0"/>
                <a:ea typeface="Yu Gothic" pitchFamily="34" charset="-122"/>
                <a:cs typeface="Yu Gothic" pitchFamily="34" charset="-120"/>
              </a:rPr>
              <a:t>Rule / Ridge / LightGBM / RF / Transformer</a:t>
            </a:r>
            <a:endParaRPr lang="en-US" sz="900" dirty="0"/>
          </a:p>
        </p:txBody>
      </p:sp>
      <p:sp>
        <p:nvSpPr>
          <p:cNvPr id="9" name="Text 7"/>
          <p:cNvSpPr/>
          <p:nvPr/>
        </p:nvSpPr>
        <p:spPr>
          <a:xfrm>
            <a:off x="8321040" y="1325880"/>
            <a:ext cx="3063240" cy="347472"/>
          </a:xfrm>
          <a:prstGeom prst="rect">
            <a:avLst/>
          </a:prstGeom>
          <a:solidFill>
            <a:srgbClr val="EF4444"/>
          </a:solidFill>
          <a:ln>
            <a:solidFill>
              <a:srgbClr val="EF4444">
                <a:alpha val="0"/>
              </a:srgbClr>
            </a:solidFill>
          </a:ln>
        </p:spPr>
        <p:txBody>
          <a:bodyPr wrap="square" lIns="1016" tIns="1016" rIns="1016" bIns="1016" rtlCol="0" anchor="ctr">
            <a:norm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Volatility</a:t>
            </a:r>
            <a:endParaRPr lang="en-US" sz="1200" dirty="0"/>
          </a:p>
        </p:txBody>
      </p:sp>
      <p:sp>
        <p:nvSpPr>
          <p:cNvPr id="10" name="Text 8"/>
          <p:cNvSpPr/>
          <p:nvPr/>
        </p:nvSpPr>
        <p:spPr>
          <a:xfrm>
            <a:off x="8321040" y="1764792"/>
            <a:ext cx="3063240" cy="749808"/>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00" dirty="0">
                <a:solidFill>
                  <a:srgbClr val="334155"/>
                </a:solidFill>
                <a:latin typeface="Yu Gothic" pitchFamily="34" charset="0"/>
                <a:ea typeface="Yu Gothic" pitchFamily="34" charset="-122"/>
                <a:cs typeface="Yu Gothic" pitchFamily="34" charset="-120"/>
              </a:rPr>
              <a:t>リスク環境・サイズ調整</a:t>
            </a:r>
            <a:endParaRPr lang="en-US" sz="900" dirty="0"/>
          </a:p>
          <a:p>
            <a:pPr algn="ctr" indent="0" marL="0">
              <a:buNone/>
            </a:pPr>
            <a:r>
              <a:rPr lang="en-US" sz="900" dirty="0">
                <a:solidFill>
                  <a:srgbClr val="334155"/>
                </a:solidFill>
                <a:latin typeface="Yu Gothic" pitchFamily="34" charset="0"/>
                <a:ea typeface="Yu Gothic" pitchFamily="34" charset="-122"/>
                <a:cs typeface="Yu Gothic" pitchFamily="34" charset="-120"/>
              </a:rPr>
              <a:t>Rule / Ridge / LightGBM / RF / Transformer</a:t>
            </a:r>
            <a:endParaRPr lang="en-US" sz="900" dirty="0"/>
          </a:p>
        </p:txBody>
      </p:sp>
      <p:sp>
        <p:nvSpPr>
          <p:cNvPr id="11" name="Text 9"/>
          <p:cNvSpPr/>
          <p:nvPr/>
        </p:nvSpPr>
        <p:spPr>
          <a:xfrm>
            <a:off x="731520" y="3017520"/>
            <a:ext cx="3063240" cy="347472"/>
          </a:xfrm>
          <a:prstGeom prst="rect">
            <a:avLst/>
          </a:prstGeom>
          <a:solidFill>
            <a:srgbClr val="10B981"/>
          </a:solidFill>
          <a:ln>
            <a:solidFill>
              <a:srgbClr val="10B981">
                <a:alpha val="0"/>
              </a:srgbClr>
            </a:solidFill>
          </a:ln>
        </p:spPr>
        <p:txBody>
          <a:bodyPr wrap="square" lIns="1016" tIns="1016" rIns="1016" bIns="1016" rtlCol="0" anchor="ctr">
            <a:norm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Flow</a:t>
            </a:r>
            <a:endParaRPr lang="en-US" sz="1200" dirty="0"/>
          </a:p>
        </p:txBody>
      </p:sp>
      <p:sp>
        <p:nvSpPr>
          <p:cNvPr id="12" name="Text 10"/>
          <p:cNvSpPr/>
          <p:nvPr/>
        </p:nvSpPr>
        <p:spPr>
          <a:xfrm>
            <a:off x="731520" y="3456432"/>
            <a:ext cx="3063240" cy="749808"/>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00" dirty="0">
                <a:solidFill>
                  <a:srgbClr val="334155"/>
                </a:solidFill>
                <a:latin typeface="Yu Gothic" pitchFamily="34" charset="0"/>
                <a:ea typeface="Yu Gothic" pitchFamily="34" charset="-122"/>
                <a:cs typeface="Yu Gothic" pitchFamily="34" charset="-120"/>
              </a:rPr>
              <a:t>出来高・建玉・需給確認</a:t>
            </a:r>
            <a:endParaRPr lang="en-US" sz="900" dirty="0"/>
          </a:p>
          <a:p>
            <a:pPr algn="ctr" indent="0" marL="0">
              <a:buNone/>
            </a:pPr>
            <a:r>
              <a:rPr lang="en-US" sz="900" dirty="0">
                <a:solidFill>
                  <a:srgbClr val="334155"/>
                </a:solidFill>
                <a:latin typeface="Yu Gothic" pitchFamily="34" charset="0"/>
                <a:ea typeface="Yu Gothic" pitchFamily="34" charset="-122"/>
                <a:cs typeface="Yu Gothic" pitchFamily="34" charset="-120"/>
              </a:rPr>
              <a:t>Rule / Ridge / LightGBM / RF / Transformer</a:t>
            </a:r>
            <a:endParaRPr lang="en-US" sz="900" dirty="0"/>
          </a:p>
        </p:txBody>
      </p:sp>
      <p:sp>
        <p:nvSpPr>
          <p:cNvPr id="13" name="Text 11"/>
          <p:cNvSpPr/>
          <p:nvPr/>
        </p:nvSpPr>
        <p:spPr>
          <a:xfrm>
            <a:off x="4526280" y="3017520"/>
            <a:ext cx="3063240" cy="347472"/>
          </a:xfrm>
          <a:prstGeom prst="rect">
            <a:avLst/>
          </a:prstGeom>
          <a:solidFill>
            <a:srgbClr val="7C3AED"/>
          </a:solidFill>
          <a:ln>
            <a:solidFill>
              <a:srgbClr val="7C3AED">
                <a:alpha val="0"/>
              </a:srgbClr>
            </a:solidFill>
          </a:ln>
        </p:spPr>
        <p:txBody>
          <a:bodyPr wrap="square" lIns="1016" tIns="1016" rIns="1016" bIns="1016" rtlCol="0" anchor="ctr">
            <a:norm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Relative Strength</a:t>
            </a:r>
            <a:endParaRPr lang="en-US" sz="1200" dirty="0"/>
          </a:p>
        </p:txBody>
      </p:sp>
      <p:sp>
        <p:nvSpPr>
          <p:cNvPr id="14" name="Text 12"/>
          <p:cNvSpPr/>
          <p:nvPr/>
        </p:nvSpPr>
        <p:spPr>
          <a:xfrm>
            <a:off x="4526280" y="3456432"/>
            <a:ext cx="3063240" cy="749808"/>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00" dirty="0">
                <a:solidFill>
                  <a:srgbClr val="334155"/>
                </a:solidFill>
                <a:latin typeface="Yu Gothic" pitchFamily="34" charset="0"/>
                <a:ea typeface="Yu Gothic" pitchFamily="34" charset="-122"/>
                <a:cs typeface="Yu Gothic" pitchFamily="34" charset="-120"/>
              </a:rPr>
              <a:t>12市場内の優位性</a:t>
            </a:r>
            <a:endParaRPr lang="en-US" sz="900" dirty="0"/>
          </a:p>
          <a:p>
            <a:pPr algn="ctr" indent="0" marL="0">
              <a:buNone/>
            </a:pPr>
            <a:r>
              <a:rPr lang="en-US" sz="900" dirty="0">
                <a:solidFill>
                  <a:srgbClr val="334155"/>
                </a:solidFill>
                <a:latin typeface="Yu Gothic" pitchFamily="34" charset="0"/>
                <a:ea typeface="Yu Gothic" pitchFamily="34" charset="-122"/>
                <a:cs typeface="Yu Gothic" pitchFamily="34" charset="-120"/>
              </a:rPr>
              <a:t>Rule / Ridge / LightGBM / RF / Transformer</a:t>
            </a:r>
            <a:endParaRPr lang="en-US" sz="900" dirty="0"/>
          </a:p>
        </p:txBody>
      </p:sp>
      <p:sp>
        <p:nvSpPr>
          <p:cNvPr id="15" name="Text 13"/>
          <p:cNvSpPr/>
          <p:nvPr/>
        </p:nvSpPr>
        <p:spPr>
          <a:xfrm>
            <a:off x="8321040" y="3017520"/>
            <a:ext cx="3063240" cy="347472"/>
          </a:xfrm>
          <a:prstGeom prst="rect">
            <a:avLst/>
          </a:prstGeom>
          <a:solidFill>
            <a:srgbClr val="06B6D4"/>
          </a:solidFill>
          <a:ln>
            <a:solidFill>
              <a:srgbClr val="06B6D4">
                <a:alpha val="0"/>
              </a:srgbClr>
            </a:solidFill>
          </a:ln>
        </p:spPr>
        <p:txBody>
          <a:bodyPr wrap="square" lIns="1016" tIns="1016" rIns="1016" bIns="1016" rtlCol="0" anchor="ctr">
            <a:norm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Intermarket</a:t>
            </a:r>
            <a:endParaRPr lang="en-US" sz="1200" dirty="0"/>
          </a:p>
        </p:txBody>
      </p:sp>
      <p:sp>
        <p:nvSpPr>
          <p:cNvPr id="16" name="Text 14"/>
          <p:cNvSpPr/>
          <p:nvPr/>
        </p:nvSpPr>
        <p:spPr>
          <a:xfrm>
            <a:off x="8321040" y="3456432"/>
            <a:ext cx="3063240" cy="749808"/>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00" dirty="0">
                <a:solidFill>
                  <a:srgbClr val="334155"/>
                </a:solidFill>
                <a:latin typeface="Yu Gothic" pitchFamily="34" charset="0"/>
                <a:ea typeface="Yu Gothic" pitchFamily="34" charset="-122"/>
                <a:cs typeface="Yu Gothic" pitchFamily="34" charset="-120"/>
              </a:rPr>
              <a:t>米株・金利・FX・商品</a:t>
            </a:r>
            <a:endParaRPr lang="en-US" sz="900" dirty="0"/>
          </a:p>
          <a:p>
            <a:pPr algn="ctr" indent="0" marL="0">
              <a:buNone/>
            </a:pPr>
            <a:r>
              <a:rPr lang="en-US" sz="900" dirty="0">
                <a:solidFill>
                  <a:srgbClr val="334155"/>
                </a:solidFill>
                <a:latin typeface="Yu Gothic" pitchFamily="34" charset="0"/>
                <a:ea typeface="Yu Gothic" pitchFamily="34" charset="-122"/>
                <a:cs typeface="Yu Gothic" pitchFamily="34" charset="-120"/>
              </a:rPr>
              <a:t>Rule / Ridge / LightGBM / RF / Transformer</a:t>
            </a:r>
            <a:endParaRPr lang="en-US" sz="900" dirty="0"/>
          </a:p>
        </p:txBody>
      </p:sp>
      <p:sp>
        <p:nvSpPr>
          <p:cNvPr id="17" name="Text 15"/>
          <p:cNvSpPr/>
          <p:nvPr/>
        </p:nvSpPr>
        <p:spPr>
          <a:xfrm>
            <a:off x="960120" y="4873752"/>
            <a:ext cx="10149840" cy="1005840"/>
          </a:xfrm>
          <a:prstGeom prst="rect">
            <a:avLst/>
          </a:prstGeom>
          <a:solidFill>
            <a:srgbClr val="F8FAFC"/>
          </a:solidFill>
          <a:ln w="12700">
            <a:solidFill>
              <a:srgbClr val="CBD5E1"/>
            </a:solidFill>
          </a:ln>
        </p:spPr>
        <p:txBody>
          <a:bodyPr wrap="square" lIns="1524" tIns="1524" rIns="1524" bIns="1524" rtlCol="0" anchor="ctr">
            <a:normAutofit/>
          </a:bodyPr>
          <a:lstStyle/>
          <a:p>
            <a:pPr algn="l" indent="0" marL="0">
              <a:buNone/>
            </a:pPr>
            <a:r>
              <a:rPr lang="en-US" sz="1050" dirty="0">
                <a:solidFill>
                  <a:srgbClr val="0B1F3A"/>
                </a:solidFill>
                <a:latin typeface="Yu Gothic" pitchFamily="34" charset="0"/>
                <a:ea typeface="Yu Gothic" pitchFamily="34" charset="-122"/>
                <a:cs typeface="Yu Gothic" pitchFamily="34" charset="-120"/>
              </a:rPr>
              <a:t>この分解の狙い</a:t>
            </a:r>
            <a:endParaRPr lang="en-US" sz="1050" dirty="0"/>
          </a:p>
          <a:p>
            <a:pPr algn="l" indent="0" marL="0">
              <a:buNone/>
            </a:pPr>
            <a:endParaRPr lang="en-US" sz="1050" dirty="0"/>
          </a:p>
          <a:p>
            <a:pPr algn="l" indent="0" marL="0">
              <a:buNone/>
            </a:pPr>
            <a:r>
              <a:rPr lang="en-US" sz="1050" dirty="0">
                <a:solidFill>
                  <a:srgbClr val="0B1F3A"/>
                </a:solidFill>
                <a:latin typeface="Yu Gothic" pitchFamily="34" charset="0"/>
                <a:ea typeface="Yu Gothic" pitchFamily="34" charset="-122"/>
                <a:cs typeface="Yu Gothic" pitchFamily="34" charset="-120"/>
              </a:rPr>
              <a:t>• 予測力：各仮説に適したモデルを併用</a:t>
            </a:r>
            <a:endParaRPr lang="en-US" sz="1050" dirty="0"/>
          </a:p>
          <a:p>
            <a:pPr algn="l" indent="0" marL="0">
              <a:buNone/>
            </a:pPr>
            <a:r>
              <a:rPr lang="en-US" sz="1050" dirty="0">
                <a:solidFill>
                  <a:srgbClr val="0B1F3A"/>
                </a:solidFill>
                <a:latin typeface="Yu Gothic" pitchFamily="34" charset="0"/>
                <a:ea typeface="Yu Gothic" pitchFamily="34" charset="-122"/>
                <a:cs typeface="Yu Gothic" pitchFamily="34" charset="-120"/>
              </a:rPr>
              <a:t>• 説明力：最終判断をMechanism単位で説明</a:t>
            </a:r>
            <a:endParaRPr lang="en-US" sz="1050" dirty="0"/>
          </a:p>
          <a:p>
            <a:pPr algn="l" indent="0" marL="0">
              <a:buNone/>
            </a:pPr>
            <a:r>
              <a:rPr lang="en-US" sz="1050" dirty="0">
                <a:solidFill>
                  <a:srgbClr val="0B1F3A"/>
                </a:solidFill>
                <a:latin typeface="Yu Gothic" pitchFamily="34" charset="0"/>
                <a:ea typeface="Yu Gothic" pitchFamily="34" charset="-122"/>
                <a:cs typeface="Yu Gothic" pitchFamily="34" charset="-120"/>
              </a:rPr>
              <a:t>• 運用統制：不調なMechanismの発言力を抑制</a:t>
            </a:r>
            <a:endParaRPr lang="en-US" sz="1050" dirty="0"/>
          </a:p>
          <a:p>
            <a:pPr algn="l" indent="0" marL="0">
              <a:buNone/>
            </a:pPr>
            <a:r>
              <a:rPr lang="en-US" sz="1050" dirty="0">
                <a:solidFill>
                  <a:srgbClr val="0B1F3A"/>
                </a:solidFill>
                <a:latin typeface="Yu Gothic" pitchFamily="34" charset="0"/>
                <a:ea typeface="Yu Gothic" pitchFamily="34" charset="-122"/>
                <a:cs typeface="Yu Gothic" pitchFamily="34" charset="-120"/>
              </a:rPr>
              <a:t>• 拡張性：将来、新しいモデルを追加しやすい</a:t>
            </a:r>
            <a:endParaRPr lang="en-US" sz="1050" dirty="0"/>
          </a:p>
        </p:txBody>
      </p:sp>
      <p:sp>
        <p:nvSpPr>
          <p:cNvPr id="18" name="Text 16"/>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19" name="Text 17"/>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06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各Mechanism内のモデルプール</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Transformerは置き換えではなく、時系列構造を担当する追加Expert</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658368" y="1417320"/>
            <a:ext cx="1874520" cy="411480"/>
          </a:xfrm>
          <a:prstGeom prst="rect">
            <a:avLst/>
          </a:prstGeom>
          <a:solidFill>
            <a:srgbClr val="334155"/>
          </a:solidFill>
          <a:ln>
            <a:solidFill>
              <a:srgbClr val="334155">
                <a:alpha val="0"/>
              </a:srgbClr>
            </a:solidFill>
          </a:ln>
        </p:spPr>
        <p:txBody>
          <a:bodyPr wrap="square" lIns="1016" tIns="1016" rIns="1016" bIns="1016" rtlCol="0" anchor="ctr">
            <a:normAutofit/>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Rule-based</a:t>
            </a:r>
            <a:endParaRPr lang="en-US" sz="1000" dirty="0"/>
          </a:p>
        </p:txBody>
      </p:sp>
      <p:sp>
        <p:nvSpPr>
          <p:cNvPr id="6" name="Text 4"/>
          <p:cNvSpPr/>
          <p:nvPr/>
        </p:nvSpPr>
        <p:spPr>
          <a:xfrm>
            <a:off x="658368" y="1901952"/>
            <a:ext cx="1874520" cy="1143000"/>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830" dirty="0">
                <a:solidFill>
                  <a:srgbClr val="334155"/>
                </a:solidFill>
                <a:latin typeface="Yu Gothic" pitchFamily="34" charset="0"/>
                <a:ea typeface="Yu Gothic" pitchFamily="34" charset="-122"/>
                <a:cs typeface="Yu Gothic" pitchFamily="34" charset="-120"/>
              </a:rPr>
              <a:t>経済的仮説をそのまま反映</a:t>
            </a:r>
            <a:endParaRPr lang="en-US" sz="830" dirty="0"/>
          </a:p>
          <a:p>
            <a:pPr algn="ctr" indent="0" marL="0">
              <a:buNone/>
            </a:pPr>
            <a:r>
              <a:rPr lang="en-US" sz="830" dirty="0">
                <a:solidFill>
                  <a:srgbClr val="334155"/>
                </a:solidFill>
                <a:latin typeface="Yu Gothic" pitchFamily="34" charset="0"/>
                <a:ea typeface="Yu Gothic" pitchFamily="34" charset="-122"/>
                <a:cs typeface="Yu Gothic" pitchFamily="34" charset="-120"/>
              </a:rPr>
              <a:t>監査可能なベースライン</a:t>
            </a:r>
            <a:endParaRPr lang="en-US" sz="830" dirty="0"/>
          </a:p>
        </p:txBody>
      </p:sp>
      <p:sp>
        <p:nvSpPr>
          <p:cNvPr id="7" name="Text 5"/>
          <p:cNvSpPr/>
          <p:nvPr/>
        </p:nvSpPr>
        <p:spPr>
          <a:xfrm>
            <a:off x="2926080" y="1417320"/>
            <a:ext cx="1874520" cy="411480"/>
          </a:xfrm>
          <a:prstGeom prst="rect">
            <a:avLst/>
          </a:prstGeom>
          <a:solidFill>
            <a:srgbClr val="2563EB"/>
          </a:solidFill>
          <a:ln>
            <a:solidFill>
              <a:srgbClr val="2563EB">
                <a:alpha val="0"/>
              </a:srgbClr>
            </a:solidFill>
          </a:ln>
        </p:spPr>
        <p:txBody>
          <a:bodyPr wrap="square" lIns="1016" tIns="1016" rIns="1016" bIns="1016" rtlCol="0" anchor="ctr">
            <a:normAutofit/>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Ridge / Elastic Net</a:t>
            </a:r>
            <a:endParaRPr lang="en-US" sz="1000" dirty="0"/>
          </a:p>
        </p:txBody>
      </p:sp>
      <p:sp>
        <p:nvSpPr>
          <p:cNvPr id="8" name="Text 6"/>
          <p:cNvSpPr/>
          <p:nvPr/>
        </p:nvSpPr>
        <p:spPr>
          <a:xfrm>
            <a:off x="2926080" y="1901952"/>
            <a:ext cx="1874520" cy="1143000"/>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830" dirty="0">
                <a:solidFill>
                  <a:srgbClr val="334155"/>
                </a:solidFill>
                <a:latin typeface="Yu Gothic" pitchFamily="34" charset="0"/>
                <a:ea typeface="Yu Gothic" pitchFamily="34" charset="-122"/>
                <a:cs typeface="Yu Gothic" pitchFamily="34" charset="-120"/>
              </a:rPr>
              <a:t>線形・安定・過学習しにくい</a:t>
            </a:r>
            <a:endParaRPr lang="en-US" sz="830" dirty="0"/>
          </a:p>
          <a:p>
            <a:pPr algn="ctr" indent="0" marL="0">
              <a:buNone/>
            </a:pPr>
            <a:r>
              <a:rPr lang="en-US" sz="830" dirty="0">
                <a:solidFill>
                  <a:srgbClr val="334155"/>
                </a:solidFill>
                <a:latin typeface="Yu Gothic" pitchFamily="34" charset="0"/>
                <a:ea typeface="Yu Gothic" pitchFamily="34" charset="-122"/>
                <a:cs typeface="Yu Gothic" pitchFamily="34" charset="-120"/>
              </a:rPr>
              <a:t>小さいユニバースに強い</a:t>
            </a:r>
            <a:endParaRPr lang="en-US" sz="830" dirty="0"/>
          </a:p>
        </p:txBody>
      </p:sp>
      <p:sp>
        <p:nvSpPr>
          <p:cNvPr id="9" name="Text 7"/>
          <p:cNvSpPr/>
          <p:nvPr/>
        </p:nvSpPr>
        <p:spPr>
          <a:xfrm>
            <a:off x="5193792" y="1417320"/>
            <a:ext cx="1874520" cy="411480"/>
          </a:xfrm>
          <a:prstGeom prst="rect">
            <a:avLst/>
          </a:prstGeom>
          <a:solidFill>
            <a:srgbClr val="10B981"/>
          </a:solidFill>
          <a:ln>
            <a:solidFill>
              <a:srgbClr val="10B981">
                <a:alpha val="0"/>
              </a:srgbClr>
            </a:solidFill>
          </a:ln>
        </p:spPr>
        <p:txBody>
          <a:bodyPr wrap="square" lIns="1016" tIns="1016" rIns="1016" bIns="1016" rtlCol="0" anchor="ctr">
            <a:normAutofit/>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LightGBM</a:t>
            </a:r>
            <a:endParaRPr lang="en-US" sz="1000" dirty="0"/>
          </a:p>
        </p:txBody>
      </p:sp>
      <p:sp>
        <p:nvSpPr>
          <p:cNvPr id="10" name="Text 8"/>
          <p:cNvSpPr/>
          <p:nvPr/>
        </p:nvSpPr>
        <p:spPr>
          <a:xfrm>
            <a:off x="5193792" y="1901952"/>
            <a:ext cx="1874520" cy="1143000"/>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830" dirty="0">
                <a:solidFill>
                  <a:srgbClr val="334155"/>
                </a:solidFill>
                <a:latin typeface="Yu Gothic" pitchFamily="34" charset="0"/>
                <a:ea typeface="Yu Gothic" pitchFamily="34" charset="-122"/>
                <a:cs typeface="Yu Gothic" pitchFamily="34" charset="-120"/>
              </a:rPr>
              <a:t>非線形・交互作用を捉える</a:t>
            </a:r>
            <a:endParaRPr lang="en-US" sz="830" dirty="0"/>
          </a:p>
          <a:p>
            <a:pPr algn="ctr" indent="0" marL="0">
              <a:buNone/>
            </a:pPr>
            <a:r>
              <a:rPr lang="en-US" sz="830" dirty="0">
                <a:solidFill>
                  <a:srgbClr val="334155"/>
                </a:solidFill>
                <a:latin typeface="Yu Gothic" pitchFamily="34" charset="0"/>
                <a:ea typeface="Yu Gothic" pitchFamily="34" charset="-122"/>
                <a:cs typeface="Yu Gothic" pitchFamily="34" charset="-120"/>
              </a:rPr>
              <a:t>既存実装を活用</a:t>
            </a:r>
            <a:endParaRPr lang="en-US" sz="830" dirty="0"/>
          </a:p>
        </p:txBody>
      </p:sp>
      <p:sp>
        <p:nvSpPr>
          <p:cNvPr id="11" name="Text 9"/>
          <p:cNvSpPr/>
          <p:nvPr/>
        </p:nvSpPr>
        <p:spPr>
          <a:xfrm>
            <a:off x="7461504" y="1417320"/>
            <a:ext cx="1874520" cy="411480"/>
          </a:xfrm>
          <a:prstGeom prst="rect">
            <a:avLst/>
          </a:prstGeom>
          <a:solidFill>
            <a:srgbClr val="F59E0B"/>
          </a:solidFill>
          <a:ln>
            <a:solidFill>
              <a:srgbClr val="F59E0B">
                <a:alpha val="0"/>
              </a:srgbClr>
            </a:solidFill>
          </a:ln>
        </p:spPr>
        <p:txBody>
          <a:bodyPr wrap="square" lIns="1016" tIns="1016" rIns="1016" bIns="1016" rtlCol="0" anchor="ctr">
            <a:normAutofit/>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Random Forest</a:t>
            </a:r>
            <a:endParaRPr lang="en-US" sz="1000" dirty="0"/>
          </a:p>
        </p:txBody>
      </p:sp>
      <p:sp>
        <p:nvSpPr>
          <p:cNvPr id="12" name="Text 10"/>
          <p:cNvSpPr/>
          <p:nvPr/>
        </p:nvSpPr>
        <p:spPr>
          <a:xfrm>
            <a:off x="7461504" y="1901952"/>
            <a:ext cx="1874520" cy="1143000"/>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830" dirty="0">
                <a:solidFill>
                  <a:srgbClr val="334155"/>
                </a:solidFill>
                <a:latin typeface="Yu Gothic" pitchFamily="34" charset="0"/>
                <a:ea typeface="Yu Gothic" pitchFamily="34" charset="-122"/>
                <a:cs typeface="Yu Gothic" pitchFamily="34" charset="-120"/>
              </a:rPr>
              <a:t>木系の頑健性・分散低減</a:t>
            </a:r>
            <a:endParaRPr lang="en-US" sz="830" dirty="0"/>
          </a:p>
          <a:p>
            <a:pPr algn="ctr" indent="0" marL="0">
              <a:buNone/>
            </a:pPr>
            <a:r>
              <a:rPr lang="en-US" sz="830" dirty="0">
                <a:solidFill>
                  <a:srgbClr val="334155"/>
                </a:solidFill>
                <a:latin typeface="Yu Gothic" pitchFamily="34" charset="0"/>
                <a:ea typeface="Yu Gothic" pitchFamily="34" charset="-122"/>
                <a:cs typeface="Yu Gothic" pitchFamily="34" charset="-120"/>
              </a:rPr>
              <a:t>LGBMとの誤差分散を狙う</a:t>
            </a:r>
            <a:endParaRPr lang="en-US" sz="830" dirty="0"/>
          </a:p>
        </p:txBody>
      </p:sp>
      <p:sp>
        <p:nvSpPr>
          <p:cNvPr id="13" name="Text 11"/>
          <p:cNvSpPr/>
          <p:nvPr/>
        </p:nvSpPr>
        <p:spPr>
          <a:xfrm>
            <a:off x="9729216" y="1417320"/>
            <a:ext cx="1874520" cy="411480"/>
          </a:xfrm>
          <a:prstGeom prst="rect">
            <a:avLst/>
          </a:prstGeom>
          <a:solidFill>
            <a:srgbClr val="7C3AED"/>
          </a:solidFill>
          <a:ln>
            <a:solidFill>
              <a:srgbClr val="7C3AED">
                <a:alpha val="0"/>
              </a:srgbClr>
            </a:solidFill>
          </a:ln>
        </p:spPr>
        <p:txBody>
          <a:bodyPr wrap="square" lIns="1016" tIns="1016" rIns="1016" bIns="1016" rtlCol="0" anchor="ctr">
            <a:normAutofit/>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Transformer</a:t>
            </a:r>
            <a:endParaRPr lang="en-US" sz="1000" dirty="0"/>
          </a:p>
        </p:txBody>
      </p:sp>
      <p:sp>
        <p:nvSpPr>
          <p:cNvPr id="14" name="Text 12"/>
          <p:cNvSpPr/>
          <p:nvPr/>
        </p:nvSpPr>
        <p:spPr>
          <a:xfrm>
            <a:off x="9729216" y="1901952"/>
            <a:ext cx="1874520" cy="1143000"/>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830" dirty="0">
                <a:solidFill>
                  <a:srgbClr val="334155"/>
                </a:solidFill>
                <a:latin typeface="Yu Gothic" pitchFamily="34" charset="0"/>
                <a:ea typeface="Yu Gothic" pitchFamily="34" charset="-122"/>
                <a:cs typeface="Yu Gothic" pitchFamily="34" charset="-120"/>
              </a:rPr>
              <a:t>過去どの期間を見たかを診断</a:t>
            </a:r>
            <a:endParaRPr lang="en-US" sz="830" dirty="0"/>
          </a:p>
          <a:p>
            <a:pPr algn="ctr" indent="0" marL="0">
              <a:buNone/>
            </a:pPr>
            <a:r>
              <a:rPr lang="en-US" sz="830" dirty="0">
                <a:solidFill>
                  <a:srgbClr val="334155"/>
                </a:solidFill>
                <a:latin typeface="Yu Gothic" pitchFamily="34" charset="0"/>
                <a:ea typeface="Yu Gothic" pitchFamily="34" charset="-122"/>
                <a:cs typeface="Yu Gothic" pitchFamily="34" charset="-120"/>
              </a:rPr>
              <a:t>時間構造・長期依存を担当</a:t>
            </a:r>
            <a:endParaRPr lang="en-US" sz="830" dirty="0"/>
          </a:p>
        </p:txBody>
      </p:sp>
      <p:sp>
        <p:nvSpPr>
          <p:cNvPr id="15" name="Shape 13"/>
          <p:cNvSpPr/>
          <p:nvPr/>
        </p:nvSpPr>
        <p:spPr>
          <a:xfrm>
            <a:off x="6080760" y="3429000"/>
            <a:ext cx="0" cy="548640"/>
          </a:xfrm>
          <a:prstGeom prst="line">
            <a:avLst/>
          </a:prstGeom>
          <a:noFill/>
          <a:ln w="15240">
            <a:solidFill>
              <a:srgbClr val="64748B"/>
            </a:solidFill>
            <a:prstDash val="solid"/>
            <a:headEnd type="none"/>
            <a:tailEnd type="triangle"/>
          </a:ln>
        </p:spPr>
      </p:sp>
      <p:sp>
        <p:nvSpPr>
          <p:cNvPr id="16" name="Text 14"/>
          <p:cNvSpPr/>
          <p:nvPr/>
        </p:nvSpPr>
        <p:spPr>
          <a:xfrm>
            <a:off x="4160520" y="4069080"/>
            <a:ext cx="3840480" cy="685800"/>
          </a:xfrm>
          <a:prstGeom prst="rect">
            <a:avLst/>
          </a:prstGeom>
          <a:solidFill>
            <a:srgbClr val="0B1F3A"/>
          </a:solidFill>
          <a:ln>
            <a:solidFill>
              <a:srgbClr val="0B1F3A">
                <a:alpha val="0"/>
              </a:srgbClr>
            </a:solidFill>
          </a:ln>
        </p:spPr>
        <p:txBody>
          <a:bodyPr wrap="square" lIns="1016" tIns="1016" rIns="1016" bIns="1016" rtlCol="0" anchor="ctr">
            <a:norm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Mechanism Score</a:t>
            </a:r>
            <a:endParaRPr lang="en-US" sz="1400" dirty="0"/>
          </a:p>
          <a:p>
            <a:pPr algn="ctr" indent="0" marL="0">
              <a:buNone/>
            </a:pPr>
            <a:r>
              <a:rPr lang="en-US" sz="1400" b="1" dirty="0">
                <a:solidFill>
                  <a:srgbClr val="FFFFFF"/>
                </a:solidFill>
                <a:latin typeface="Yu Gothic" pitchFamily="34" charset="0"/>
                <a:ea typeface="Yu Gothic" pitchFamily="34" charset="-122"/>
                <a:cs typeface="Yu Gothic" pitchFamily="34" charset="-120"/>
              </a:rPr>
              <a:t>= 動的アンサンブルで統合</a:t>
            </a:r>
            <a:endParaRPr lang="en-US" sz="1400" dirty="0"/>
          </a:p>
        </p:txBody>
      </p:sp>
      <p:sp>
        <p:nvSpPr>
          <p:cNvPr id="17" name="Text 15"/>
          <p:cNvSpPr/>
          <p:nvPr/>
        </p:nvSpPr>
        <p:spPr>
          <a:xfrm>
            <a:off x="1828800" y="5257800"/>
            <a:ext cx="8503920" cy="475488"/>
          </a:xfrm>
          <a:prstGeom prst="rect">
            <a:avLst/>
          </a:prstGeom>
          <a:solidFill>
            <a:srgbClr val="FFF7ED"/>
          </a:solidFill>
          <a:ln w="12700">
            <a:solidFill>
              <a:srgbClr val="FED7AA"/>
            </a:solidFill>
          </a:ln>
        </p:spPr>
        <p:txBody>
          <a:bodyPr wrap="square" lIns="1016" tIns="1016" rIns="1016" bIns="1016" rtlCol="0" anchor="ctr">
            <a:normAutofit/>
          </a:bodyPr>
          <a:lstStyle/>
          <a:p>
            <a:pPr algn="ctr" indent="0" marL="0">
              <a:buNone/>
            </a:pPr>
            <a:r>
              <a:rPr lang="en-US" sz="1000" b="1" dirty="0">
                <a:solidFill>
                  <a:srgbClr val="334155"/>
                </a:solidFill>
                <a:latin typeface="Yu Gothic" pitchFamily="34" charset="0"/>
                <a:ea typeface="Yu Gothic" pitchFamily="34" charset="-122"/>
                <a:cs typeface="Yu Gothic" pitchFamily="34" charset="-120"/>
              </a:rPr>
              <a:t>重要：Transformerを「強いから採用」ではなく、OOSで有効なときだけ発言力を上げる。</a:t>
            </a:r>
            <a:endParaRPr lang="en-US" sz="1000" dirty="0"/>
          </a:p>
        </p:txBody>
      </p:sp>
      <p:sp>
        <p:nvSpPr>
          <p:cNvPr id="18" name="Text 16"/>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19" name="Text 17"/>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07</a:t>
            </a:r>
            <a:endParaRPr lang="en-US" sz="750" dirty="0"/>
          </a:p>
        </p:txBody>
      </p:sp>
      <p:sp>
        <p:nvSpPr>
          <p:cNvPr id="20" name="Text 18"/>
          <p:cNvSpPr/>
          <p:nvPr/>
        </p:nvSpPr>
        <p:spPr>
          <a:xfrm>
            <a:off x="411480" y="6281928"/>
            <a:ext cx="10972800" cy="182880"/>
          </a:xfrm>
          <a:prstGeom prst="rect">
            <a:avLst/>
          </a:prstGeom>
          <a:noFill/>
          <a:ln/>
        </p:spPr>
        <p:txBody>
          <a:bodyPr wrap="square" lIns="0" tIns="0" rIns="0" bIns="0" rtlCol="0" anchor="ctr">
            <a:normAutofit/>
          </a:bodyPr>
          <a:lstStyle/>
          <a:p>
            <a:pPr indent="0" marL="0">
              <a:buNone/>
            </a:pPr>
            <a:r>
              <a:rPr lang="en-US" sz="500" dirty="0">
                <a:solidFill>
                  <a:srgbClr val="94A3B8"/>
                </a:solidFill>
                <a:latin typeface="Yu Gothic" pitchFamily="34" charset="0"/>
                <a:ea typeface="Yu Gothic" pitchFamily="34" charset="-122"/>
                <a:cs typeface="Yu Gothic" pitchFamily="34" charset="-120"/>
              </a:rPr>
              <a:t>Refs: Gu/Kelly/Xiu [10], forecast combination [1][2], TFT [4], PatchTST [5]</a:t>
            </a:r>
            <a:endParaRPr lang="en-US" sz="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Step 5：OOS成績に応じてモデルの発言力を調整する</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「直近外しているモデル寄与を落とす」を、過学習しにくい形で実装する</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1005840" y="1234440"/>
            <a:ext cx="10149840" cy="594360"/>
          </a:xfrm>
          <a:prstGeom prst="rect">
            <a:avLst/>
          </a:prstGeom>
          <a:solidFill>
            <a:srgbClr val="0B1F3A"/>
          </a:solidFill>
          <a:ln>
            <a:solidFill>
              <a:srgbClr val="0B1F3A">
                <a:alpha val="0"/>
              </a:srgbClr>
            </a:solidFill>
          </a:ln>
        </p:spPr>
        <p:txBody>
          <a:bodyPr wrap="square" lIns="1016" tIns="1016" rIns="1016" bIns="1016" rtlCol="0" anchor="ctr">
            <a:normAutofit/>
          </a:bodyPr>
          <a:lstStyle/>
          <a:p>
            <a:pPr algn="ctr" indent="0" marL="0">
              <a:buNone/>
            </a:pPr>
            <a:r>
              <a:rPr lang="en-US" sz="1800" b="1" dirty="0">
                <a:solidFill>
                  <a:srgbClr val="FFFFFF"/>
                </a:solidFill>
                <a:latin typeface="Yu Gothic" pitchFamily="34" charset="0"/>
                <a:ea typeface="Yu Gothic" pitchFamily="34" charset="-122"/>
                <a:cs typeface="Yu Gothic" pitchFamily="34" charset="-120"/>
              </a:rPr>
              <a:t>wₘ,t = (1−ρ) × Priorₘ  +  ρ × Softmax(Qₘ,t)</a:t>
            </a:r>
            <a:endParaRPr lang="en-US" sz="1800" dirty="0"/>
          </a:p>
        </p:txBody>
      </p:sp>
      <p:sp>
        <p:nvSpPr>
          <p:cNvPr id="6" name="Text 4"/>
          <p:cNvSpPr/>
          <p:nvPr/>
        </p:nvSpPr>
        <p:spPr>
          <a:xfrm>
            <a:off x="822960" y="2331720"/>
            <a:ext cx="2331720" cy="960120"/>
          </a:xfrm>
          <a:prstGeom prst="rect">
            <a:avLst/>
          </a:prstGeom>
          <a:solidFill>
            <a:srgbClr val="DBEAFE"/>
          </a:solidFill>
          <a:ln w="12700">
            <a:solidFill>
              <a:srgbClr val="2563EB"/>
            </a:solidFill>
          </a:ln>
        </p:spPr>
        <p:txBody>
          <a:bodyPr wrap="square" lIns="1016" tIns="1016" rIns="1016" bIns="1016" rtlCol="0" anchor="ctr">
            <a:normAutofit/>
          </a:bodyPr>
          <a:lstStyle/>
          <a:p>
            <a:pPr algn="ctr" indent="0" marL="0">
              <a:buNone/>
            </a:pPr>
            <a:r>
              <a:rPr lang="en-US" sz="1000" b="1" dirty="0">
                <a:solidFill>
                  <a:srgbClr val="2563EB"/>
                </a:solidFill>
                <a:latin typeface="Yu Gothic" pitchFamily="34" charset="0"/>
                <a:ea typeface="Yu Gothic" pitchFamily="34" charset="-122"/>
                <a:cs typeface="Yu Gothic" pitchFamily="34" charset="-120"/>
              </a:rPr>
              <a:t>Priorₘ</a:t>
            </a:r>
            <a:endParaRPr lang="en-US" sz="1000" dirty="0"/>
          </a:p>
          <a:p>
            <a:pPr algn="ctr" indent="0" marL="0">
              <a:buNone/>
            </a:pPr>
            <a:r>
              <a:rPr lang="en-US" sz="1000" b="1" dirty="0">
                <a:solidFill>
                  <a:srgbClr val="2563EB"/>
                </a:solidFill>
                <a:latin typeface="Yu Gothic" pitchFamily="34" charset="0"/>
                <a:ea typeface="Yu Gothic" pitchFamily="34" charset="-122"/>
                <a:cs typeface="Yu Gothic" pitchFamily="34" charset="-120"/>
              </a:rPr>
              <a:t>Equal Weightまたは経済的Prior</a:t>
            </a:r>
            <a:endParaRPr lang="en-US" sz="1000" dirty="0"/>
          </a:p>
          <a:p>
            <a:pPr algn="ctr" indent="0" marL="0">
              <a:buNone/>
            </a:pPr>
            <a:r>
              <a:rPr lang="en-US" sz="1000" b="1" dirty="0">
                <a:solidFill>
                  <a:srgbClr val="2563EB"/>
                </a:solidFill>
                <a:latin typeface="Yu Gothic" pitchFamily="34" charset="0"/>
                <a:ea typeface="Yu Gothic" pitchFamily="34" charset="-122"/>
                <a:cs typeface="Yu Gothic" pitchFamily="34" charset="-120"/>
              </a:rPr>
              <a:t>過度な追随を防ぐ</a:t>
            </a:r>
            <a:endParaRPr lang="en-US" sz="1000" dirty="0"/>
          </a:p>
        </p:txBody>
      </p:sp>
      <p:sp>
        <p:nvSpPr>
          <p:cNvPr id="7" name="Text 5"/>
          <p:cNvSpPr/>
          <p:nvPr/>
        </p:nvSpPr>
        <p:spPr>
          <a:xfrm>
            <a:off x="3657600" y="2331720"/>
            <a:ext cx="2331720" cy="960120"/>
          </a:xfrm>
          <a:prstGeom prst="rect">
            <a:avLst/>
          </a:prstGeom>
          <a:solidFill>
            <a:srgbClr val="D1FAE5"/>
          </a:solidFill>
          <a:ln w="12700">
            <a:solidFill>
              <a:srgbClr val="10B981"/>
            </a:solidFill>
          </a:ln>
        </p:spPr>
        <p:txBody>
          <a:bodyPr wrap="square" lIns="1016" tIns="1016" rIns="1016" bIns="1016" rtlCol="0" anchor="ctr">
            <a:normAutofit/>
          </a:bodyPr>
          <a:lstStyle/>
          <a:p>
            <a:pPr algn="ctr" indent="0" marL="0">
              <a:buNone/>
            </a:pPr>
            <a:r>
              <a:rPr lang="en-US" sz="1000" b="1" dirty="0">
                <a:solidFill>
                  <a:srgbClr val="10B981"/>
                </a:solidFill>
                <a:latin typeface="Yu Gothic" pitchFamily="34" charset="0"/>
                <a:ea typeface="Yu Gothic" pitchFamily="34" charset="-122"/>
                <a:cs typeface="Yu Gothic" pitchFamily="34" charset="-120"/>
              </a:rPr>
              <a:t>Qₘ,t</a:t>
            </a:r>
            <a:endParaRPr lang="en-US" sz="1000" dirty="0"/>
          </a:p>
          <a:p>
            <a:pPr algn="ctr" indent="0" marL="0">
              <a:buNone/>
            </a:pPr>
            <a:r>
              <a:rPr lang="en-US" sz="1000" b="1" dirty="0">
                <a:solidFill>
                  <a:srgbClr val="10B981"/>
                </a:solidFill>
                <a:latin typeface="Yu Gothic" pitchFamily="34" charset="0"/>
                <a:ea typeface="Yu Gothic" pitchFamily="34" charset="-122"/>
                <a:cs typeface="Yu Gothic" pitchFamily="34" charset="-120"/>
              </a:rPr>
              <a:t>OOS Rank IC / ICIR / Hit Ratio</a:t>
            </a:r>
            <a:endParaRPr lang="en-US" sz="1000" dirty="0"/>
          </a:p>
          <a:p>
            <a:pPr algn="ctr" indent="0" marL="0">
              <a:buNone/>
            </a:pPr>
            <a:r>
              <a:rPr lang="en-US" sz="1000" b="1" dirty="0">
                <a:solidFill>
                  <a:srgbClr val="10B981"/>
                </a:solidFill>
                <a:latin typeface="Yu Gothic" pitchFamily="34" charset="0"/>
                <a:ea typeface="Yu Gothic" pitchFamily="34" charset="-122"/>
                <a:cs typeface="Yu Gothic" pitchFamily="34" charset="-120"/>
              </a:rPr>
              <a:t>モデル信頼度を測る</a:t>
            </a:r>
            <a:endParaRPr lang="en-US" sz="1000" dirty="0"/>
          </a:p>
        </p:txBody>
      </p:sp>
      <p:sp>
        <p:nvSpPr>
          <p:cNvPr id="8" name="Text 6"/>
          <p:cNvSpPr/>
          <p:nvPr/>
        </p:nvSpPr>
        <p:spPr>
          <a:xfrm>
            <a:off x="6492240" y="2331720"/>
            <a:ext cx="2331720" cy="960120"/>
          </a:xfrm>
          <a:prstGeom prst="rect">
            <a:avLst/>
          </a:prstGeom>
          <a:solidFill>
            <a:srgbClr val="FEF3C7"/>
          </a:solidFill>
          <a:ln w="12700">
            <a:solidFill>
              <a:srgbClr val="F59E0B"/>
            </a:solidFill>
          </a:ln>
        </p:spPr>
        <p:txBody>
          <a:bodyPr wrap="square" lIns="1016" tIns="1016" rIns="1016" bIns="1016" rtlCol="0" anchor="ctr">
            <a:normAutofit/>
          </a:bodyPr>
          <a:lstStyle/>
          <a:p>
            <a:pPr algn="ctr" indent="0" marL="0">
              <a:buNone/>
            </a:pPr>
            <a:r>
              <a:rPr lang="en-US" sz="1000" b="1" dirty="0">
                <a:solidFill>
                  <a:srgbClr val="F59E0B"/>
                </a:solidFill>
                <a:latin typeface="Yu Gothic" pitchFamily="34" charset="0"/>
                <a:ea typeface="Yu Gothic" pitchFamily="34" charset="-122"/>
                <a:cs typeface="Yu Gothic" pitchFamily="34" charset="-120"/>
              </a:rPr>
              <a:t>ρ</a:t>
            </a:r>
            <a:endParaRPr lang="en-US" sz="1000" dirty="0"/>
          </a:p>
          <a:p>
            <a:pPr algn="ctr" indent="0" marL="0">
              <a:buNone/>
            </a:pPr>
            <a:r>
              <a:rPr lang="en-US" sz="1000" b="1" dirty="0">
                <a:solidFill>
                  <a:srgbClr val="F59E0B"/>
                </a:solidFill>
                <a:latin typeface="Yu Gothic" pitchFamily="34" charset="0"/>
                <a:ea typeface="Yu Gothic" pitchFamily="34" charset="-122"/>
                <a:cs typeface="Yu Gothic" pitchFamily="34" charset="-120"/>
              </a:rPr>
              <a:t>動的成績の反映度</a:t>
            </a:r>
            <a:endParaRPr lang="en-US" sz="1000" dirty="0"/>
          </a:p>
          <a:p>
            <a:pPr algn="ctr" indent="0" marL="0">
              <a:buNone/>
            </a:pPr>
            <a:r>
              <a:rPr lang="en-US" sz="1000" b="1" dirty="0">
                <a:solidFill>
                  <a:srgbClr val="F59E0B"/>
                </a:solidFill>
                <a:latin typeface="Yu Gothic" pitchFamily="34" charset="0"/>
                <a:ea typeface="Yu Gothic" pitchFamily="34" charset="-122"/>
                <a:cs typeface="Yu Gothic" pitchFamily="34" charset="-120"/>
              </a:rPr>
              <a:t>初期値は0.25〜0.40</a:t>
            </a:r>
            <a:endParaRPr lang="en-US" sz="1000" dirty="0"/>
          </a:p>
        </p:txBody>
      </p:sp>
      <p:sp>
        <p:nvSpPr>
          <p:cNvPr id="9" name="Text 7"/>
          <p:cNvSpPr/>
          <p:nvPr/>
        </p:nvSpPr>
        <p:spPr>
          <a:xfrm>
            <a:off x="9326880" y="2331720"/>
            <a:ext cx="2331720" cy="960120"/>
          </a:xfrm>
          <a:prstGeom prst="rect">
            <a:avLst/>
          </a:prstGeom>
          <a:solidFill>
            <a:srgbClr val="EDE9FE"/>
          </a:solidFill>
          <a:ln w="12700">
            <a:solidFill>
              <a:srgbClr val="7C3AED"/>
            </a:solidFill>
          </a:ln>
        </p:spPr>
        <p:txBody>
          <a:bodyPr wrap="square" lIns="1016" tIns="1016" rIns="1016" bIns="1016" rtlCol="0" anchor="ctr">
            <a:normAutofit/>
          </a:bodyPr>
          <a:lstStyle/>
          <a:p>
            <a:pPr algn="ctr" indent="0" marL="0">
              <a:buNone/>
            </a:pPr>
            <a:r>
              <a:rPr lang="en-US" sz="1000" b="1" dirty="0">
                <a:solidFill>
                  <a:srgbClr val="7C3AED"/>
                </a:solidFill>
                <a:latin typeface="Yu Gothic" pitchFamily="34" charset="0"/>
                <a:ea typeface="Yu Gothic" pitchFamily="34" charset="-122"/>
                <a:cs typeface="Yu Gothic" pitchFamily="34" charset="-120"/>
              </a:rPr>
              <a:t>制約</a:t>
            </a:r>
            <a:endParaRPr lang="en-US" sz="1000" dirty="0"/>
          </a:p>
          <a:p>
            <a:pPr algn="ctr" indent="0" marL="0">
              <a:buNone/>
            </a:pPr>
            <a:r>
              <a:rPr lang="en-US" sz="1000" b="1" dirty="0">
                <a:solidFill>
                  <a:srgbClr val="7C3AED"/>
                </a:solidFill>
                <a:latin typeface="Yu Gothic" pitchFamily="34" charset="0"/>
                <a:ea typeface="Yu Gothic" pitchFamily="34" charset="-122"/>
                <a:cs typeface="Yu Gothic" pitchFamily="34" charset="-120"/>
              </a:rPr>
              <a:t>上限・下限・月次更新</a:t>
            </a:r>
            <a:endParaRPr lang="en-US" sz="1000" dirty="0"/>
          </a:p>
          <a:p>
            <a:pPr algn="ctr" indent="0" marL="0">
              <a:buNone/>
            </a:pPr>
            <a:r>
              <a:rPr lang="en-US" sz="1000" b="1" dirty="0">
                <a:solidFill>
                  <a:srgbClr val="7C3AED"/>
                </a:solidFill>
                <a:latin typeface="Yu Gothic" pitchFamily="34" charset="0"/>
                <a:ea typeface="Yu Gothic" pitchFamily="34" charset="-122"/>
                <a:cs typeface="Yu Gothic" pitchFamily="34" charset="-120"/>
              </a:rPr>
              <a:t>急激なウェイト変化を防ぐ</a:t>
            </a:r>
            <a:endParaRPr lang="en-US" sz="1000" dirty="0"/>
          </a:p>
        </p:txBody>
      </p:sp>
      <p:sp>
        <p:nvSpPr>
          <p:cNvPr id="10" name="Text 8"/>
          <p:cNvSpPr/>
          <p:nvPr/>
        </p:nvSpPr>
        <p:spPr>
          <a:xfrm>
            <a:off x="868680" y="3822192"/>
            <a:ext cx="2377440" cy="228600"/>
          </a:xfrm>
          <a:prstGeom prst="rect">
            <a:avLst/>
          </a:prstGeom>
          <a:noFill/>
          <a:ln/>
        </p:spPr>
        <p:txBody>
          <a:bodyPr wrap="square" lIns="0" tIns="0" rIns="0" bIns="0" rtlCol="0" anchor="ctr"/>
          <a:lstStyle/>
          <a:p>
            <a:pPr indent="0" marL="0">
              <a:buNone/>
            </a:pPr>
            <a:r>
              <a:rPr lang="en-US" sz="1300" b="1" dirty="0">
                <a:solidFill>
                  <a:srgbClr val="0B1F3A"/>
                </a:solidFill>
                <a:latin typeface="Yu Gothic" pitchFamily="34" charset="0"/>
                <a:ea typeface="Yu Gothic" pitchFamily="34" charset="-122"/>
                <a:cs typeface="Yu Gothic" pitchFamily="34" charset="-120"/>
              </a:rPr>
              <a:t>モデル信頼度 Q の例</a:t>
            </a:r>
            <a:endParaRPr lang="en-US" sz="1300" dirty="0"/>
          </a:p>
        </p:txBody>
      </p:sp>
      <p:sp>
        <p:nvSpPr>
          <p:cNvPr id="11" name="Text 9"/>
          <p:cNvSpPr/>
          <p:nvPr/>
        </p:nvSpPr>
        <p:spPr>
          <a:xfrm>
            <a:off x="914400" y="4206240"/>
            <a:ext cx="10287000" cy="411480"/>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1200" b="1" dirty="0">
                <a:solidFill>
                  <a:srgbClr val="334155"/>
                </a:solidFill>
                <a:latin typeface="Yu Gothic" pitchFamily="34" charset="0"/>
                <a:ea typeface="Yu Gothic" pitchFamily="34" charset="-122"/>
                <a:cs typeface="Yu Gothic" pitchFamily="34" charset="-120"/>
              </a:rPr>
              <a:t>Q = 0.5×Rank IC + 0.3×ICIR + 0.2×Hit Ratio − Turnover Penalty</a:t>
            </a:r>
            <a:endParaRPr lang="en-US" sz="1200" dirty="0"/>
          </a:p>
        </p:txBody>
      </p:sp>
      <p:sp>
        <p:nvSpPr>
          <p:cNvPr id="12" name="Text 10"/>
          <p:cNvSpPr/>
          <p:nvPr/>
        </p:nvSpPr>
        <p:spPr>
          <a:xfrm>
            <a:off x="914400" y="4983480"/>
            <a:ext cx="10287000" cy="685800"/>
          </a:xfrm>
          <a:prstGeom prst="rect">
            <a:avLst/>
          </a:prstGeom>
          <a:solidFill>
            <a:srgbClr val="F8FAFC"/>
          </a:solidFill>
          <a:ln w="12700">
            <a:solidFill>
              <a:srgbClr val="CBD5E1"/>
            </a:solidFill>
          </a:ln>
        </p:spPr>
        <p:txBody>
          <a:bodyPr wrap="square" lIns="1270" tIns="1270" rIns="1270" bIns="1270" rtlCol="0" anchor="ctr">
            <a:normAutofit/>
          </a:bodyPr>
          <a:lstStyle/>
          <a:p>
            <a:pPr algn="l" indent="0" marL="0">
              <a:buNone/>
            </a:pPr>
            <a:r>
              <a:rPr lang="en-US" sz="1020" dirty="0">
                <a:solidFill>
                  <a:srgbClr val="334155"/>
                </a:solidFill>
                <a:latin typeface="Yu Gothic" pitchFamily="34" charset="0"/>
                <a:ea typeface="Yu Gothic" pitchFamily="34" charset="-122"/>
                <a:cs typeface="Yu Gothic" pitchFamily="34" charset="-120"/>
              </a:rPr>
              <a:t>運用上の意味：</a:t>
            </a:r>
            <a:endParaRPr lang="en-US" sz="1020" dirty="0"/>
          </a:p>
          <a:p>
            <a:pPr algn="l" indent="0" marL="0">
              <a:buNone/>
            </a:pPr>
            <a:r>
              <a:rPr lang="en-US" sz="1020" dirty="0">
                <a:solidFill>
                  <a:srgbClr val="334155"/>
                </a:solidFill>
                <a:latin typeface="Yu Gothic" pitchFamily="34" charset="0"/>
                <a:ea typeface="Yu Gothic" pitchFamily="34" charset="-122"/>
                <a:cs typeface="Yu Gothic" pitchFamily="34" charset="-120"/>
              </a:rPr>
              <a:t>直近OOSで当たっているモデルの発言力を上げる。ただし、短期ノイズを追いかけないようPriorへ縮小し、ウェイト上限・更新頻度・変更幅制約を置く。</a:t>
            </a:r>
            <a:endParaRPr lang="en-US" sz="1020" dirty="0"/>
          </a:p>
        </p:txBody>
      </p:sp>
      <p:sp>
        <p:nvSpPr>
          <p:cNvPr id="13" name="Text 11"/>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14" name="Text 12"/>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08</a:t>
            </a:r>
            <a:endParaRPr lang="en-US" sz="750" dirty="0"/>
          </a:p>
        </p:txBody>
      </p:sp>
      <p:sp>
        <p:nvSpPr>
          <p:cNvPr id="15" name="Text 13"/>
          <p:cNvSpPr/>
          <p:nvPr/>
        </p:nvSpPr>
        <p:spPr>
          <a:xfrm>
            <a:off x="411480" y="6281928"/>
            <a:ext cx="10972800" cy="182880"/>
          </a:xfrm>
          <a:prstGeom prst="rect">
            <a:avLst/>
          </a:prstGeom>
          <a:noFill/>
          <a:ln/>
        </p:spPr>
        <p:txBody>
          <a:bodyPr wrap="square" lIns="0" tIns="0" rIns="0" bIns="0" rtlCol="0" anchor="ctr">
            <a:normAutofit/>
          </a:bodyPr>
          <a:lstStyle/>
          <a:p>
            <a:pPr indent="0" marL="0">
              <a:buNone/>
            </a:pPr>
            <a:r>
              <a:rPr lang="en-US" sz="500" dirty="0">
                <a:solidFill>
                  <a:srgbClr val="94A3B8"/>
                </a:solidFill>
                <a:latin typeface="Yu Gothic" pitchFamily="34" charset="0"/>
                <a:ea typeface="Yu Gothic" pitchFamily="34" charset="-122"/>
                <a:cs typeface="Yu Gothic" pitchFamily="34" charset="-120"/>
              </a:rPr>
              <a:t>Refs: Bates &amp; Granger [1], online expert advice / exponential weights [2], dynamic IC weighting [9]</a:t>
            </a:r>
            <a:endParaRPr lang="en-US" sz="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Transformer Temporal Expert：時間構造を捉える専門家</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LightGBMが苦手な「シグナル形成の順番・どの期間を見たか」を補完する</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822960" y="1325880"/>
            <a:ext cx="3108960" cy="438912"/>
          </a:xfrm>
          <a:prstGeom prst="rect">
            <a:avLst/>
          </a:prstGeom>
          <a:solidFill>
            <a:srgbClr val="DBEAFE"/>
          </a:solidFill>
          <a:ln w="12700">
            <a:solidFill>
              <a:srgbClr val="CBD5E1"/>
            </a:solidFill>
          </a:ln>
        </p:spPr>
        <p:txBody>
          <a:bodyPr wrap="square" lIns="1016" tIns="1016" rIns="1016" bIns="1016" rtlCol="0" anchor="ctr">
            <a:normAutofit/>
          </a:bodyPr>
          <a:lstStyle/>
          <a:p>
            <a:pPr algn="ctr" indent="0" marL="0">
              <a:buNone/>
            </a:pPr>
            <a:r>
              <a:rPr lang="en-US" sz="1200" b="1" dirty="0">
                <a:solidFill>
                  <a:srgbClr val="2563EB"/>
                </a:solidFill>
                <a:latin typeface="Yu Gothic" pitchFamily="34" charset="0"/>
                <a:ea typeface="Yu Gothic" pitchFamily="34" charset="-122"/>
                <a:cs typeface="Yu Gothic" pitchFamily="34" charset="-120"/>
              </a:rPr>
              <a:t>入力：過去252営業日 × Signal群</a:t>
            </a:r>
            <a:endParaRPr lang="en-US" sz="1200" dirty="0"/>
          </a:p>
        </p:txBody>
      </p:sp>
      <p:sp>
        <p:nvSpPr>
          <p:cNvPr id="6" name="Shape 4"/>
          <p:cNvSpPr/>
          <p:nvPr/>
        </p:nvSpPr>
        <p:spPr>
          <a:xfrm>
            <a:off x="3977640" y="1536192"/>
            <a:ext cx="640080" cy="0"/>
          </a:xfrm>
          <a:prstGeom prst="line">
            <a:avLst/>
          </a:prstGeom>
          <a:noFill/>
          <a:ln w="17780">
            <a:solidFill>
              <a:srgbClr val="64748B"/>
            </a:solidFill>
            <a:prstDash val="solid"/>
            <a:headEnd type="none"/>
            <a:tailEnd type="triangle"/>
          </a:ln>
        </p:spPr>
      </p:sp>
      <p:sp>
        <p:nvSpPr>
          <p:cNvPr id="7" name="Text 5"/>
          <p:cNvSpPr/>
          <p:nvPr/>
        </p:nvSpPr>
        <p:spPr>
          <a:xfrm>
            <a:off x="4663440" y="1325880"/>
            <a:ext cx="2468880" cy="438912"/>
          </a:xfrm>
          <a:prstGeom prst="rect">
            <a:avLst/>
          </a:prstGeom>
          <a:solidFill>
            <a:srgbClr val="EDE9FE"/>
          </a:solidFill>
          <a:ln w="12700">
            <a:solidFill>
              <a:srgbClr val="CBD5E1"/>
            </a:solidFill>
          </a:ln>
        </p:spPr>
        <p:txBody>
          <a:bodyPr wrap="square" lIns="1016" tIns="1016" rIns="1016" bIns="1016" rtlCol="0" anchor="ctr">
            <a:normAutofit/>
          </a:bodyPr>
          <a:lstStyle/>
          <a:p>
            <a:pPr algn="ctr" indent="0" marL="0">
              <a:buNone/>
            </a:pPr>
            <a:r>
              <a:rPr lang="en-US" sz="1200" b="1" dirty="0">
                <a:solidFill>
                  <a:srgbClr val="7C3AED"/>
                </a:solidFill>
                <a:latin typeface="Yu Gothic" pitchFamily="34" charset="0"/>
                <a:ea typeface="Yu Gothic" pitchFamily="34" charset="-122"/>
                <a:cs typeface="Yu Gothic" pitchFamily="34" charset="-120"/>
              </a:rPr>
              <a:t>TFT / PatchTST</a:t>
            </a:r>
            <a:endParaRPr lang="en-US" sz="1200" dirty="0"/>
          </a:p>
        </p:txBody>
      </p:sp>
      <p:sp>
        <p:nvSpPr>
          <p:cNvPr id="8" name="Shape 6"/>
          <p:cNvSpPr/>
          <p:nvPr/>
        </p:nvSpPr>
        <p:spPr>
          <a:xfrm>
            <a:off x="7178040" y="1536192"/>
            <a:ext cx="640080" cy="0"/>
          </a:xfrm>
          <a:prstGeom prst="line">
            <a:avLst/>
          </a:prstGeom>
          <a:noFill/>
          <a:ln w="17780">
            <a:solidFill>
              <a:srgbClr val="64748B"/>
            </a:solidFill>
            <a:prstDash val="solid"/>
            <a:headEnd type="none"/>
            <a:tailEnd type="triangle"/>
          </a:ln>
        </p:spPr>
      </p:sp>
      <p:sp>
        <p:nvSpPr>
          <p:cNvPr id="9" name="Text 7"/>
          <p:cNvSpPr/>
          <p:nvPr/>
        </p:nvSpPr>
        <p:spPr>
          <a:xfrm>
            <a:off x="7863840" y="1325880"/>
            <a:ext cx="3200400" cy="438912"/>
          </a:xfrm>
          <a:prstGeom prst="rect">
            <a:avLst/>
          </a:prstGeom>
          <a:solidFill>
            <a:srgbClr val="D1FAE5"/>
          </a:solidFill>
          <a:ln w="12700">
            <a:solidFill>
              <a:srgbClr val="CBD5E1"/>
            </a:solidFill>
          </a:ln>
        </p:spPr>
        <p:txBody>
          <a:bodyPr wrap="square" lIns="1016" tIns="1016" rIns="1016" bIns="1016" rtlCol="0" anchor="ctr">
            <a:normAutofit/>
          </a:bodyPr>
          <a:lstStyle/>
          <a:p>
            <a:pPr algn="ctr" indent="0" marL="0">
              <a:buNone/>
            </a:pPr>
            <a:r>
              <a:rPr lang="en-US" sz="1200" b="1" dirty="0">
                <a:solidFill>
                  <a:srgbClr val="10B981"/>
                </a:solidFill>
                <a:latin typeface="Yu Gothic" pitchFamily="34" charset="0"/>
                <a:ea typeface="Yu Gothic" pitchFamily="34" charset="-122"/>
                <a:cs typeface="Yu Gothic" pitchFamily="34" charset="-120"/>
              </a:rPr>
              <a:t>20日先Rank / Score</a:t>
            </a:r>
            <a:endParaRPr lang="en-US" sz="1200" dirty="0"/>
          </a:p>
        </p:txBody>
      </p:sp>
      <p:sp>
        <p:nvSpPr>
          <p:cNvPr id="10" name="Text 8"/>
          <p:cNvSpPr/>
          <p:nvPr/>
        </p:nvSpPr>
        <p:spPr>
          <a:xfrm>
            <a:off x="713232" y="2743200"/>
            <a:ext cx="1874520" cy="822960"/>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40" dirty="0">
                <a:solidFill>
                  <a:srgbClr val="334155"/>
                </a:solidFill>
                <a:latin typeface="Yu Gothic" pitchFamily="34" charset="0"/>
                <a:ea typeface="Yu Gothic" pitchFamily="34" charset="-122"/>
                <a:cs typeface="Yu Gothic" pitchFamily="34" charset="-120"/>
              </a:rPr>
              <a:t>1–5日</a:t>
            </a:r>
            <a:endParaRPr lang="en-US" sz="940" dirty="0"/>
          </a:p>
          <a:p>
            <a:pPr algn="ctr" indent="0" marL="0">
              <a:buNone/>
            </a:pPr>
            <a:r>
              <a:rPr lang="en-US" sz="940" dirty="0">
                <a:solidFill>
                  <a:srgbClr val="334155"/>
                </a:solidFill>
                <a:latin typeface="Yu Gothic" pitchFamily="34" charset="0"/>
                <a:ea typeface="Yu Gothic" pitchFamily="34" charset="-122"/>
                <a:cs typeface="Yu Gothic" pitchFamily="34" charset="-120"/>
              </a:rPr>
              <a:t>直近ショック</a:t>
            </a:r>
            <a:endParaRPr lang="en-US" sz="940" dirty="0"/>
          </a:p>
          <a:p>
            <a:pPr algn="ctr" indent="0" marL="0">
              <a:buNone/>
            </a:pPr>
            <a:r>
              <a:rPr lang="en-US" sz="940" dirty="0">
                <a:solidFill>
                  <a:srgbClr val="334155"/>
                </a:solidFill>
                <a:latin typeface="Yu Gothic" pitchFamily="34" charset="0"/>
                <a:ea typeface="Yu Gothic" pitchFamily="34" charset="-122"/>
                <a:cs typeface="Yu Gothic" pitchFamily="34" charset="-120"/>
              </a:rPr>
              <a:t>短期反転</a:t>
            </a:r>
            <a:endParaRPr lang="en-US" sz="940" dirty="0"/>
          </a:p>
        </p:txBody>
      </p:sp>
      <p:sp>
        <p:nvSpPr>
          <p:cNvPr id="11" name="Text 9"/>
          <p:cNvSpPr/>
          <p:nvPr/>
        </p:nvSpPr>
        <p:spPr>
          <a:xfrm>
            <a:off x="2953512" y="2743200"/>
            <a:ext cx="1874520" cy="822960"/>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40" dirty="0">
                <a:solidFill>
                  <a:srgbClr val="334155"/>
                </a:solidFill>
                <a:latin typeface="Yu Gothic" pitchFamily="34" charset="0"/>
                <a:ea typeface="Yu Gothic" pitchFamily="34" charset="-122"/>
                <a:cs typeface="Yu Gothic" pitchFamily="34" charset="-120"/>
              </a:rPr>
              <a:t>6–20日</a:t>
            </a:r>
            <a:endParaRPr lang="en-US" sz="940" dirty="0"/>
          </a:p>
          <a:p>
            <a:pPr algn="ctr" indent="0" marL="0">
              <a:buNone/>
            </a:pPr>
            <a:r>
              <a:rPr lang="en-US" sz="940" dirty="0">
                <a:solidFill>
                  <a:srgbClr val="334155"/>
                </a:solidFill>
                <a:latin typeface="Yu Gothic" pitchFamily="34" charset="0"/>
                <a:ea typeface="Yu Gothic" pitchFamily="34" charset="-122"/>
                <a:cs typeface="Yu Gothic" pitchFamily="34" charset="-120"/>
              </a:rPr>
              <a:t>1カ月</a:t>
            </a:r>
            <a:endParaRPr lang="en-US" sz="940" dirty="0"/>
          </a:p>
          <a:p>
            <a:pPr algn="ctr" indent="0" marL="0">
              <a:buNone/>
            </a:pPr>
            <a:r>
              <a:rPr lang="en-US" sz="940" dirty="0">
                <a:solidFill>
                  <a:srgbClr val="334155"/>
                </a:solidFill>
                <a:latin typeface="Yu Gothic" pitchFamily="34" charset="0"/>
                <a:ea typeface="Yu Gothic" pitchFamily="34" charset="-122"/>
                <a:cs typeface="Yu Gothic" pitchFamily="34" charset="-120"/>
              </a:rPr>
              <a:t>モメンタム</a:t>
            </a:r>
            <a:endParaRPr lang="en-US" sz="940" dirty="0"/>
          </a:p>
        </p:txBody>
      </p:sp>
      <p:sp>
        <p:nvSpPr>
          <p:cNvPr id="12" name="Text 10"/>
          <p:cNvSpPr/>
          <p:nvPr/>
        </p:nvSpPr>
        <p:spPr>
          <a:xfrm>
            <a:off x="5193792" y="2743200"/>
            <a:ext cx="1874520" cy="822960"/>
          </a:xfrm>
          <a:prstGeom prst="rect">
            <a:avLst/>
          </a:prstGeom>
          <a:solidFill>
            <a:srgbClr val="0B1F3A"/>
          </a:solidFill>
          <a:ln w="12700">
            <a:solidFill>
              <a:srgbClr val="CBD5E1"/>
            </a:solidFill>
          </a:ln>
        </p:spPr>
        <p:txBody>
          <a:bodyPr wrap="square" lIns="1016" tIns="1016" rIns="1016" bIns="1016" rtlCol="0" anchor="ctr">
            <a:normAutofit/>
          </a:bodyPr>
          <a:lstStyle/>
          <a:p>
            <a:pPr algn="ctr" indent="0" marL="0">
              <a:buNone/>
            </a:pPr>
            <a:r>
              <a:rPr lang="en-US" sz="940" b="1" dirty="0">
                <a:solidFill>
                  <a:srgbClr val="FFFFFF"/>
                </a:solidFill>
                <a:latin typeface="Yu Gothic" pitchFamily="34" charset="0"/>
                <a:ea typeface="Yu Gothic" pitchFamily="34" charset="-122"/>
                <a:cs typeface="Yu Gothic" pitchFamily="34" charset="-120"/>
              </a:rPr>
              <a:t>21–60日</a:t>
            </a:r>
            <a:endParaRPr lang="en-US" sz="940" dirty="0"/>
          </a:p>
          <a:p>
            <a:pPr algn="ctr" indent="0" marL="0">
              <a:buNone/>
            </a:pPr>
            <a:r>
              <a:rPr lang="en-US" sz="940" b="1" dirty="0">
                <a:solidFill>
                  <a:srgbClr val="FFFFFF"/>
                </a:solidFill>
                <a:latin typeface="Yu Gothic" pitchFamily="34" charset="0"/>
                <a:ea typeface="Yu Gothic" pitchFamily="34" charset="-122"/>
                <a:cs typeface="Yu Gothic" pitchFamily="34" charset="-120"/>
              </a:rPr>
              <a:t>中期</a:t>
            </a:r>
            <a:endParaRPr lang="en-US" sz="940" dirty="0"/>
          </a:p>
          <a:p>
            <a:pPr algn="ctr" indent="0" marL="0">
              <a:buNone/>
            </a:pPr>
            <a:r>
              <a:rPr lang="en-US" sz="940" b="1" dirty="0">
                <a:solidFill>
                  <a:srgbClr val="FFFFFF"/>
                </a:solidFill>
                <a:latin typeface="Yu Gothic" pitchFamily="34" charset="0"/>
                <a:ea typeface="Yu Gothic" pitchFamily="34" charset="-122"/>
                <a:cs typeface="Yu Gothic" pitchFamily="34" charset="-120"/>
              </a:rPr>
              <a:t>Persistence</a:t>
            </a:r>
            <a:endParaRPr lang="en-US" sz="940" dirty="0"/>
          </a:p>
        </p:txBody>
      </p:sp>
      <p:sp>
        <p:nvSpPr>
          <p:cNvPr id="13" name="Text 11"/>
          <p:cNvSpPr/>
          <p:nvPr/>
        </p:nvSpPr>
        <p:spPr>
          <a:xfrm>
            <a:off x="7434072" y="2743200"/>
            <a:ext cx="1874520" cy="822960"/>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40" dirty="0">
                <a:solidFill>
                  <a:srgbClr val="334155"/>
                </a:solidFill>
                <a:latin typeface="Yu Gothic" pitchFamily="34" charset="0"/>
                <a:ea typeface="Yu Gothic" pitchFamily="34" charset="-122"/>
                <a:cs typeface="Yu Gothic" pitchFamily="34" charset="-120"/>
              </a:rPr>
              <a:t>61–120日</a:t>
            </a:r>
            <a:endParaRPr lang="en-US" sz="940" dirty="0"/>
          </a:p>
          <a:p>
            <a:pPr algn="ctr" indent="0" marL="0">
              <a:buNone/>
            </a:pPr>
            <a:r>
              <a:rPr lang="en-US" sz="940" dirty="0">
                <a:solidFill>
                  <a:srgbClr val="334155"/>
                </a:solidFill>
                <a:latin typeface="Yu Gothic" pitchFamily="34" charset="0"/>
                <a:ea typeface="Yu Gothic" pitchFamily="34" charset="-122"/>
                <a:cs typeface="Yu Gothic" pitchFamily="34" charset="-120"/>
              </a:rPr>
              <a:t>Trend</a:t>
            </a:r>
            <a:endParaRPr lang="en-US" sz="940" dirty="0"/>
          </a:p>
          <a:p>
            <a:pPr algn="ctr" indent="0" marL="0">
              <a:buNone/>
            </a:pPr>
            <a:r>
              <a:rPr lang="en-US" sz="940" dirty="0">
                <a:solidFill>
                  <a:srgbClr val="334155"/>
                </a:solidFill>
                <a:latin typeface="Yu Gothic" pitchFamily="34" charset="0"/>
                <a:ea typeface="Yu Gothic" pitchFamily="34" charset="-122"/>
                <a:cs typeface="Yu Gothic" pitchFamily="34" charset="-120"/>
              </a:rPr>
              <a:t>Structure</a:t>
            </a:r>
            <a:endParaRPr lang="en-US" sz="940" dirty="0"/>
          </a:p>
        </p:txBody>
      </p:sp>
      <p:sp>
        <p:nvSpPr>
          <p:cNvPr id="14" name="Text 12"/>
          <p:cNvSpPr/>
          <p:nvPr/>
        </p:nvSpPr>
        <p:spPr>
          <a:xfrm>
            <a:off x="9674352" y="2743200"/>
            <a:ext cx="1874520" cy="822960"/>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40" dirty="0">
                <a:solidFill>
                  <a:srgbClr val="334155"/>
                </a:solidFill>
                <a:latin typeface="Yu Gothic" pitchFamily="34" charset="0"/>
                <a:ea typeface="Yu Gothic" pitchFamily="34" charset="-122"/>
                <a:cs typeface="Yu Gothic" pitchFamily="34" charset="-120"/>
              </a:rPr>
              <a:t>121–252日</a:t>
            </a:r>
            <a:endParaRPr lang="en-US" sz="940" dirty="0"/>
          </a:p>
          <a:p>
            <a:pPr algn="ctr" indent="0" marL="0">
              <a:buNone/>
            </a:pPr>
            <a:r>
              <a:rPr lang="en-US" sz="940" dirty="0">
                <a:solidFill>
                  <a:srgbClr val="334155"/>
                </a:solidFill>
                <a:latin typeface="Yu Gothic" pitchFamily="34" charset="0"/>
                <a:ea typeface="Yu Gothic" pitchFamily="34" charset="-122"/>
                <a:cs typeface="Yu Gothic" pitchFamily="34" charset="-120"/>
              </a:rPr>
              <a:t>長期</a:t>
            </a:r>
            <a:endParaRPr lang="en-US" sz="940" dirty="0"/>
          </a:p>
          <a:p>
            <a:pPr algn="ctr" indent="0" marL="0">
              <a:buNone/>
            </a:pPr>
            <a:r>
              <a:rPr lang="en-US" sz="940" dirty="0">
                <a:solidFill>
                  <a:srgbClr val="334155"/>
                </a:solidFill>
                <a:latin typeface="Yu Gothic" pitchFamily="34" charset="0"/>
                <a:ea typeface="Yu Gothic" pitchFamily="34" charset="-122"/>
                <a:cs typeface="Yu Gothic" pitchFamily="34" charset="-120"/>
              </a:rPr>
              <a:t>Regime</a:t>
            </a:r>
            <a:endParaRPr lang="en-US" sz="940" dirty="0"/>
          </a:p>
        </p:txBody>
      </p:sp>
      <p:sp>
        <p:nvSpPr>
          <p:cNvPr id="15" name="Text 13"/>
          <p:cNvSpPr/>
          <p:nvPr/>
        </p:nvSpPr>
        <p:spPr>
          <a:xfrm>
            <a:off x="822960" y="3977640"/>
            <a:ext cx="6583680" cy="256032"/>
          </a:xfrm>
          <a:prstGeom prst="rect">
            <a:avLst/>
          </a:prstGeom>
          <a:noFill/>
          <a:ln/>
        </p:spPr>
        <p:txBody>
          <a:bodyPr wrap="square" lIns="0" tIns="0" rIns="0" bIns="0" rtlCol="0" anchor="ctr"/>
          <a:lstStyle/>
          <a:p>
            <a:pPr indent="0" marL="0">
              <a:buNone/>
            </a:pPr>
            <a:r>
              <a:rPr lang="en-US" sz="1300" b="1" dirty="0">
                <a:solidFill>
                  <a:srgbClr val="0B1F3A"/>
                </a:solidFill>
                <a:latin typeface="Yu Gothic" pitchFamily="34" charset="0"/>
                <a:ea typeface="Yu Gothic" pitchFamily="34" charset="-122"/>
                <a:cs typeface="Yu Gothic" pitchFamily="34" charset="-120"/>
              </a:rPr>
              <a:t>出力する説明：Temporal Importance（どの期間を重視したか）</a:t>
            </a:r>
            <a:endParaRPr lang="en-US" sz="1300" dirty="0"/>
          </a:p>
        </p:txBody>
      </p:sp>
      <p:sp>
        <p:nvSpPr>
          <p:cNvPr id="16" name="Shape 14"/>
          <p:cNvSpPr/>
          <p:nvPr/>
        </p:nvSpPr>
        <p:spPr>
          <a:xfrm>
            <a:off x="777240" y="5012741"/>
            <a:ext cx="1005840" cy="153619"/>
          </a:xfrm>
          <a:prstGeom prst="rect">
            <a:avLst/>
          </a:prstGeom>
          <a:solidFill>
            <a:srgbClr val="CBD5E1"/>
          </a:solidFill>
          <a:ln w="12700">
            <a:solidFill>
              <a:srgbClr val="CBD5E1"/>
            </a:solidFill>
            <a:prstDash val="solid"/>
          </a:ln>
        </p:spPr>
      </p:sp>
      <p:sp>
        <p:nvSpPr>
          <p:cNvPr id="17" name="Text 15"/>
          <p:cNvSpPr/>
          <p:nvPr/>
        </p:nvSpPr>
        <p:spPr>
          <a:xfrm>
            <a:off x="777240" y="5230368"/>
            <a:ext cx="1005840" cy="182880"/>
          </a:xfrm>
          <a:prstGeom prst="rect">
            <a:avLst/>
          </a:prstGeom>
          <a:noFill/>
          <a:ln/>
        </p:spPr>
        <p:txBody>
          <a:bodyPr wrap="square" lIns="0" tIns="0" rIns="0" bIns="0" rtlCol="0" anchor="ctr"/>
          <a:lstStyle/>
          <a:p>
            <a:pPr algn="ctr" indent="0" marL="0">
              <a:buNone/>
            </a:pPr>
            <a:r>
              <a:rPr lang="en-US" sz="800" dirty="0">
                <a:solidFill>
                  <a:srgbClr val="334155"/>
                </a:solidFill>
                <a:latin typeface="Aptos" pitchFamily="34" charset="0"/>
                <a:ea typeface="Aptos" pitchFamily="34" charset="-122"/>
                <a:cs typeface="Aptos" pitchFamily="34" charset="-120"/>
              </a:rPr>
              <a:t>8%</a:t>
            </a:r>
            <a:endParaRPr lang="en-US" sz="800" dirty="0"/>
          </a:p>
        </p:txBody>
      </p:sp>
      <p:sp>
        <p:nvSpPr>
          <p:cNvPr id="18" name="Shape 16"/>
          <p:cNvSpPr/>
          <p:nvPr/>
        </p:nvSpPr>
        <p:spPr>
          <a:xfrm>
            <a:off x="2286000" y="4839919"/>
            <a:ext cx="1005840" cy="326441"/>
          </a:xfrm>
          <a:prstGeom prst="rect">
            <a:avLst/>
          </a:prstGeom>
          <a:solidFill>
            <a:srgbClr val="CBD5E1"/>
          </a:solidFill>
          <a:ln w="12700">
            <a:solidFill>
              <a:srgbClr val="CBD5E1"/>
            </a:solidFill>
            <a:prstDash val="solid"/>
          </a:ln>
        </p:spPr>
      </p:sp>
      <p:sp>
        <p:nvSpPr>
          <p:cNvPr id="19" name="Text 17"/>
          <p:cNvSpPr/>
          <p:nvPr/>
        </p:nvSpPr>
        <p:spPr>
          <a:xfrm>
            <a:off x="2286000" y="5230368"/>
            <a:ext cx="1005840" cy="182880"/>
          </a:xfrm>
          <a:prstGeom prst="rect">
            <a:avLst/>
          </a:prstGeom>
          <a:noFill/>
          <a:ln/>
        </p:spPr>
        <p:txBody>
          <a:bodyPr wrap="square" lIns="0" tIns="0" rIns="0" bIns="0" rtlCol="0" anchor="ctr"/>
          <a:lstStyle/>
          <a:p>
            <a:pPr algn="ctr" indent="0" marL="0">
              <a:buNone/>
            </a:pPr>
            <a:r>
              <a:rPr lang="en-US" sz="800" dirty="0">
                <a:solidFill>
                  <a:srgbClr val="334155"/>
                </a:solidFill>
                <a:latin typeface="Aptos" pitchFamily="34" charset="0"/>
                <a:ea typeface="Aptos" pitchFamily="34" charset="-122"/>
                <a:cs typeface="Aptos" pitchFamily="34" charset="-120"/>
              </a:rPr>
              <a:t>17%</a:t>
            </a:r>
            <a:endParaRPr lang="en-US" sz="800" dirty="0"/>
          </a:p>
        </p:txBody>
      </p:sp>
      <p:sp>
        <p:nvSpPr>
          <p:cNvPr id="20" name="Shape 18"/>
          <p:cNvSpPr/>
          <p:nvPr/>
        </p:nvSpPr>
        <p:spPr>
          <a:xfrm>
            <a:off x="3794760" y="4379062"/>
            <a:ext cx="1005840" cy="787298"/>
          </a:xfrm>
          <a:prstGeom prst="rect">
            <a:avLst/>
          </a:prstGeom>
          <a:solidFill>
            <a:srgbClr val="7C3AED"/>
          </a:solidFill>
          <a:ln w="12700">
            <a:solidFill>
              <a:srgbClr val="7C3AED"/>
            </a:solidFill>
            <a:prstDash val="solid"/>
          </a:ln>
        </p:spPr>
      </p:sp>
      <p:sp>
        <p:nvSpPr>
          <p:cNvPr id="21" name="Text 19"/>
          <p:cNvSpPr/>
          <p:nvPr/>
        </p:nvSpPr>
        <p:spPr>
          <a:xfrm>
            <a:off x="3794760" y="5230368"/>
            <a:ext cx="1005840" cy="182880"/>
          </a:xfrm>
          <a:prstGeom prst="rect">
            <a:avLst/>
          </a:prstGeom>
          <a:noFill/>
          <a:ln/>
        </p:spPr>
        <p:txBody>
          <a:bodyPr wrap="square" lIns="0" tIns="0" rIns="0" bIns="0" rtlCol="0" anchor="ctr"/>
          <a:lstStyle/>
          <a:p>
            <a:pPr algn="ctr" indent="0" marL="0">
              <a:buNone/>
            </a:pPr>
            <a:r>
              <a:rPr lang="en-US" sz="800" dirty="0">
                <a:solidFill>
                  <a:srgbClr val="334155"/>
                </a:solidFill>
                <a:latin typeface="Aptos" pitchFamily="34" charset="0"/>
                <a:ea typeface="Aptos" pitchFamily="34" charset="-122"/>
                <a:cs typeface="Aptos" pitchFamily="34" charset="-120"/>
              </a:rPr>
              <a:t>41%</a:t>
            </a:r>
            <a:endParaRPr lang="en-US" sz="800" dirty="0"/>
          </a:p>
        </p:txBody>
      </p:sp>
      <p:sp>
        <p:nvSpPr>
          <p:cNvPr id="22" name="Shape 20"/>
          <p:cNvSpPr/>
          <p:nvPr/>
        </p:nvSpPr>
        <p:spPr>
          <a:xfrm>
            <a:off x="5303520" y="4705502"/>
            <a:ext cx="1005840" cy="460858"/>
          </a:xfrm>
          <a:prstGeom prst="rect">
            <a:avLst/>
          </a:prstGeom>
          <a:solidFill>
            <a:srgbClr val="CBD5E1"/>
          </a:solidFill>
          <a:ln w="12700">
            <a:solidFill>
              <a:srgbClr val="CBD5E1"/>
            </a:solidFill>
            <a:prstDash val="solid"/>
          </a:ln>
        </p:spPr>
      </p:sp>
      <p:sp>
        <p:nvSpPr>
          <p:cNvPr id="23" name="Text 21"/>
          <p:cNvSpPr/>
          <p:nvPr/>
        </p:nvSpPr>
        <p:spPr>
          <a:xfrm>
            <a:off x="5303520" y="5230368"/>
            <a:ext cx="1005840" cy="182880"/>
          </a:xfrm>
          <a:prstGeom prst="rect">
            <a:avLst/>
          </a:prstGeom>
          <a:noFill/>
          <a:ln/>
        </p:spPr>
        <p:txBody>
          <a:bodyPr wrap="square" lIns="0" tIns="0" rIns="0" bIns="0" rtlCol="0" anchor="ctr"/>
          <a:lstStyle/>
          <a:p>
            <a:pPr algn="ctr" indent="0" marL="0">
              <a:buNone/>
            </a:pPr>
            <a:r>
              <a:rPr lang="en-US" sz="800" dirty="0">
                <a:solidFill>
                  <a:srgbClr val="334155"/>
                </a:solidFill>
                <a:latin typeface="Aptos" pitchFamily="34" charset="0"/>
                <a:ea typeface="Aptos" pitchFamily="34" charset="-122"/>
                <a:cs typeface="Aptos" pitchFamily="34" charset="-120"/>
              </a:rPr>
              <a:t>24%</a:t>
            </a:r>
            <a:endParaRPr lang="en-US" sz="800" dirty="0"/>
          </a:p>
        </p:txBody>
      </p:sp>
      <p:sp>
        <p:nvSpPr>
          <p:cNvPr id="24" name="Shape 22"/>
          <p:cNvSpPr/>
          <p:nvPr/>
        </p:nvSpPr>
        <p:spPr>
          <a:xfrm>
            <a:off x="6812280" y="4974336"/>
            <a:ext cx="1005840" cy="192024"/>
          </a:xfrm>
          <a:prstGeom prst="rect">
            <a:avLst/>
          </a:prstGeom>
          <a:solidFill>
            <a:srgbClr val="CBD5E1"/>
          </a:solidFill>
          <a:ln w="12700">
            <a:solidFill>
              <a:srgbClr val="CBD5E1"/>
            </a:solidFill>
            <a:prstDash val="solid"/>
          </a:ln>
        </p:spPr>
      </p:sp>
      <p:sp>
        <p:nvSpPr>
          <p:cNvPr id="25" name="Text 23"/>
          <p:cNvSpPr/>
          <p:nvPr/>
        </p:nvSpPr>
        <p:spPr>
          <a:xfrm>
            <a:off x="6812280" y="5230368"/>
            <a:ext cx="1005840" cy="182880"/>
          </a:xfrm>
          <a:prstGeom prst="rect">
            <a:avLst/>
          </a:prstGeom>
          <a:noFill/>
          <a:ln/>
        </p:spPr>
        <p:txBody>
          <a:bodyPr wrap="square" lIns="0" tIns="0" rIns="0" bIns="0" rtlCol="0" anchor="ctr"/>
          <a:lstStyle/>
          <a:p>
            <a:pPr algn="ctr" indent="0" marL="0">
              <a:buNone/>
            </a:pPr>
            <a:r>
              <a:rPr lang="en-US" sz="800" dirty="0">
                <a:solidFill>
                  <a:srgbClr val="334155"/>
                </a:solidFill>
                <a:latin typeface="Aptos" pitchFamily="34" charset="0"/>
                <a:ea typeface="Aptos" pitchFamily="34" charset="-122"/>
                <a:cs typeface="Aptos" pitchFamily="34" charset="-120"/>
              </a:rPr>
              <a:t>10%</a:t>
            </a:r>
            <a:endParaRPr lang="en-US" sz="800" dirty="0"/>
          </a:p>
        </p:txBody>
      </p:sp>
      <p:sp>
        <p:nvSpPr>
          <p:cNvPr id="26" name="Text 24"/>
          <p:cNvSpPr/>
          <p:nvPr/>
        </p:nvSpPr>
        <p:spPr>
          <a:xfrm>
            <a:off x="8595360" y="4160520"/>
            <a:ext cx="2651760" cy="1143000"/>
          </a:xfrm>
          <a:prstGeom prst="rect">
            <a:avLst/>
          </a:prstGeom>
          <a:solidFill>
            <a:srgbClr val="F8FAFC"/>
          </a:solidFill>
          <a:ln w="12700">
            <a:solidFill>
              <a:srgbClr val="CBD5E1"/>
            </a:solidFill>
          </a:ln>
        </p:spPr>
        <p:txBody>
          <a:bodyPr wrap="square" lIns="1016" tIns="1016" rIns="1016" bIns="1016" rtlCol="0" anchor="ctr">
            <a:normAutofit/>
          </a:bodyPr>
          <a:lstStyle/>
          <a:p>
            <a:pPr algn="ctr" indent="0" marL="0">
              <a:buNone/>
            </a:pPr>
            <a:r>
              <a:rPr lang="en-US" sz="1100" b="1" dirty="0">
                <a:solidFill>
                  <a:srgbClr val="0B1F3A"/>
                </a:solidFill>
                <a:latin typeface="Yu Gothic" pitchFamily="34" charset="0"/>
                <a:ea typeface="Yu Gothic" pitchFamily="34" charset="-122"/>
                <a:cs typeface="Yu Gothic" pitchFamily="34" charset="-120"/>
              </a:rPr>
              <a:t>例：21–60日の重要度が最大 → 中期モメンタムやトレンド状態と照合</a:t>
            </a:r>
            <a:endParaRPr lang="en-US" sz="1100" dirty="0"/>
          </a:p>
        </p:txBody>
      </p:sp>
      <p:sp>
        <p:nvSpPr>
          <p:cNvPr id="27" name="Text 25"/>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28" name="Text 26"/>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09</a:t>
            </a:r>
            <a:endParaRPr lang="en-US" sz="750" dirty="0"/>
          </a:p>
        </p:txBody>
      </p:sp>
      <p:sp>
        <p:nvSpPr>
          <p:cNvPr id="29" name="Text 27"/>
          <p:cNvSpPr/>
          <p:nvPr/>
        </p:nvSpPr>
        <p:spPr>
          <a:xfrm>
            <a:off x="411480" y="6281928"/>
            <a:ext cx="10972800" cy="182880"/>
          </a:xfrm>
          <a:prstGeom prst="rect">
            <a:avLst/>
          </a:prstGeom>
          <a:noFill/>
          <a:ln/>
        </p:spPr>
        <p:txBody>
          <a:bodyPr wrap="square" lIns="0" tIns="0" rIns="0" bIns="0" rtlCol="0" anchor="ctr">
            <a:normAutofit/>
          </a:bodyPr>
          <a:lstStyle/>
          <a:p>
            <a:pPr indent="0" marL="0">
              <a:buNone/>
            </a:pPr>
            <a:r>
              <a:rPr lang="en-US" sz="500" dirty="0">
                <a:solidFill>
                  <a:srgbClr val="94A3B8"/>
                </a:solidFill>
                <a:latin typeface="Yu Gothic" pitchFamily="34" charset="0"/>
                <a:ea typeface="Yu Gothic" pitchFamily="34" charset="-122"/>
                <a:cs typeface="Yu Gothic" pitchFamily="34" charset="-120"/>
              </a:rPr>
              <a:t>Refs: TFT [4], PatchTST [5]</a:t>
            </a:r>
            <a:endParaRPr lang="en-US" sz="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注意：Attentionだけを説明として使わない</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Temporal Importanceは、Attention単独ではなく複数検証で裏取りする</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868680" y="1463040"/>
            <a:ext cx="2971800" cy="960120"/>
          </a:xfrm>
          <a:prstGeom prst="rect">
            <a:avLst/>
          </a:prstGeom>
          <a:solidFill>
            <a:srgbClr val="EDE9FE"/>
          </a:solidFill>
          <a:ln w="12700">
            <a:solidFill>
              <a:srgbClr val="7C3AED"/>
            </a:solidFill>
          </a:ln>
        </p:spPr>
        <p:txBody>
          <a:bodyPr wrap="square" lIns="1016" tIns="1016" rIns="1016" bIns="1016" rtlCol="0" anchor="ctr">
            <a:normAutofit/>
          </a:bodyPr>
          <a:lstStyle/>
          <a:p>
            <a:pPr algn="ctr" indent="0" marL="0">
              <a:buNone/>
            </a:pPr>
            <a:r>
              <a:rPr lang="en-US" sz="1050" b="1" dirty="0">
                <a:solidFill>
                  <a:srgbClr val="7C3AED"/>
                </a:solidFill>
                <a:latin typeface="Yu Gothic" pitchFamily="34" charset="0"/>
                <a:ea typeface="Yu Gothic" pitchFamily="34" charset="-122"/>
                <a:cs typeface="Yu Gothic" pitchFamily="34" charset="-120"/>
              </a:rPr>
              <a:t>Attention / Rollout</a:t>
            </a:r>
            <a:endParaRPr lang="en-US" sz="1050" dirty="0"/>
          </a:p>
          <a:p>
            <a:pPr algn="ctr" indent="0" marL="0">
              <a:buNone/>
            </a:pPr>
            <a:r>
              <a:rPr lang="en-US" sz="1050" b="1" dirty="0">
                <a:solidFill>
                  <a:srgbClr val="7C3AED"/>
                </a:solidFill>
                <a:latin typeface="Yu Gothic" pitchFamily="34" charset="0"/>
                <a:ea typeface="Yu Gothic" pitchFamily="34" charset="-122"/>
                <a:cs typeface="Yu Gothic" pitchFamily="34" charset="-120"/>
              </a:rPr>
              <a:t>モデルが参照した時間帯の候補を抽出</a:t>
            </a:r>
            <a:endParaRPr lang="en-US" sz="1050" dirty="0"/>
          </a:p>
        </p:txBody>
      </p:sp>
      <p:sp>
        <p:nvSpPr>
          <p:cNvPr id="6" name="Text 4"/>
          <p:cNvSpPr/>
          <p:nvPr/>
        </p:nvSpPr>
        <p:spPr>
          <a:xfrm>
            <a:off x="4572000" y="1463040"/>
            <a:ext cx="2971800" cy="960120"/>
          </a:xfrm>
          <a:prstGeom prst="rect">
            <a:avLst/>
          </a:prstGeom>
          <a:solidFill>
            <a:srgbClr val="FEF3C7"/>
          </a:solidFill>
          <a:ln w="12700">
            <a:solidFill>
              <a:srgbClr val="F59E0B"/>
            </a:solidFill>
          </a:ln>
        </p:spPr>
        <p:txBody>
          <a:bodyPr wrap="square" lIns="1016" tIns="1016" rIns="1016" bIns="1016" rtlCol="0" anchor="ctr">
            <a:normAutofit/>
          </a:bodyPr>
          <a:lstStyle/>
          <a:p>
            <a:pPr algn="ctr" indent="0" marL="0">
              <a:buNone/>
            </a:pPr>
            <a:r>
              <a:rPr lang="en-US" sz="1050" b="1" dirty="0">
                <a:solidFill>
                  <a:srgbClr val="F59E0B"/>
                </a:solidFill>
                <a:latin typeface="Yu Gothic" pitchFamily="34" charset="0"/>
                <a:ea typeface="Yu Gothic" pitchFamily="34" charset="-122"/>
                <a:cs typeface="Yu Gothic" pitchFamily="34" charset="-120"/>
              </a:rPr>
              <a:t>Temporal Occlusion</a:t>
            </a:r>
            <a:endParaRPr lang="en-US" sz="1050" dirty="0"/>
          </a:p>
          <a:p>
            <a:pPr algn="ctr" indent="0" marL="0">
              <a:buNone/>
            </a:pPr>
            <a:r>
              <a:rPr lang="en-US" sz="1050" b="1" dirty="0">
                <a:solidFill>
                  <a:srgbClr val="F59E0B"/>
                </a:solidFill>
                <a:latin typeface="Yu Gothic" pitchFamily="34" charset="0"/>
                <a:ea typeface="Yu Gothic" pitchFamily="34" charset="-122"/>
                <a:cs typeface="Yu Gothic" pitchFamily="34" charset="-120"/>
              </a:rPr>
              <a:t>その期間をマスクし、予測がどれだけ変わるか確認</a:t>
            </a:r>
            <a:endParaRPr lang="en-US" sz="1050" dirty="0"/>
          </a:p>
        </p:txBody>
      </p:sp>
      <p:sp>
        <p:nvSpPr>
          <p:cNvPr id="7" name="Text 5"/>
          <p:cNvSpPr/>
          <p:nvPr/>
        </p:nvSpPr>
        <p:spPr>
          <a:xfrm>
            <a:off x="8275320" y="1463040"/>
            <a:ext cx="2971800" cy="960120"/>
          </a:xfrm>
          <a:prstGeom prst="rect">
            <a:avLst/>
          </a:prstGeom>
          <a:solidFill>
            <a:srgbClr val="D1FAE5"/>
          </a:solidFill>
          <a:ln w="12700">
            <a:solidFill>
              <a:srgbClr val="10B981"/>
            </a:solidFill>
          </a:ln>
        </p:spPr>
        <p:txBody>
          <a:bodyPr wrap="square" lIns="1016" tIns="1016" rIns="1016" bIns="1016" rtlCol="0" anchor="ctr">
            <a:normAutofit/>
          </a:bodyPr>
          <a:lstStyle/>
          <a:p>
            <a:pPr algn="ctr" indent="0" marL="0">
              <a:buNone/>
            </a:pPr>
            <a:r>
              <a:rPr lang="en-US" sz="1050" b="1" dirty="0">
                <a:solidFill>
                  <a:srgbClr val="10B981"/>
                </a:solidFill>
                <a:latin typeface="Yu Gothic" pitchFamily="34" charset="0"/>
                <a:ea typeface="Yu Gothic" pitchFamily="34" charset="-122"/>
                <a:cs typeface="Yu Gothic" pitchFamily="34" charset="-120"/>
              </a:rPr>
              <a:t>Integrated Gradients</a:t>
            </a:r>
            <a:endParaRPr lang="en-US" sz="1050" dirty="0"/>
          </a:p>
          <a:p>
            <a:pPr algn="ctr" indent="0" marL="0">
              <a:buNone/>
            </a:pPr>
            <a:r>
              <a:rPr lang="en-US" sz="1050" b="1" dirty="0">
                <a:solidFill>
                  <a:srgbClr val="10B981"/>
                </a:solidFill>
                <a:latin typeface="Yu Gothic" pitchFamily="34" charset="0"/>
                <a:ea typeface="Yu Gothic" pitchFamily="34" charset="-122"/>
                <a:cs typeface="Yu Gothic" pitchFamily="34" charset="-120"/>
              </a:rPr>
              <a:t>時点・Signal単位の感応度を勾配で確認</a:t>
            </a:r>
            <a:endParaRPr lang="en-US" sz="1050" dirty="0"/>
          </a:p>
        </p:txBody>
      </p:sp>
      <p:sp>
        <p:nvSpPr>
          <p:cNvPr id="8" name="Text 6"/>
          <p:cNvSpPr/>
          <p:nvPr/>
        </p:nvSpPr>
        <p:spPr>
          <a:xfrm>
            <a:off x="1508760" y="3063240"/>
            <a:ext cx="9144000" cy="512064"/>
          </a:xfrm>
          <a:prstGeom prst="rect">
            <a:avLst/>
          </a:prstGeom>
          <a:solidFill>
            <a:srgbClr val="0B1F3A"/>
          </a:solidFill>
          <a:ln>
            <a:solidFill>
              <a:srgbClr val="0B1F3A">
                <a:alpha val="0"/>
              </a:srgbClr>
            </a:solidFill>
          </a:ln>
        </p:spPr>
        <p:txBody>
          <a:bodyPr wrap="square" lIns="1016" tIns="1016" rIns="1016" bIns="1016" rtlCol="0" anchor="ctr">
            <a:normAutofit/>
          </a:bodyPr>
          <a:lstStyle/>
          <a:p>
            <a:pPr algn="ctr" indent="0" marL="0">
              <a:buNone/>
            </a:pPr>
            <a:r>
              <a:rPr lang="en-US" sz="1500" b="1" dirty="0">
                <a:solidFill>
                  <a:srgbClr val="FFFFFF"/>
                </a:solidFill>
                <a:latin typeface="Yu Gothic" pitchFamily="34" charset="0"/>
                <a:ea typeface="Yu Gothic" pitchFamily="34" charset="-122"/>
                <a:cs typeface="Yu Gothic" pitchFamily="34" charset="-120"/>
              </a:rPr>
              <a:t>Temporal Importance = Attention + Occlusion + Gradient を総合</a:t>
            </a:r>
            <a:endParaRPr lang="en-US" sz="1500" dirty="0"/>
          </a:p>
        </p:txBody>
      </p:sp>
      <p:sp>
        <p:nvSpPr>
          <p:cNvPr id="9" name="Text 7"/>
          <p:cNvSpPr/>
          <p:nvPr/>
        </p:nvSpPr>
        <p:spPr>
          <a:xfrm>
            <a:off x="914400" y="4069080"/>
            <a:ext cx="4892040" cy="1417320"/>
          </a:xfrm>
          <a:prstGeom prst="rect">
            <a:avLst/>
          </a:prstGeom>
          <a:solidFill>
            <a:srgbClr val="FFFFFF"/>
          </a:solidFill>
          <a:ln w="12700">
            <a:solidFill>
              <a:srgbClr val="CBD5E1"/>
            </a:solidFill>
          </a:ln>
        </p:spPr>
        <p:txBody>
          <a:bodyPr wrap="square" lIns="1524" tIns="1524" rIns="1524" bIns="1524" rtlCol="0" anchor="ctr">
            <a:normAutofit/>
          </a:bodyPr>
          <a:lstStyle/>
          <a:p>
            <a:pPr algn="l" indent="0" marL="0">
              <a:buNone/>
            </a:pPr>
            <a:r>
              <a:rPr lang="en-US" sz="1080" dirty="0">
                <a:solidFill>
                  <a:srgbClr val="334155"/>
                </a:solidFill>
                <a:latin typeface="Yu Gothic" pitchFamily="34" charset="0"/>
                <a:ea typeface="Yu Gothic" pitchFamily="34" charset="-122"/>
                <a:cs typeface="Yu Gothic" pitchFamily="34" charset="-120"/>
              </a:rPr>
              <a:t>説明ロジック</a:t>
            </a:r>
            <a:endParaRPr lang="en-US" sz="1080" dirty="0"/>
          </a:p>
          <a:p>
            <a:pPr algn="l" indent="0" marL="0">
              <a:buNone/>
            </a:pPr>
            <a:endParaRPr lang="en-US" sz="1080" dirty="0"/>
          </a:p>
          <a:p>
            <a:pPr algn="l" indent="0" marL="0">
              <a:buNone/>
            </a:pPr>
            <a:r>
              <a:rPr lang="en-US" sz="1080" dirty="0">
                <a:solidFill>
                  <a:srgbClr val="334155"/>
                </a:solidFill>
                <a:latin typeface="Yu Gothic" pitchFamily="34" charset="0"/>
                <a:ea typeface="Yu Gothic" pitchFamily="34" charset="-122"/>
                <a:cs typeface="Yu Gothic" pitchFamily="34" charset="-120"/>
              </a:rPr>
              <a:t>① どの過去期間が重要だったか</a:t>
            </a:r>
            <a:endParaRPr lang="en-US" sz="1080" dirty="0"/>
          </a:p>
          <a:p>
            <a:pPr algn="l" indent="0" marL="0">
              <a:buNone/>
            </a:pPr>
            <a:r>
              <a:rPr lang="en-US" sz="1080" dirty="0">
                <a:solidFill>
                  <a:srgbClr val="334155"/>
                </a:solidFill>
                <a:latin typeface="Yu Gothic" pitchFamily="34" charset="0"/>
                <a:ea typeface="Yu Gothic" pitchFamily="34" charset="-122"/>
                <a:cs typeface="Yu Gothic" pitchFamily="34" charset="-120"/>
              </a:rPr>
              <a:t>② その期間のEvidence状態は何だったか</a:t>
            </a:r>
            <a:endParaRPr lang="en-US" sz="1080" dirty="0"/>
          </a:p>
          <a:p>
            <a:pPr algn="l" indent="0" marL="0">
              <a:buNone/>
            </a:pPr>
            <a:r>
              <a:rPr lang="en-US" sz="1080" dirty="0">
                <a:solidFill>
                  <a:srgbClr val="334155"/>
                </a:solidFill>
                <a:latin typeface="Yu Gothic" pitchFamily="34" charset="0"/>
                <a:ea typeface="Yu Gothic" pitchFamily="34" charset="-122"/>
                <a:cs typeface="Yu Gothic" pitchFamily="34" charset="-120"/>
              </a:rPr>
              <a:t>③ その期間を除くと予測が変わるか</a:t>
            </a:r>
            <a:endParaRPr lang="en-US" sz="1080" dirty="0"/>
          </a:p>
          <a:p>
            <a:pPr algn="l" indent="0" marL="0">
              <a:buNone/>
            </a:pPr>
            <a:r>
              <a:rPr lang="en-US" sz="1080" dirty="0">
                <a:solidFill>
                  <a:srgbClr val="334155"/>
                </a:solidFill>
                <a:latin typeface="Yu Gothic" pitchFamily="34" charset="0"/>
                <a:ea typeface="Yu Gothic" pitchFamily="34" charset="-122"/>
                <a:cs typeface="Yu Gothic" pitchFamily="34" charset="-120"/>
              </a:rPr>
              <a:t>④ Seed / Foldを変えても安定するか</a:t>
            </a:r>
            <a:endParaRPr lang="en-US" sz="1080" dirty="0"/>
          </a:p>
        </p:txBody>
      </p:sp>
      <p:sp>
        <p:nvSpPr>
          <p:cNvPr id="10" name="Text 8"/>
          <p:cNvSpPr/>
          <p:nvPr/>
        </p:nvSpPr>
        <p:spPr>
          <a:xfrm>
            <a:off x="6400800" y="4069080"/>
            <a:ext cx="4892040" cy="1417320"/>
          </a:xfrm>
          <a:prstGeom prst="rect">
            <a:avLst/>
          </a:prstGeom>
          <a:solidFill>
            <a:srgbClr val="F8FAFC"/>
          </a:solidFill>
          <a:ln w="12700">
            <a:solidFill>
              <a:srgbClr val="CBD5E1"/>
            </a:solidFill>
          </a:ln>
        </p:spPr>
        <p:txBody>
          <a:bodyPr wrap="square" lIns="1524" tIns="1524" rIns="1524" bIns="1524" rtlCol="0" anchor="ctr">
            <a:normAutofit/>
          </a:bodyPr>
          <a:lstStyle/>
          <a:p>
            <a:pPr algn="l" indent="0" marL="0">
              <a:buNone/>
            </a:pPr>
            <a:r>
              <a:rPr lang="en-US" sz="960" dirty="0">
                <a:solidFill>
                  <a:srgbClr val="0B1F3A"/>
                </a:solidFill>
                <a:latin typeface="Yu Gothic" pitchFamily="34" charset="0"/>
                <a:ea typeface="Yu Gothic" pitchFamily="34" charset="-122"/>
                <a:cs typeface="Yu Gothic" pitchFamily="34" charset="-120"/>
              </a:rPr>
              <a:t>PM向け説明例</a:t>
            </a:r>
            <a:endParaRPr lang="en-US" sz="960" dirty="0"/>
          </a:p>
          <a:p>
            <a:pPr algn="l" indent="0" marL="0">
              <a:buNone/>
            </a:pPr>
            <a:endParaRPr lang="en-US" sz="960" dirty="0"/>
          </a:p>
          <a:p>
            <a:pPr algn="l" indent="0" marL="0">
              <a:buNone/>
            </a:pPr>
            <a:r>
              <a:rPr lang="en-US" sz="960" dirty="0">
                <a:solidFill>
                  <a:srgbClr val="0B1F3A"/>
                </a:solidFill>
                <a:latin typeface="Yu Gothic" pitchFamily="34" charset="0"/>
                <a:ea typeface="Yu Gothic" pitchFamily="34" charset="-122"/>
                <a:cs typeface="Yu Gothic" pitchFamily="34" charset="-120"/>
              </a:rPr>
              <a:t>「過去21–60日に重要度が集中。</a:t>
            </a:r>
            <a:endParaRPr lang="en-US" sz="960" dirty="0"/>
          </a:p>
          <a:p>
            <a:pPr algn="l" indent="0" marL="0">
              <a:buNone/>
            </a:pPr>
            <a:r>
              <a:rPr lang="en-US" sz="960" dirty="0">
                <a:solidFill>
                  <a:srgbClr val="0B1F3A"/>
                </a:solidFill>
                <a:latin typeface="Yu Gothic" pitchFamily="34" charset="0"/>
                <a:ea typeface="Yu Gothic" pitchFamily="34" charset="-122"/>
                <a:cs typeface="Yu Gothic" pitchFamily="34" charset="-120"/>
              </a:rPr>
              <a:t>この期間は60日モメンタム、MA傾き、相対強度が高く、Temporal Occlusionでも同期間を除くと予測が低下した。</a:t>
            </a:r>
            <a:endParaRPr lang="en-US" sz="960" dirty="0"/>
          </a:p>
          <a:p>
            <a:pPr algn="l" indent="0" marL="0">
              <a:buNone/>
            </a:pPr>
            <a:r>
              <a:rPr lang="en-US" sz="960" dirty="0">
                <a:solidFill>
                  <a:srgbClr val="0B1F3A"/>
                </a:solidFill>
                <a:latin typeface="Yu Gothic" pitchFamily="34" charset="0"/>
                <a:ea typeface="Yu Gothic" pitchFamily="34" charset="-122"/>
                <a:cs typeface="Yu Gothic" pitchFamily="34" charset="-120"/>
              </a:rPr>
              <a:t>したがって中期Persistenceを根拠に強気判断。」</a:t>
            </a:r>
            <a:endParaRPr lang="en-US" sz="960" dirty="0"/>
          </a:p>
        </p:txBody>
      </p:sp>
      <p:sp>
        <p:nvSpPr>
          <p:cNvPr id="11" name="Text 9"/>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12" name="Text 10"/>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10</a:t>
            </a:r>
            <a:endParaRPr lang="en-US" sz="750" dirty="0"/>
          </a:p>
        </p:txBody>
      </p:sp>
      <p:sp>
        <p:nvSpPr>
          <p:cNvPr id="13" name="Text 11"/>
          <p:cNvSpPr/>
          <p:nvPr/>
        </p:nvSpPr>
        <p:spPr>
          <a:xfrm>
            <a:off x="411480" y="6281928"/>
            <a:ext cx="10972800" cy="182880"/>
          </a:xfrm>
          <a:prstGeom prst="rect">
            <a:avLst/>
          </a:prstGeom>
          <a:noFill/>
          <a:ln/>
        </p:spPr>
        <p:txBody>
          <a:bodyPr wrap="square" lIns="0" tIns="0" rIns="0" bIns="0" rtlCol="0" anchor="ctr">
            <a:normAutofit/>
          </a:bodyPr>
          <a:lstStyle/>
          <a:p>
            <a:pPr indent="0" marL="0">
              <a:buNone/>
            </a:pPr>
            <a:r>
              <a:rPr lang="en-US" sz="500" dirty="0">
                <a:solidFill>
                  <a:srgbClr val="94A3B8"/>
                </a:solidFill>
                <a:latin typeface="Yu Gothic" pitchFamily="34" charset="0"/>
                <a:ea typeface="Yu Gothic" pitchFamily="34" charset="-122"/>
                <a:cs typeface="Yu Gothic" pitchFamily="34" charset="-120"/>
              </a:rPr>
              <a:t>Refs: Attention caveats [7][8]</a:t>
            </a:r>
            <a:endParaRPr lang="en-US" sz="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Transformer説明は「時間帯 × Evidence状態」で行う</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どの期間を重視したかだけではなく、その期間が何を意味していたかを同時に示す</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777240" y="1243584"/>
            <a:ext cx="3657600" cy="228600"/>
          </a:xfrm>
          <a:prstGeom prst="rect">
            <a:avLst/>
          </a:prstGeom>
          <a:noFill/>
          <a:ln/>
        </p:spPr>
        <p:txBody>
          <a:bodyPr wrap="square" lIns="0" tIns="0" rIns="0" bIns="0" rtlCol="0" anchor="ctr"/>
          <a:lstStyle/>
          <a:p>
            <a:pPr indent="0" marL="0">
              <a:buNone/>
            </a:pPr>
            <a:r>
              <a:rPr lang="en-US" sz="1200" b="1" dirty="0">
                <a:solidFill>
                  <a:srgbClr val="0B1F3A"/>
                </a:solidFill>
                <a:latin typeface="Yu Gothic" pitchFamily="34" charset="0"/>
                <a:ea typeface="Yu Gothic" pitchFamily="34" charset="-122"/>
                <a:cs typeface="Yu Gothic" pitchFamily="34" charset="-120"/>
              </a:rPr>
              <a:t>例：日本株先物 / Persistence判断</a:t>
            </a:r>
            <a:endParaRPr lang="en-US" sz="1200" dirty="0"/>
          </a:p>
        </p:txBody>
      </p:sp>
      <p:sp>
        <p:nvSpPr>
          <p:cNvPr id="6" name="Text 4"/>
          <p:cNvSpPr/>
          <p:nvPr/>
        </p:nvSpPr>
        <p:spPr>
          <a:xfrm>
            <a:off x="2606040" y="1627632"/>
            <a:ext cx="1417320" cy="329184"/>
          </a:xfrm>
          <a:prstGeom prst="rect">
            <a:avLst/>
          </a:prstGeom>
          <a:solidFill>
            <a:srgbClr val="0B1F3A"/>
          </a:solidFill>
          <a:ln>
            <a:solidFill>
              <a:srgbClr val="0B1F3A">
                <a:alpha val="0"/>
              </a:srgbClr>
            </a:solidFill>
          </a:ln>
        </p:spPr>
        <p:txBody>
          <a:bodyPr wrap="square" lIns="1016" tIns="1016" rIns="1016" bIns="1016" rtlCol="0" anchor="ctr">
            <a:normAutofit/>
          </a:bodyPr>
          <a:lstStyle/>
          <a:p>
            <a:pPr algn="ctr" indent="0" marL="0">
              <a:buNone/>
            </a:pPr>
            <a:r>
              <a:rPr lang="en-US" sz="800" b="1" dirty="0">
                <a:solidFill>
                  <a:srgbClr val="FFFFFF"/>
                </a:solidFill>
                <a:latin typeface="Yu Gothic" pitchFamily="34" charset="0"/>
                <a:ea typeface="Yu Gothic" pitchFamily="34" charset="-122"/>
                <a:cs typeface="Yu Gothic" pitchFamily="34" charset="-120"/>
              </a:rPr>
              <a:t>1–5日</a:t>
            </a:r>
            <a:endParaRPr lang="en-US" sz="800" dirty="0"/>
          </a:p>
        </p:txBody>
      </p:sp>
      <p:sp>
        <p:nvSpPr>
          <p:cNvPr id="7" name="Text 5"/>
          <p:cNvSpPr/>
          <p:nvPr/>
        </p:nvSpPr>
        <p:spPr>
          <a:xfrm>
            <a:off x="4297680" y="1627632"/>
            <a:ext cx="1417320" cy="329184"/>
          </a:xfrm>
          <a:prstGeom prst="rect">
            <a:avLst/>
          </a:prstGeom>
          <a:solidFill>
            <a:srgbClr val="0B1F3A"/>
          </a:solidFill>
          <a:ln>
            <a:solidFill>
              <a:srgbClr val="0B1F3A">
                <a:alpha val="0"/>
              </a:srgbClr>
            </a:solidFill>
          </a:ln>
        </p:spPr>
        <p:txBody>
          <a:bodyPr wrap="square" lIns="1016" tIns="1016" rIns="1016" bIns="1016" rtlCol="0" anchor="ctr">
            <a:normAutofit/>
          </a:bodyPr>
          <a:lstStyle/>
          <a:p>
            <a:pPr algn="ctr" indent="0" marL="0">
              <a:buNone/>
            </a:pPr>
            <a:r>
              <a:rPr lang="en-US" sz="800" b="1" dirty="0">
                <a:solidFill>
                  <a:srgbClr val="FFFFFF"/>
                </a:solidFill>
                <a:latin typeface="Yu Gothic" pitchFamily="34" charset="0"/>
                <a:ea typeface="Yu Gothic" pitchFamily="34" charset="-122"/>
                <a:cs typeface="Yu Gothic" pitchFamily="34" charset="-120"/>
              </a:rPr>
              <a:t>6–20日</a:t>
            </a:r>
            <a:endParaRPr lang="en-US" sz="800" dirty="0"/>
          </a:p>
        </p:txBody>
      </p:sp>
      <p:sp>
        <p:nvSpPr>
          <p:cNvPr id="8" name="Text 6"/>
          <p:cNvSpPr/>
          <p:nvPr/>
        </p:nvSpPr>
        <p:spPr>
          <a:xfrm>
            <a:off x="5989320" y="1627632"/>
            <a:ext cx="1417320" cy="329184"/>
          </a:xfrm>
          <a:prstGeom prst="rect">
            <a:avLst/>
          </a:prstGeom>
          <a:solidFill>
            <a:srgbClr val="0B1F3A"/>
          </a:solidFill>
          <a:ln>
            <a:solidFill>
              <a:srgbClr val="0B1F3A">
                <a:alpha val="0"/>
              </a:srgbClr>
            </a:solidFill>
          </a:ln>
        </p:spPr>
        <p:txBody>
          <a:bodyPr wrap="square" lIns="1016" tIns="1016" rIns="1016" bIns="1016" rtlCol="0" anchor="ctr">
            <a:normAutofit/>
          </a:bodyPr>
          <a:lstStyle/>
          <a:p>
            <a:pPr algn="ctr" indent="0" marL="0">
              <a:buNone/>
            </a:pPr>
            <a:r>
              <a:rPr lang="en-US" sz="800" b="1" dirty="0">
                <a:solidFill>
                  <a:srgbClr val="FFFFFF"/>
                </a:solidFill>
                <a:latin typeface="Yu Gothic" pitchFamily="34" charset="0"/>
                <a:ea typeface="Yu Gothic" pitchFamily="34" charset="-122"/>
                <a:cs typeface="Yu Gothic" pitchFamily="34" charset="-120"/>
              </a:rPr>
              <a:t>21–60日</a:t>
            </a:r>
            <a:endParaRPr lang="en-US" sz="800" dirty="0"/>
          </a:p>
        </p:txBody>
      </p:sp>
      <p:sp>
        <p:nvSpPr>
          <p:cNvPr id="9" name="Text 7"/>
          <p:cNvSpPr/>
          <p:nvPr/>
        </p:nvSpPr>
        <p:spPr>
          <a:xfrm>
            <a:off x="7680960" y="1627632"/>
            <a:ext cx="1417320" cy="329184"/>
          </a:xfrm>
          <a:prstGeom prst="rect">
            <a:avLst/>
          </a:prstGeom>
          <a:solidFill>
            <a:srgbClr val="0B1F3A"/>
          </a:solidFill>
          <a:ln>
            <a:solidFill>
              <a:srgbClr val="0B1F3A">
                <a:alpha val="0"/>
              </a:srgbClr>
            </a:solidFill>
          </a:ln>
        </p:spPr>
        <p:txBody>
          <a:bodyPr wrap="square" lIns="1016" tIns="1016" rIns="1016" bIns="1016" rtlCol="0" anchor="ctr">
            <a:normAutofit/>
          </a:bodyPr>
          <a:lstStyle/>
          <a:p>
            <a:pPr algn="ctr" indent="0" marL="0">
              <a:buNone/>
            </a:pPr>
            <a:r>
              <a:rPr lang="en-US" sz="800" b="1" dirty="0">
                <a:solidFill>
                  <a:srgbClr val="FFFFFF"/>
                </a:solidFill>
                <a:latin typeface="Yu Gothic" pitchFamily="34" charset="0"/>
                <a:ea typeface="Yu Gothic" pitchFamily="34" charset="-122"/>
                <a:cs typeface="Yu Gothic" pitchFamily="34" charset="-120"/>
              </a:rPr>
              <a:t>61–120日</a:t>
            </a:r>
            <a:endParaRPr lang="en-US" sz="800" dirty="0"/>
          </a:p>
        </p:txBody>
      </p:sp>
      <p:sp>
        <p:nvSpPr>
          <p:cNvPr id="10" name="Text 8"/>
          <p:cNvSpPr/>
          <p:nvPr/>
        </p:nvSpPr>
        <p:spPr>
          <a:xfrm>
            <a:off x="9372600" y="1627632"/>
            <a:ext cx="1417320" cy="329184"/>
          </a:xfrm>
          <a:prstGeom prst="rect">
            <a:avLst/>
          </a:prstGeom>
          <a:solidFill>
            <a:srgbClr val="0B1F3A"/>
          </a:solidFill>
          <a:ln>
            <a:solidFill>
              <a:srgbClr val="0B1F3A">
                <a:alpha val="0"/>
              </a:srgbClr>
            </a:solidFill>
          </a:ln>
        </p:spPr>
        <p:txBody>
          <a:bodyPr wrap="square" lIns="1016" tIns="1016" rIns="1016" bIns="1016" rtlCol="0" anchor="ctr">
            <a:normAutofit/>
          </a:bodyPr>
          <a:lstStyle/>
          <a:p>
            <a:pPr algn="ctr" indent="0" marL="0">
              <a:buNone/>
            </a:pPr>
            <a:r>
              <a:rPr lang="en-US" sz="800" b="1" dirty="0">
                <a:solidFill>
                  <a:srgbClr val="FFFFFF"/>
                </a:solidFill>
                <a:latin typeface="Yu Gothic" pitchFamily="34" charset="0"/>
                <a:ea typeface="Yu Gothic" pitchFamily="34" charset="-122"/>
                <a:cs typeface="Yu Gothic" pitchFamily="34" charset="-120"/>
              </a:rPr>
              <a:t>121–252日</a:t>
            </a:r>
            <a:endParaRPr lang="en-US" sz="800" dirty="0"/>
          </a:p>
        </p:txBody>
      </p:sp>
      <p:sp>
        <p:nvSpPr>
          <p:cNvPr id="11" name="Text 9"/>
          <p:cNvSpPr/>
          <p:nvPr/>
        </p:nvSpPr>
        <p:spPr>
          <a:xfrm>
            <a:off x="777240" y="2029968"/>
            <a:ext cx="1600200" cy="402336"/>
          </a:xfrm>
          <a:prstGeom prst="rect">
            <a:avLst/>
          </a:prstGeom>
          <a:solidFill>
            <a:srgbClr val="F1F5F9"/>
          </a:solidFill>
          <a:ln w="12700">
            <a:solidFill>
              <a:srgbClr val="E2E8F0"/>
            </a:solidFill>
          </a:ln>
        </p:spPr>
        <p:txBody>
          <a:bodyPr wrap="square" lIns="1016" tIns="1016" rIns="1016" bIns="1016" rtlCol="0" anchor="ctr">
            <a:normAutofit/>
          </a:bodyPr>
          <a:lstStyle/>
          <a:p>
            <a:pPr algn="l" indent="0" marL="0">
              <a:buNone/>
            </a:pPr>
            <a:r>
              <a:rPr lang="en-US" sz="800" b="1" dirty="0">
                <a:solidFill>
                  <a:srgbClr val="334155"/>
                </a:solidFill>
                <a:latin typeface="Yu Gothic" pitchFamily="34" charset="0"/>
                <a:ea typeface="Yu Gothic" pitchFamily="34" charset="-122"/>
                <a:cs typeface="Yu Gothic" pitchFamily="34" charset="-120"/>
              </a:rPr>
              <a:t>Temporal Importance</a:t>
            </a:r>
            <a:endParaRPr lang="en-US" sz="800" dirty="0"/>
          </a:p>
        </p:txBody>
      </p:sp>
      <p:sp>
        <p:nvSpPr>
          <p:cNvPr id="12" name="Text 10"/>
          <p:cNvSpPr/>
          <p:nvPr/>
        </p:nvSpPr>
        <p:spPr>
          <a:xfrm>
            <a:off x="777240" y="2596896"/>
            <a:ext cx="1600200" cy="402336"/>
          </a:xfrm>
          <a:prstGeom prst="rect">
            <a:avLst/>
          </a:prstGeom>
          <a:solidFill>
            <a:srgbClr val="F1F5F9"/>
          </a:solidFill>
          <a:ln w="12700">
            <a:solidFill>
              <a:srgbClr val="E2E8F0"/>
            </a:solidFill>
          </a:ln>
        </p:spPr>
        <p:txBody>
          <a:bodyPr wrap="square" lIns="1016" tIns="1016" rIns="1016" bIns="1016" rtlCol="0" anchor="ctr">
            <a:normAutofit/>
          </a:bodyPr>
          <a:lstStyle/>
          <a:p>
            <a:pPr algn="l" indent="0" marL="0">
              <a:buNone/>
            </a:pPr>
            <a:r>
              <a:rPr lang="en-US" sz="800" b="1" dirty="0">
                <a:solidFill>
                  <a:srgbClr val="334155"/>
                </a:solidFill>
                <a:latin typeface="Yu Gothic" pitchFamily="34" charset="0"/>
                <a:ea typeface="Yu Gothic" pitchFamily="34" charset="-122"/>
                <a:cs typeface="Yu Gothic" pitchFamily="34" charset="-120"/>
              </a:rPr>
              <a:t>Momentum Evidence</a:t>
            </a:r>
            <a:endParaRPr lang="en-US" sz="800" dirty="0"/>
          </a:p>
        </p:txBody>
      </p:sp>
      <p:sp>
        <p:nvSpPr>
          <p:cNvPr id="13" name="Text 11"/>
          <p:cNvSpPr/>
          <p:nvPr/>
        </p:nvSpPr>
        <p:spPr>
          <a:xfrm>
            <a:off x="777240" y="3163824"/>
            <a:ext cx="1600200" cy="402336"/>
          </a:xfrm>
          <a:prstGeom prst="rect">
            <a:avLst/>
          </a:prstGeom>
          <a:solidFill>
            <a:srgbClr val="F1F5F9"/>
          </a:solidFill>
          <a:ln w="12700">
            <a:solidFill>
              <a:srgbClr val="E2E8F0"/>
            </a:solidFill>
          </a:ln>
        </p:spPr>
        <p:txBody>
          <a:bodyPr wrap="square" lIns="1016" tIns="1016" rIns="1016" bIns="1016" rtlCol="0" anchor="ctr">
            <a:normAutofit/>
          </a:bodyPr>
          <a:lstStyle/>
          <a:p>
            <a:pPr algn="l" indent="0" marL="0">
              <a:buNone/>
            </a:pPr>
            <a:r>
              <a:rPr lang="en-US" sz="800" b="1" dirty="0">
                <a:solidFill>
                  <a:srgbClr val="334155"/>
                </a:solidFill>
                <a:latin typeface="Yu Gothic" pitchFamily="34" charset="0"/>
                <a:ea typeface="Yu Gothic" pitchFamily="34" charset="-122"/>
                <a:cs typeface="Yu Gothic" pitchFamily="34" charset="-120"/>
              </a:rPr>
              <a:t>Trend Structure</a:t>
            </a:r>
            <a:endParaRPr lang="en-US" sz="800" dirty="0"/>
          </a:p>
        </p:txBody>
      </p:sp>
      <p:sp>
        <p:nvSpPr>
          <p:cNvPr id="14" name="Text 12"/>
          <p:cNvSpPr/>
          <p:nvPr/>
        </p:nvSpPr>
        <p:spPr>
          <a:xfrm>
            <a:off x="777240" y="3730752"/>
            <a:ext cx="1600200" cy="402336"/>
          </a:xfrm>
          <a:prstGeom prst="rect">
            <a:avLst/>
          </a:prstGeom>
          <a:solidFill>
            <a:srgbClr val="F1F5F9"/>
          </a:solidFill>
          <a:ln w="12700">
            <a:solidFill>
              <a:srgbClr val="E2E8F0"/>
            </a:solidFill>
          </a:ln>
        </p:spPr>
        <p:txBody>
          <a:bodyPr wrap="square" lIns="1016" tIns="1016" rIns="1016" bIns="1016" rtlCol="0" anchor="ctr">
            <a:normAutofit/>
          </a:bodyPr>
          <a:lstStyle/>
          <a:p>
            <a:pPr algn="l" indent="0" marL="0">
              <a:buNone/>
            </a:pPr>
            <a:r>
              <a:rPr lang="en-US" sz="800" b="1" dirty="0">
                <a:solidFill>
                  <a:srgbClr val="334155"/>
                </a:solidFill>
                <a:latin typeface="Yu Gothic" pitchFamily="34" charset="0"/>
                <a:ea typeface="Yu Gothic" pitchFamily="34" charset="-122"/>
                <a:cs typeface="Yu Gothic" pitchFamily="34" charset="-120"/>
              </a:rPr>
              <a:t>Volatility State</a:t>
            </a:r>
            <a:endParaRPr lang="en-US" sz="800" dirty="0"/>
          </a:p>
        </p:txBody>
      </p:sp>
      <p:sp>
        <p:nvSpPr>
          <p:cNvPr id="15" name="Text 13"/>
          <p:cNvSpPr/>
          <p:nvPr/>
        </p:nvSpPr>
        <p:spPr>
          <a:xfrm>
            <a:off x="2606040" y="2029968"/>
            <a:ext cx="1417320" cy="402336"/>
          </a:xfrm>
          <a:prstGeom prst="rect">
            <a:avLst/>
          </a:prstGeom>
          <a:solidFill>
            <a:srgbClr val="F1F5F9"/>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8%</a:t>
            </a:r>
            <a:endParaRPr lang="en-US" sz="800" dirty="0"/>
          </a:p>
        </p:txBody>
      </p:sp>
      <p:sp>
        <p:nvSpPr>
          <p:cNvPr id="16" name="Text 14"/>
          <p:cNvSpPr/>
          <p:nvPr/>
        </p:nvSpPr>
        <p:spPr>
          <a:xfrm>
            <a:off x="4297680" y="2029968"/>
            <a:ext cx="1417320" cy="402336"/>
          </a:xfrm>
          <a:prstGeom prst="rect">
            <a:avLst/>
          </a:prstGeom>
          <a:solidFill>
            <a:srgbClr val="E0F2FE"/>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17%</a:t>
            </a:r>
            <a:endParaRPr lang="en-US" sz="800" dirty="0"/>
          </a:p>
        </p:txBody>
      </p:sp>
      <p:sp>
        <p:nvSpPr>
          <p:cNvPr id="17" name="Text 15"/>
          <p:cNvSpPr/>
          <p:nvPr/>
        </p:nvSpPr>
        <p:spPr>
          <a:xfrm>
            <a:off x="5989320" y="2029968"/>
            <a:ext cx="1417320" cy="402336"/>
          </a:xfrm>
          <a:prstGeom prst="rect">
            <a:avLst/>
          </a:prstGeom>
          <a:solidFill>
            <a:srgbClr val="EDE9FE"/>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41%</a:t>
            </a:r>
            <a:endParaRPr lang="en-US" sz="800" dirty="0"/>
          </a:p>
        </p:txBody>
      </p:sp>
      <p:sp>
        <p:nvSpPr>
          <p:cNvPr id="18" name="Text 16"/>
          <p:cNvSpPr/>
          <p:nvPr/>
        </p:nvSpPr>
        <p:spPr>
          <a:xfrm>
            <a:off x="7680960" y="2029968"/>
            <a:ext cx="1417320" cy="402336"/>
          </a:xfrm>
          <a:prstGeom prst="rect">
            <a:avLst/>
          </a:prstGeom>
          <a:solidFill>
            <a:srgbClr val="DBEAFE"/>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24%</a:t>
            </a:r>
            <a:endParaRPr lang="en-US" sz="800" dirty="0"/>
          </a:p>
        </p:txBody>
      </p:sp>
      <p:sp>
        <p:nvSpPr>
          <p:cNvPr id="19" name="Text 17"/>
          <p:cNvSpPr/>
          <p:nvPr/>
        </p:nvSpPr>
        <p:spPr>
          <a:xfrm>
            <a:off x="9372600" y="2029968"/>
            <a:ext cx="1417320" cy="402336"/>
          </a:xfrm>
          <a:prstGeom prst="rect">
            <a:avLst/>
          </a:prstGeom>
          <a:solidFill>
            <a:srgbClr val="F1F5F9"/>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10%</a:t>
            </a:r>
            <a:endParaRPr lang="en-US" sz="800" dirty="0"/>
          </a:p>
        </p:txBody>
      </p:sp>
      <p:sp>
        <p:nvSpPr>
          <p:cNvPr id="20" name="Text 18"/>
          <p:cNvSpPr/>
          <p:nvPr/>
        </p:nvSpPr>
        <p:spPr>
          <a:xfrm>
            <a:off x="2606040" y="2596896"/>
            <a:ext cx="1417320" cy="402336"/>
          </a:xfrm>
          <a:prstGeom prst="rect">
            <a:avLst/>
          </a:prstGeom>
          <a:solidFill>
            <a:srgbClr val="F1F5F9"/>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Neutral</a:t>
            </a:r>
            <a:endParaRPr lang="en-US" sz="800" dirty="0"/>
          </a:p>
        </p:txBody>
      </p:sp>
      <p:sp>
        <p:nvSpPr>
          <p:cNvPr id="21" name="Text 19"/>
          <p:cNvSpPr/>
          <p:nvPr/>
        </p:nvSpPr>
        <p:spPr>
          <a:xfrm>
            <a:off x="4297680" y="2596896"/>
            <a:ext cx="1417320" cy="402336"/>
          </a:xfrm>
          <a:prstGeom prst="rect">
            <a:avLst/>
          </a:prstGeom>
          <a:solidFill>
            <a:srgbClr val="D1FAE5"/>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Bullish</a:t>
            </a:r>
            <a:endParaRPr lang="en-US" sz="800" dirty="0"/>
          </a:p>
        </p:txBody>
      </p:sp>
      <p:sp>
        <p:nvSpPr>
          <p:cNvPr id="22" name="Text 20"/>
          <p:cNvSpPr/>
          <p:nvPr/>
        </p:nvSpPr>
        <p:spPr>
          <a:xfrm>
            <a:off x="5989320" y="2596896"/>
            <a:ext cx="1417320" cy="402336"/>
          </a:xfrm>
          <a:prstGeom prst="rect">
            <a:avLst/>
          </a:prstGeom>
          <a:solidFill>
            <a:srgbClr val="10B981"/>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FFFFFF"/>
                </a:solidFill>
                <a:latin typeface="Yu Gothic" pitchFamily="34" charset="0"/>
                <a:ea typeface="Yu Gothic" pitchFamily="34" charset="-122"/>
                <a:cs typeface="Yu Gothic" pitchFamily="34" charset="-120"/>
              </a:rPr>
              <a:t>Strong</a:t>
            </a:r>
            <a:endParaRPr lang="en-US" sz="800" dirty="0"/>
          </a:p>
        </p:txBody>
      </p:sp>
      <p:sp>
        <p:nvSpPr>
          <p:cNvPr id="23" name="Text 21"/>
          <p:cNvSpPr/>
          <p:nvPr/>
        </p:nvSpPr>
        <p:spPr>
          <a:xfrm>
            <a:off x="7680960" y="2596896"/>
            <a:ext cx="1417320" cy="402336"/>
          </a:xfrm>
          <a:prstGeom prst="rect">
            <a:avLst/>
          </a:prstGeom>
          <a:solidFill>
            <a:srgbClr val="D1FAE5"/>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Bullish</a:t>
            </a:r>
            <a:endParaRPr lang="en-US" sz="800" dirty="0"/>
          </a:p>
        </p:txBody>
      </p:sp>
      <p:sp>
        <p:nvSpPr>
          <p:cNvPr id="24" name="Text 22"/>
          <p:cNvSpPr/>
          <p:nvPr/>
        </p:nvSpPr>
        <p:spPr>
          <a:xfrm>
            <a:off x="9372600" y="2596896"/>
            <a:ext cx="1417320" cy="402336"/>
          </a:xfrm>
          <a:prstGeom prst="rect">
            <a:avLst/>
          </a:prstGeom>
          <a:solidFill>
            <a:srgbClr val="F1F5F9"/>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Neutral</a:t>
            </a:r>
            <a:endParaRPr lang="en-US" sz="800" dirty="0"/>
          </a:p>
        </p:txBody>
      </p:sp>
      <p:sp>
        <p:nvSpPr>
          <p:cNvPr id="25" name="Text 23"/>
          <p:cNvSpPr/>
          <p:nvPr/>
        </p:nvSpPr>
        <p:spPr>
          <a:xfrm>
            <a:off x="2606040" y="3163824"/>
            <a:ext cx="1417320" cy="402336"/>
          </a:xfrm>
          <a:prstGeom prst="rect">
            <a:avLst/>
          </a:prstGeom>
          <a:solidFill>
            <a:srgbClr val="FEE2E2"/>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Weak</a:t>
            </a:r>
            <a:endParaRPr lang="en-US" sz="800" dirty="0"/>
          </a:p>
        </p:txBody>
      </p:sp>
      <p:sp>
        <p:nvSpPr>
          <p:cNvPr id="26" name="Text 24"/>
          <p:cNvSpPr/>
          <p:nvPr/>
        </p:nvSpPr>
        <p:spPr>
          <a:xfrm>
            <a:off x="4297680" y="3163824"/>
            <a:ext cx="1417320" cy="402336"/>
          </a:xfrm>
          <a:prstGeom prst="rect">
            <a:avLst/>
          </a:prstGeom>
          <a:solidFill>
            <a:srgbClr val="F1F5F9"/>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Neutral</a:t>
            </a:r>
            <a:endParaRPr lang="en-US" sz="800" dirty="0"/>
          </a:p>
        </p:txBody>
      </p:sp>
      <p:sp>
        <p:nvSpPr>
          <p:cNvPr id="27" name="Text 25"/>
          <p:cNvSpPr/>
          <p:nvPr/>
        </p:nvSpPr>
        <p:spPr>
          <a:xfrm>
            <a:off x="5989320" y="3163824"/>
            <a:ext cx="1417320" cy="402336"/>
          </a:xfrm>
          <a:prstGeom prst="rect">
            <a:avLst/>
          </a:prstGeom>
          <a:solidFill>
            <a:srgbClr val="10B981"/>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FFFFFF"/>
                </a:solidFill>
                <a:latin typeface="Yu Gothic" pitchFamily="34" charset="0"/>
                <a:ea typeface="Yu Gothic" pitchFamily="34" charset="-122"/>
                <a:cs typeface="Yu Gothic" pitchFamily="34" charset="-120"/>
              </a:rPr>
              <a:t>Strong</a:t>
            </a:r>
            <a:endParaRPr lang="en-US" sz="800" dirty="0"/>
          </a:p>
        </p:txBody>
      </p:sp>
      <p:sp>
        <p:nvSpPr>
          <p:cNvPr id="28" name="Text 26"/>
          <p:cNvSpPr/>
          <p:nvPr/>
        </p:nvSpPr>
        <p:spPr>
          <a:xfrm>
            <a:off x="7680960" y="3163824"/>
            <a:ext cx="1417320" cy="402336"/>
          </a:xfrm>
          <a:prstGeom prst="rect">
            <a:avLst/>
          </a:prstGeom>
          <a:solidFill>
            <a:srgbClr val="D1FAE5"/>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Strong</a:t>
            </a:r>
            <a:endParaRPr lang="en-US" sz="800" dirty="0"/>
          </a:p>
        </p:txBody>
      </p:sp>
      <p:sp>
        <p:nvSpPr>
          <p:cNvPr id="29" name="Text 27"/>
          <p:cNvSpPr/>
          <p:nvPr/>
        </p:nvSpPr>
        <p:spPr>
          <a:xfrm>
            <a:off x="9372600" y="3163824"/>
            <a:ext cx="1417320" cy="402336"/>
          </a:xfrm>
          <a:prstGeom prst="rect">
            <a:avLst/>
          </a:prstGeom>
          <a:solidFill>
            <a:srgbClr val="D1FAE5"/>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Bullish</a:t>
            </a:r>
            <a:endParaRPr lang="en-US" sz="800" dirty="0"/>
          </a:p>
        </p:txBody>
      </p:sp>
      <p:sp>
        <p:nvSpPr>
          <p:cNvPr id="30" name="Text 28"/>
          <p:cNvSpPr/>
          <p:nvPr/>
        </p:nvSpPr>
        <p:spPr>
          <a:xfrm>
            <a:off x="2606040" y="3730752"/>
            <a:ext cx="1417320" cy="402336"/>
          </a:xfrm>
          <a:prstGeom prst="rect">
            <a:avLst/>
          </a:prstGeom>
          <a:solidFill>
            <a:srgbClr val="D1FAE5"/>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Calm</a:t>
            </a:r>
            <a:endParaRPr lang="en-US" sz="800" dirty="0"/>
          </a:p>
        </p:txBody>
      </p:sp>
      <p:sp>
        <p:nvSpPr>
          <p:cNvPr id="31" name="Text 29"/>
          <p:cNvSpPr/>
          <p:nvPr/>
        </p:nvSpPr>
        <p:spPr>
          <a:xfrm>
            <a:off x="4297680" y="3730752"/>
            <a:ext cx="1417320" cy="402336"/>
          </a:xfrm>
          <a:prstGeom prst="rect">
            <a:avLst/>
          </a:prstGeom>
          <a:solidFill>
            <a:srgbClr val="F1F5F9"/>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Neutral</a:t>
            </a:r>
            <a:endParaRPr lang="en-US" sz="800" dirty="0"/>
          </a:p>
        </p:txBody>
      </p:sp>
      <p:sp>
        <p:nvSpPr>
          <p:cNvPr id="32" name="Text 30"/>
          <p:cNvSpPr/>
          <p:nvPr/>
        </p:nvSpPr>
        <p:spPr>
          <a:xfrm>
            <a:off x="5989320" y="3730752"/>
            <a:ext cx="1417320" cy="402336"/>
          </a:xfrm>
          <a:prstGeom prst="rect">
            <a:avLst/>
          </a:prstGeom>
          <a:solidFill>
            <a:srgbClr val="F1F5F9"/>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Neutral</a:t>
            </a:r>
            <a:endParaRPr lang="en-US" sz="800" dirty="0"/>
          </a:p>
        </p:txBody>
      </p:sp>
      <p:sp>
        <p:nvSpPr>
          <p:cNvPr id="33" name="Text 31"/>
          <p:cNvSpPr/>
          <p:nvPr/>
        </p:nvSpPr>
        <p:spPr>
          <a:xfrm>
            <a:off x="7680960" y="3730752"/>
            <a:ext cx="1417320" cy="402336"/>
          </a:xfrm>
          <a:prstGeom prst="rect">
            <a:avLst/>
          </a:prstGeom>
          <a:solidFill>
            <a:srgbClr val="D1FAE5"/>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Calm</a:t>
            </a:r>
            <a:endParaRPr lang="en-US" sz="800" dirty="0"/>
          </a:p>
        </p:txBody>
      </p:sp>
      <p:sp>
        <p:nvSpPr>
          <p:cNvPr id="34" name="Text 32"/>
          <p:cNvSpPr/>
          <p:nvPr/>
        </p:nvSpPr>
        <p:spPr>
          <a:xfrm>
            <a:off x="9372600" y="3730752"/>
            <a:ext cx="1417320" cy="402336"/>
          </a:xfrm>
          <a:prstGeom prst="rect">
            <a:avLst/>
          </a:prstGeom>
          <a:solidFill>
            <a:srgbClr val="D1FAE5"/>
          </a:solidFill>
          <a:ln w="12700">
            <a:solidFill>
              <a:srgbClr val="E2E8F0"/>
            </a:solidFill>
          </a:ln>
        </p:spPr>
        <p:txBody>
          <a:bodyPr wrap="square" lIns="1016" tIns="1016" rIns="1016" bIns="1016" rtlCol="0" anchor="ctr">
            <a:normAutofit/>
          </a:bodyPr>
          <a:lstStyle/>
          <a:p>
            <a:pPr algn="ctr" indent="0" marL="0">
              <a:buNone/>
            </a:pPr>
            <a:r>
              <a:rPr lang="en-US" sz="800" b="1" dirty="0">
                <a:solidFill>
                  <a:srgbClr val="334155"/>
                </a:solidFill>
                <a:latin typeface="Yu Gothic" pitchFamily="34" charset="0"/>
                <a:ea typeface="Yu Gothic" pitchFamily="34" charset="-122"/>
                <a:cs typeface="Yu Gothic" pitchFamily="34" charset="-120"/>
              </a:rPr>
              <a:t>Calm</a:t>
            </a:r>
            <a:endParaRPr lang="en-US" sz="800" dirty="0"/>
          </a:p>
        </p:txBody>
      </p:sp>
      <p:sp>
        <p:nvSpPr>
          <p:cNvPr id="35" name="Text 33"/>
          <p:cNvSpPr/>
          <p:nvPr/>
        </p:nvSpPr>
        <p:spPr>
          <a:xfrm>
            <a:off x="822960" y="4617720"/>
            <a:ext cx="10698480" cy="1051560"/>
          </a:xfrm>
          <a:prstGeom prst="rect">
            <a:avLst/>
          </a:prstGeom>
          <a:solidFill>
            <a:srgbClr val="F8FAFC"/>
          </a:solidFill>
          <a:ln w="12700">
            <a:solidFill>
              <a:srgbClr val="CBD5E1"/>
            </a:solidFill>
          </a:ln>
        </p:spPr>
        <p:txBody>
          <a:bodyPr wrap="square" lIns="1778" tIns="1778" rIns="1778" bIns="1778" rtlCol="0" anchor="ctr">
            <a:normAutofit/>
          </a:bodyPr>
          <a:lstStyle/>
          <a:p>
            <a:pPr algn="l" indent="0" marL="0">
              <a:buNone/>
            </a:pPr>
            <a:r>
              <a:rPr lang="en-US" sz="1100" dirty="0">
                <a:solidFill>
                  <a:srgbClr val="0B1F3A"/>
                </a:solidFill>
                <a:latin typeface="Yu Gothic" pitchFamily="34" charset="0"/>
                <a:ea typeface="Yu Gothic" pitchFamily="34" charset="-122"/>
                <a:cs typeface="Yu Gothic" pitchFamily="34" charset="-120"/>
              </a:rPr>
              <a:t>解釈</a:t>
            </a:r>
            <a:endParaRPr lang="en-US" sz="1100" dirty="0"/>
          </a:p>
          <a:p>
            <a:pPr algn="l" indent="0" marL="0">
              <a:buNone/>
            </a:pPr>
            <a:endParaRPr lang="en-US" sz="1100" dirty="0"/>
          </a:p>
          <a:p>
            <a:pPr algn="l" indent="0" marL="0">
              <a:buNone/>
            </a:pPr>
            <a:r>
              <a:rPr lang="en-US" sz="1100" dirty="0">
                <a:solidFill>
                  <a:srgbClr val="0B1F3A"/>
                </a:solidFill>
                <a:latin typeface="Yu Gothic" pitchFamily="34" charset="0"/>
                <a:ea typeface="Yu Gothic" pitchFamily="34" charset="-122"/>
                <a:cs typeface="Yu Gothic" pitchFamily="34" charset="-120"/>
              </a:rPr>
              <a:t>モデルは21–120日の期間を重視。</a:t>
            </a:r>
            <a:endParaRPr lang="en-US" sz="1100" dirty="0"/>
          </a:p>
          <a:p>
            <a:pPr algn="l" indent="0" marL="0">
              <a:buNone/>
            </a:pPr>
            <a:r>
              <a:rPr lang="en-US" sz="1100" dirty="0">
                <a:solidFill>
                  <a:srgbClr val="0B1F3A"/>
                </a:solidFill>
                <a:latin typeface="Yu Gothic" pitchFamily="34" charset="0"/>
                <a:ea typeface="Yu Gothic" pitchFamily="34" charset="-122"/>
                <a:cs typeface="Yu Gothic" pitchFamily="34" charset="-120"/>
              </a:rPr>
              <a:t>同期間ではMomentumとTrend Structureが強く、Volatilityも過度に悪化していない。</a:t>
            </a:r>
            <a:endParaRPr lang="en-US" sz="1100" dirty="0"/>
          </a:p>
          <a:p>
            <a:pPr algn="l" indent="0" marL="0">
              <a:buNone/>
            </a:pPr>
            <a:r>
              <a:rPr lang="en-US" sz="1100" dirty="0">
                <a:solidFill>
                  <a:srgbClr val="0B1F3A"/>
                </a:solidFill>
                <a:latin typeface="Yu Gothic" pitchFamily="34" charset="0"/>
                <a:ea typeface="Yu Gothic" pitchFamily="34" charset="-122"/>
                <a:cs typeface="Yu Gothic" pitchFamily="34" charset="-120"/>
              </a:rPr>
              <a:t>→ Transformerは中期Persistenceを根拠にBullishと判断した可能性が高い。</a:t>
            </a:r>
            <a:endParaRPr lang="en-US" sz="1100" dirty="0"/>
          </a:p>
        </p:txBody>
      </p:sp>
      <p:sp>
        <p:nvSpPr>
          <p:cNvPr id="36" name="Text 34"/>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37" name="Text 35"/>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Step 6：最終スコアをポートフォリオへ変換する</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予測スコアをそのまま売買せず、リスク・衝突・コストを反映する</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685800" y="1417320"/>
            <a:ext cx="1874520" cy="868680"/>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50" dirty="0">
                <a:solidFill>
                  <a:srgbClr val="334155"/>
                </a:solidFill>
                <a:latin typeface="Yu Gothic" pitchFamily="34" charset="0"/>
                <a:ea typeface="Yu Gothic" pitchFamily="34" charset="-122"/>
                <a:cs typeface="Yu Gothic" pitchFamily="34" charset="-120"/>
              </a:rPr>
              <a:t>Mechanism Score</a:t>
            </a:r>
            <a:endParaRPr lang="en-US" sz="950" dirty="0"/>
          </a:p>
          <a:p>
            <a:pPr algn="ctr" indent="0" marL="0">
              <a:buNone/>
            </a:pPr>
            <a:r>
              <a:rPr lang="en-US" sz="950" dirty="0">
                <a:solidFill>
                  <a:srgbClr val="334155"/>
                </a:solidFill>
                <a:latin typeface="Yu Gothic" pitchFamily="34" charset="0"/>
                <a:ea typeface="Yu Gothic" pitchFamily="34" charset="-122"/>
                <a:cs typeface="Yu Gothic" pitchFamily="34" charset="-120"/>
              </a:rPr>
              <a:t>各仮説の方向 × 強度 × 信頼度</a:t>
            </a:r>
            <a:endParaRPr lang="en-US" sz="950" dirty="0"/>
          </a:p>
        </p:txBody>
      </p:sp>
      <p:sp>
        <p:nvSpPr>
          <p:cNvPr id="6" name="Shape 4"/>
          <p:cNvSpPr/>
          <p:nvPr/>
        </p:nvSpPr>
        <p:spPr>
          <a:xfrm>
            <a:off x="2587752" y="1856232"/>
            <a:ext cx="365760" cy="0"/>
          </a:xfrm>
          <a:prstGeom prst="line">
            <a:avLst/>
          </a:prstGeom>
          <a:noFill/>
          <a:ln w="12700">
            <a:solidFill>
              <a:srgbClr val="64748B"/>
            </a:solidFill>
            <a:prstDash val="solid"/>
            <a:headEnd type="none"/>
            <a:tailEnd type="triangle"/>
          </a:ln>
        </p:spPr>
      </p:sp>
      <p:sp>
        <p:nvSpPr>
          <p:cNvPr id="7" name="Text 5"/>
          <p:cNvSpPr/>
          <p:nvPr/>
        </p:nvSpPr>
        <p:spPr>
          <a:xfrm>
            <a:off x="3017520" y="1417320"/>
            <a:ext cx="1874520" cy="868680"/>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50" dirty="0">
                <a:solidFill>
                  <a:srgbClr val="334155"/>
                </a:solidFill>
                <a:latin typeface="Yu Gothic" pitchFamily="34" charset="0"/>
                <a:ea typeface="Yu Gothic" pitchFamily="34" charset="-122"/>
                <a:cs typeface="Yu Gothic" pitchFamily="34" charset="-120"/>
              </a:rPr>
              <a:t>Final Alpha</a:t>
            </a:r>
            <a:endParaRPr lang="en-US" sz="950" dirty="0"/>
          </a:p>
          <a:p>
            <a:pPr algn="ctr" indent="0" marL="0">
              <a:buNone/>
            </a:pPr>
            <a:r>
              <a:rPr lang="en-US" sz="950" dirty="0">
                <a:solidFill>
                  <a:srgbClr val="334155"/>
                </a:solidFill>
                <a:latin typeface="Yu Gothic" pitchFamily="34" charset="0"/>
                <a:ea typeface="Yu Gothic" pitchFamily="34" charset="-122"/>
                <a:cs typeface="Yu Gothic" pitchFamily="34" charset="-120"/>
              </a:rPr>
              <a:t>動的アンサンブル後の12市場スコア</a:t>
            </a:r>
            <a:endParaRPr lang="en-US" sz="950" dirty="0"/>
          </a:p>
        </p:txBody>
      </p:sp>
      <p:sp>
        <p:nvSpPr>
          <p:cNvPr id="8" name="Shape 6"/>
          <p:cNvSpPr/>
          <p:nvPr/>
        </p:nvSpPr>
        <p:spPr>
          <a:xfrm>
            <a:off x="4919472" y="1856232"/>
            <a:ext cx="365760" cy="0"/>
          </a:xfrm>
          <a:prstGeom prst="line">
            <a:avLst/>
          </a:prstGeom>
          <a:noFill/>
          <a:ln w="12700">
            <a:solidFill>
              <a:srgbClr val="64748B"/>
            </a:solidFill>
            <a:prstDash val="solid"/>
            <a:headEnd type="none"/>
            <a:tailEnd type="triangle"/>
          </a:ln>
        </p:spPr>
      </p:sp>
      <p:sp>
        <p:nvSpPr>
          <p:cNvPr id="9" name="Text 7"/>
          <p:cNvSpPr/>
          <p:nvPr/>
        </p:nvSpPr>
        <p:spPr>
          <a:xfrm>
            <a:off x="5349240" y="1417320"/>
            <a:ext cx="1874520" cy="868680"/>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50" dirty="0">
                <a:solidFill>
                  <a:srgbClr val="334155"/>
                </a:solidFill>
                <a:latin typeface="Yu Gothic" pitchFamily="34" charset="0"/>
                <a:ea typeface="Yu Gothic" pitchFamily="34" charset="-122"/>
                <a:cs typeface="Yu Gothic" pitchFamily="34" charset="-120"/>
              </a:rPr>
              <a:t>Risk Scaling</a:t>
            </a:r>
            <a:endParaRPr lang="en-US" sz="950" dirty="0"/>
          </a:p>
          <a:p>
            <a:pPr algn="ctr" indent="0" marL="0">
              <a:buNone/>
            </a:pPr>
            <a:r>
              <a:rPr lang="en-US" sz="950" dirty="0">
                <a:solidFill>
                  <a:srgbClr val="334155"/>
                </a:solidFill>
                <a:latin typeface="Yu Gothic" pitchFamily="34" charset="0"/>
                <a:ea typeface="Yu Gothic" pitchFamily="34" charset="-122"/>
                <a:cs typeface="Yu Gothic" pitchFamily="34" charset="-120"/>
              </a:rPr>
              <a:t>ボラターゲット・ストレス調整</a:t>
            </a:r>
            <a:endParaRPr lang="en-US" sz="950" dirty="0"/>
          </a:p>
        </p:txBody>
      </p:sp>
      <p:sp>
        <p:nvSpPr>
          <p:cNvPr id="10" name="Shape 8"/>
          <p:cNvSpPr/>
          <p:nvPr/>
        </p:nvSpPr>
        <p:spPr>
          <a:xfrm>
            <a:off x="7251192" y="1856232"/>
            <a:ext cx="365760" cy="0"/>
          </a:xfrm>
          <a:prstGeom prst="line">
            <a:avLst/>
          </a:prstGeom>
          <a:noFill/>
          <a:ln w="12700">
            <a:solidFill>
              <a:srgbClr val="64748B"/>
            </a:solidFill>
            <a:prstDash val="solid"/>
            <a:headEnd type="none"/>
            <a:tailEnd type="triangle"/>
          </a:ln>
        </p:spPr>
      </p:sp>
      <p:sp>
        <p:nvSpPr>
          <p:cNvPr id="11" name="Text 9"/>
          <p:cNvSpPr/>
          <p:nvPr/>
        </p:nvSpPr>
        <p:spPr>
          <a:xfrm>
            <a:off x="7680960" y="1417320"/>
            <a:ext cx="1874520" cy="868680"/>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950" dirty="0">
                <a:solidFill>
                  <a:srgbClr val="334155"/>
                </a:solidFill>
                <a:latin typeface="Yu Gothic" pitchFamily="34" charset="0"/>
                <a:ea typeface="Yu Gothic" pitchFamily="34" charset="-122"/>
                <a:cs typeface="Yu Gothic" pitchFamily="34" charset="-120"/>
              </a:rPr>
              <a:t>Constraints</a:t>
            </a:r>
            <a:endParaRPr lang="en-US" sz="950" dirty="0"/>
          </a:p>
          <a:p>
            <a:pPr algn="ctr" indent="0" marL="0">
              <a:buNone/>
            </a:pPr>
            <a:r>
              <a:rPr lang="en-US" sz="950" dirty="0">
                <a:solidFill>
                  <a:srgbClr val="334155"/>
                </a:solidFill>
                <a:latin typeface="Yu Gothic" pitchFamily="34" charset="0"/>
                <a:ea typeface="Yu Gothic" pitchFamily="34" charset="-122"/>
                <a:cs typeface="Yu Gothic" pitchFamily="34" charset="-120"/>
              </a:rPr>
              <a:t>地域上限・Turnover・流動性</a:t>
            </a:r>
            <a:endParaRPr lang="en-US" sz="950" dirty="0"/>
          </a:p>
        </p:txBody>
      </p:sp>
      <p:sp>
        <p:nvSpPr>
          <p:cNvPr id="12" name="Shape 10"/>
          <p:cNvSpPr/>
          <p:nvPr/>
        </p:nvSpPr>
        <p:spPr>
          <a:xfrm>
            <a:off x="9582912" y="1856232"/>
            <a:ext cx="365760" cy="0"/>
          </a:xfrm>
          <a:prstGeom prst="line">
            <a:avLst/>
          </a:prstGeom>
          <a:noFill/>
          <a:ln w="12700">
            <a:solidFill>
              <a:srgbClr val="64748B"/>
            </a:solidFill>
            <a:prstDash val="solid"/>
            <a:headEnd type="none"/>
            <a:tailEnd type="triangle"/>
          </a:ln>
        </p:spPr>
      </p:sp>
      <p:sp>
        <p:nvSpPr>
          <p:cNvPr id="13" name="Text 11"/>
          <p:cNvSpPr/>
          <p:nvPr/>
        </p:nvSpPr>
        <p:spPr>
          <a:xfrm>
            <a:off x="10012680" y="1417320"/>
            <a:ext cx="1874520" cy="868680"/>
          </a:xfrm>
          <a:prstGeom prst="rect">
            <a:avLst/>
          </a:prstGeom>
          <a:solidFill>
            <a:srgbClr val="0B1F3A"/>
          </a:solidFill>
          <a:ln w="12700">
            <a:solidFill>
              <a:srgbClr val="CBD5E1"/>
            </a:solidFill>
          </a:ln>
        </p:spPr>
        <p:txBody>
          <a:bodyPr wrap="square" lIns="1016" tIns="1016" rIns="1016" bIns="1016" rtlCol="0" anchor="ctr">
            <a:normAutofit/>
          </a:bodyPr>
          <a:lstStyle/>
          <a:p>
            <a:pPr algn="ctr" indent="0" marL="0">
              <a:buNone/>
            </a:pPr>
            <a:r>
              <a:rPr lang="en-US" sz="950" b="1" dirty="0">
                <a:solidFill>
                  <a:srgbClr val="FFFFFF"/>
                </a:solidFill>
                <a:latin typeface="Yu Gothic" pitchFamily="34" charset="0"/>
                <a:ea typeface="Yu Gothic" pitchFamily="34" charset="-122"/>
                <a:cs typeface="Yu Gothic" pitchFamily="34" charset="-120"/>
              </a:rPr>
              <a:t>Portfolio</a:t>
            </a:r>
            <a:endParaRPr lang="en-US" sz="950" dirty="0"/>
          </a:p>
          <a:p>
            <a:pPr algn="ctr" indent="0" marL="0">
              <a:buNone/>
            </a:pPr>
            <a:r>
              <a:rPr lang="en-US" sz="950" b="1" dirty="0">
                <a:solidFill>
                  <a:srgbClr val="FFFFFF"/>
                </a:solidFill>
                <a:latin typeface="Yu Gothic" pitchFamily="34" charset="0"/>
                <a:ea typeface="Yu Gothic" pitchFamily="34" charset="-122"/>
                <a:cs typeface="Yu Gothic" pitchFamily="34" charset="-120"/>
              </a:rPr>
              <a:t>12指数先物ウェイト</a:t>
            </a:r>
            <a:endParaRPr lang="en-US" sz="950" dirty="0"/>
          </a:p>
        </p:txBody>
      </p:sp>
      <p:sp>
        <p:nvSpPr>
          <p:cNvPr id="14" name="Text 12"/>
          <p:cNvSpPr/>
          <p:nvPr/>
        </p:nvSpPr>
        <p:spPr>
          <a:xfrm>
            <a:off x="1097280" y="3108960"/>
            <a:ext cx="9875520" cy="502920"/>
          </a:xfrm>
          <a:prstGeom prst="rect">
            <a:avLst/>
          </a:prstGeom>
          <a:solidFill>
            <a:srgbClr val="DBEAFE"/>
          </a:solidFill>
          <a:ln w="12700">
            <a:solidFill>
              <a:srgbClr val="2563EB"/>
            </a:solidFill>
          </a:ln>
        </p:spPr>
        <p:txBody>
          <a:bodyPr wrap="square" lIns="1016" tIns="1016" rIns="1016" bIns="1016" rtlCol="0" anchor="ctr">
            <a:normAutofit/>
          </a:bodyPr>
          <a:lstStyle/>
          <a:p>
            <a:pPr algn="ctr" indent="0" marL="0">
              <a:buNone/>
            </a:pPr>
            <a:r>
              <a:rPr lang="en-US" sz="1600" b="1" dirty="0">
                <a:solidFill>
                  <a:srgbClr val="2563EB"/>
                </a:solidFill>
                <a:latin typeface="Yu Gothic" pitchFamily="34" charset="0"/>
                <a:ea typeface="Yu Gothic" pitchFamily="34" charset="-122"/>
                <a:cs typeface="Yu Gothic" pitchFamily="34" charset="-120"/>
              </a:rPr>
              <a:t>Aᵢ,t = Σₑ Wₑ,t × Confidenceᵢ,e,t × Scoreᵢ,e,t</a:t>
            </a:r>
            <a:endParaRPr lang="en-US" sz="1600" dirty="0"/>
          </a:p>
        </p:txBody>
      </p:sp>
      <p:sp>
        <p:nvSpPr>
          <p:cNvPr id="15" name="Text 13"/>
          <p:cNvSpPr/>
          <p:nvPr/>
        </p:nvSpPr>
        <p:spPr>
          <a:xfrm>
            <a:off x="868680" y="4251960"/>
            <a:ext cx="2331720" cy="868680"/>
          </a:xfrm>
          <a:prstGeom prst="rect">
            <a:avLst/>
          </a:prstGeom>
          <a:solidFill>
            <a:srgbClr val="F8FAFC"/>
          </a:solidFill>
          <a:ln w="12700">
            <a:solidFill>
              <a:srgbClr val="CBD5E1"/>
            </a:solidFill>
          </a:ln>
        </p:spPr>
        <p:txBody>
          <a:bodyPr wrap="square" lIns="1016" tIns="1016" rIns="1016" bIns="1016" rtlCol="0" anchor="ctr">
            <a:normAutofit/>
          </a:bodyPr>
          <a:lstStyle/>
          <a:p>
            <a:pPr algn="ctr" indent="0" marL="0">
              <a:buNone/>
            </a:pPr>
            <a:r>
              <a:rPr lang="en-US" sz="880" b="1" dirty="0">
                <a:solidFill>
                  <a:srgbClr val="334155"/>
                </a:solidFill>
                <a:latin typeface="Yu Gothic" pitchFamily="34" charset="0"/>
                <a:ea typeface="Yu Gothic" pitchFamily="34" charset="-122"/>
                <a:cs typeface="Yu Gothic" pitchFamily="34" charset="-120"/>
              </a:rPr>
              <a:t>Conflict Penalty</a:t>
            </a:r>
            <a:endParaRPr lang="en-US" sz="880" dirty="0"/>
          </a:p>
          <a:p>
            <a:pPr algn="ctr" indent="0" marL="0">
              <a:buNone/>
            </a:pPr>
            <a:r>
              <a:rPr lang="en-US" sz="880" b="1" dirty="0">
                <a:solidFill>
                  <a:srgbClr val="334155"/>
                </a:solidFill>
                <a:latin typeface="Yu Gothic" pitchFamily="34" charset="0"/>
                <a:ea typeface="Yu Gothic" pitchFamily="34" charset="-122"/>
                <a:cs typeface="Yu Gothic" pitchFamily="34" charset="-120"/>
              </a:rPr>
              <a:t>Evidenceが衝突する時はポジションを縮小</a:t>
            </a:r>
            <a:endParaRPr lang="en-US" sz="880" dirty="0"/>
          </a:p>
        </p:txBody>
      </p:sp>
      <p:sp>
        <p:nvSpPr>
          <p:cNvPr id="16" name="Text 14"/>
          <p:cNvSpPr/>
          <p:nvPr/>
        </p:nvSpPr>
        <p:spPr>
          <a:xfrm>
            <a:off x="3657600" y="4251960"/>
            <a:ext cx="2331720" cy="868680"/>
          </a:xfrm>
          <a:prstGeom prst="rect">
            <a:avLst/>
          </a:prstGeom>
          <a:solidFill>
            <a:srgbClr val="F8FAFC"/>
          </a:solidFill>
          <a:ln w="12700">
            <a:solidFill>
              <a:srgbClr val="CBD5E1"/>
            </a:solidFill>
          </a:ln>
        </p:spPr>
        <p:txBody>
          <a:bodyPr wrap="square" lIns="1016" tIns="1016" rIns="1016" bIns="1016" rtlCol="0" anchor="ctr">
            <a:normAutofit/>
          </a:bodyPr>
          <a:lstStyle/>
          <a:p>
            <a:pPr algn="ctr" indent="0" marL="0">
              <a:buNone/>
            </a:pPr>
            <a:r>
              <a:rPr lang="en-US" sz="880" b="1" dirty="0">
                <a:solidFill>
                  <a:srgbClr val="334155"/>
                </a:solidFill>
                <a:latin typeface="Yu Gothic" pitchFamily="34" charset="0"/>
                <a:ea typeface="Yu Gothic" pitchFamily="34" charset="-122"/>
                <a:cs typeface="Yu Gothic" pitchFamily="34" charset="-120"/>
              </a:rPr>
              <a:t>Volatility Target</a:t>
            </a:r>
            <a:endParaRPr lang="en-US" sz="880" dirty="0"/>
          </a:p>
          <a:p>
            <a:pPr algn="ctr" indent="0" marL="0">
              <a:buNone/>
            </a:pPr>
            <a:r>
              <a:rPr lang="en-US" sz="880" b="1" dirty="0">
                <a:solidFill>
                  <a:srgbClr val="334155"/>
                </a:solidFill>
                <a:latin typeface="Yu Gothic" pitchFamily="34" charset="0"/>
                <a:ea typeface="Yu Gothic" pitchFamily="34" charset="-122"/>
                <a:cs typeface="Yu Gothic" pitchFamily="34" charset="-120"/>
              </a:rPr>
              <a:t>高ボラ市場のウェイトを自然に抑制</a:t>
            </a:r>
            <a:endParaRPr lang="en-US" sz="880" dirty="0"/>
          </a:p>
        </p:txBody>
      </p:sp>
      <p:sp>
        <p:nvSpPr>
          <p:cNvPr id="17" name="Text 15"/>
          <p:cNvSpPr/>
          <p:nvPr/>
        </p:nvSpPr>
        <p:spPr>
          <a:xfrm>
            <a:off x="6446520" y="4251960"/>
            <a:ext cx="2331720" cy="868680"/>
          </a:xfrm>
          <a:prstGeom prst="rect">
            <a:avLst/>
          </a:prstGeom>
          <a:solidFill>
            <a:srgbClr val="F8FAFC"/>
          </a:solidFill>
          <a:ln w="12700">
            <a:solidFill>
              <a:srgbClr val="CBD5E1"/>
            </a:solidFill>
          </a:ln>
        </p:spPr>
        <p:txBody>
          <a:bodyPr wrap="square" lIns="1016" tIns="1016" rIns="1016" bIns="1016" rtlCol="0" anchor="ctr">
            <a:normAutofit/>
          </a:bodyPr>
          <a:lstStyle/>
          <a:p>
            <a:pPr algn="ctr" indent="0" marL="0">
              <a:buNone/>
            </a:pPr>
            <a:r>
              <a:rPr lang="en-US" sz="880" b="1" dirty="0">
                <a:solidFill>
                  <a:srgbClr val="334155"/>
                </a:solidFill>
                <a:latin typeface="Yu Gothic" pitchFamily="34" charset="0"/>
                <a:ea typeface="Yu Gothic" pitchFamily="34" charset="-122"/>
                <a:cs typeface="Yu Gothic" pitchFamily="34" charset="-120"/>
              </a:rPr>
              <a:t>Turnover Control</a:t>
            </a:r>
            <a:endParaRPr lang="en-US" sz="880" dirty="0"/>
          </a:p>
          <a:p>
            <a:pPr algn="ctr" indent="0" marL="0">
              <a:buNone/>
            </a:pPr>
            <a:r>
              <a:rPr lang="en-US" sz="880" b="1" dirty="0">
                <a:solidFill>
                  <a:srgbClr val="334155"/>
                </a:solidFill>
                <a:latin typeface="Yu Gothic" pitchFamily="34" charset="0"/>
                <a:ea typeface="Yu Gothic" pitchFamily="34" charset="-122"/>
                <a:cs typeface="Yu Gothic" pitchFamily="34" charset="-120"/>
              </a:rPr>
              <a:t>過剰売買とコストを抑える</a:t>
            </a:r>
            <a:endParaRPr lang="en-US" sz="880" dirty="0"/>
          </a:p>
        </p:txBody>
      </p:sp>
      <p:sp>
        <p:nvSpPr>
          <p:cNvPr id="18" name="Text 16"/>
          <p:cNvSpPr/>
          <p:nvPr/>
        </p:nvSpPr>
        <p:spPr>
          <a:xfrm>
            <a:off x="9235440" y="4251960"/>
            <a:ext cx="2331720" cy="868680"/>
          </a:xfrm>
          <a:prstGeom prst="rect">
            <a:avLst/>
          </a:prstGeom>
          <a:solidFill>
            <a:srgbClr val="F8FAFC"/>
          </a:solidFill>
          <a:ln w="12700">
            <a:solidFill>
              <a:srgbClr val="CBD5E1"/>
            </a:solidFill>
          </a:ln>
        </p:spPr>
        <p:txBody>
          <a:bodyPr wrap="square" lIns="1016" tIns="1016" rIns="1016" bIns="1016" rtlCol="0" anchor="ctr">
            <a:normAutofit/>
          </a:bodyPr>
          <a:lstStyle/>
          <a:p>
            <a:pPr algn="ctr" indent="0" marL="0">
              <a:buNone/>
            </a:pPr>
            <a:r>
              <a:rPr lang="en-US" sz="880" b="1" dirty="0">
                <a:solidFill>
                  <a:srgbClr val="334155"/>
                </a:solidFill>
                <a:latin typeface="Yu Gothic" pitchFamily="34" charset="0"/>
                <a:ea typeface="Yu Gothic" pitchFamily="34" charset="-122"/>
                <a:cs typeface="Yu Gothic" pitchFamily="34" charset="-120"/>
              </a:rPr>
              <a:t>No-Leakage Rule</a:t>
            </a:r>
            <a:endParaRPr lang="en-US" sz="880" dirty="0"/>
          </a:p>
          <a:p>
            <a:pPr algn="ctr" indent="0" marL="0">
              <a:buNone/>
            </a:pPr>
            <a:r>
              <a:rPr lang="en-US" sz="880" b="1" dirty="0">
                <a:solidFill>
                  <a:srgbClr val="334155"/>
                </a:solidFill>
                <a:latin typeface="Yu Gothic" pitchFamily="34" charset="0"/>
                <a:ea typeface="Yu Gothic" pitchFamily="34" charset="-122"/>
                <a:cs typeface="Yu Gothic" pitchFamily="34" charset="-120"/>
              </a:rPr>
              <a:t>確定済みOOS成績のみで重み更新</a:t>
            </a:r>
            <a:endParaRPr lang="en-US" sz="880" dirty="0"/>
          </a:p>
        </p:txBody>
      </p:sp>
      <p:sp>
        <p:nvSpPr>
          <p:cNvPr id="19" name="Text 17"/>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20" name="Text 18"/>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妥当性検証：実装前に確認すべきこと</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上司層に説明するには「当たった」だけでなく、リーケージ・安定性・再現性の検証が必須</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731520" y="1417320"/>
            <a:ext cx="3154680" cy="777240"/>
          </a:xfrm>
          <a:prstGeom prst="rect">
            <a:avLst/>
          </a:prstGeom>
          <a:solidFill>
            <a:srgbClr val="FFFFFF"/>
          </a:solidFill>
          <a:ln w="12700">
            <a:solidFill>
              <a:srgbClr val="CBD5E1"/>
            </a:solidFill>
          </a:ln>
        </p:spPr>
        <p:txBody>
          <a:bodyPr wrap="square" lIns="1270" tIns="1270" rIns="1270" bIns="1270" rtlCol="0" anchor="ctr">
            <a:normAutofit/>
          </a:bodyPr>
          <a:lstStyle/>
          <a:p>
            <a:pPr algn="l" indent="0" marL="0">
              <a:buNone/>
            </a:pPr>
            <a:r>
              <a:rPr lang="en-US" sz="940" b="1" dirty="0">
                <a:solidFill>
                  <a:srgbClr val="334155"/>
                </a:solidFill>
                <a:latin typeface="Yu Gothic" pitchFamily="34" charset="0"/>
                <a:ea typeface="Yu Gothic" pitchFamily="34" charset="-122"/>
                <a:cs typeface="Yu Gothic" pitchFamily="34" charset="-120"/>
              </a:rPr>
              <a:t>Point-in-time</a:t>
            </a:r>
            <a:endParaRPr lang="en-US" sz="940" dirty="0"/>
          </a:p>
          <a:p>
            <a:pPr algn="l" indent="0" marL="0">
              <a:buNone/>
            </a:pPr>
            <a:r>
              <a:rPr lang="en-US" sz="940" b="1" dirty="0">
                <a:solidFill>
                  <a:srgbClr val="334155"/>
                </a:solidFill>
                <a:latin typeface="Yu Gothic" pitchFamily="34" charset="0"/>
                <a:ea typeface="Yu Gothic" pitchFamily="34" charset="-122"/>
                <a:cs typeface="Yu Gothic" pitchFamily="34" charset="-120"/>
              </a:rPr>
              <a:t>予測時点で利用可能なデータのみ使用</a:t>
            </a:r>
            <a:endParaRPr lang="en-US" sz="940" dirty="0"/>
          </a:p>
        </p:txBody>
      </p:sp>
      <p:sp>
        <p:nvSpPr>
          <p:cNvPr id="6" name="Text 4"/>
          <p:cNvSpPr/>
          <p:nvPr/>
        </p:nvSpPr>
        <p:spPr>
          <a:xfrm>
            <a:off x="4480560" y="1417320"/>
            <a:ext cx="3154680" cy="777240"/>
          </a:xfrm>
          <a:prstGeom prst="rect">
            <a:avLst/>
          </a:prstGeom>
          <a:solidFill>
            <a:srgbClr val="FFFFFF"/>
          </a:solidFill>
          <a:ln w="12700">
            <a:solidFill>
              <a:srgbClr val="CBD5E1"/>
            </a:solidFill>
          </a:ln>
        </p:spPr>
        <p:txBody>
          <a:bodyPr wrap="square" lIns="1270" tIns="1270" rIns="1270" bIns="1270" rtlCol="0" anchor="ctr">
            <a:normAutofit/>
          </a:bodyPr>
          <a:lstStyle/>
          <a:p>
            <a:pPr algn="l" indent="0" marL="0">
              <a:buNone/>
            </a:pPr>
            <a:r>
              <a:rPr lang="en-US" sz="940" b="1" dirty="0">
                <a:solidFill>
                  <a:srgbClr val="334155"/>
                </a:solidFill>
                <a:latin typeface="Yu Gothic" pitchFamily="34" charset="0"/>
                <a:ea typeface="Yu Gothic" pitchFamily="34" charset="-122"/>
                <a:cs typeface="Yu Gothic" pitchFamily="34" charset="-120"/>
              </a:rPr>
              <a:t>Walk-forward</a:t>
            </a:r>
            <a:endParaRPr lang="en-US" sz="940" dirty="0"/>
          </a:p>
          <a:p>
            <a:pPr algn="l" indent="0" marL="0">
              <a:buNone/>
            </a:pPr>
            <a:r>
              <a:rPr lang="en-US" sz="940" b="1" dirty="0">
                <a:solidFill>
                  <a:srgbClr val="334155"/>
                </a:solidFill>
                <a:latin typeface="Yu Gothic" pitchFamily="34" charset="0"/>
                <a:ea typeface="Yu Gothic" pitchFamily="34" charset="-122"/>
                <a:cs typeface="Yu Gothic" pitchFamily="34" charset="-120"/>
              </a:rPr>
              <a:t>学習・検証・テストを時系列で分離</a:t>
            </a:r>
            <a:endParaRPr lang="en-US" sz="940" dirty="0"/>
          </a:p>
        </p:txBody>
      </p:sp>
      <p:sp>
        <p:nvSpPr>
          <p:cNvPr id="7" name="Text 5"/>
          <p:cNvSpPr/>
          <p:nvPr/>
        </p:nvSpPr>
        <p:spPr>
          <a:xfrm>
            <a:off x="8229600" y="1417320"/>
            <a:ext cx="3154680" cy="777240"/>
          </a:xfrm>
          <a:prstGeom prst="rect">
            <a:avLst/>
          </a:prstGeom>
          <a:solidFill>
            <a:srgbClr val="FFFFFF"/>
          </a:solidFill>
          <a:ln w="12700">
            <a:solidFill>
              <a:srgbClr val="CBD5E1"/>
            </a:solidFill>
          </a:ln>
        </p:spPr>
        <p:txBody>
          <a:bodyPr wrap="square" lIns="1270" tIns="1270" rIns="1270" bIns="1270" rtlCol="0" anchor="ctr">
            <a:normAutofit/>
          </a:bodyPr>
          <a:lstStyle/>
          <a:p>
            <a:pPr algn="l" indent="0" marL="0">
              <a:buNone/>
            </a:pPr>
            <a:r>
              <a:rPr lang="en-US" sz="940" b="1" dirty="0">
                <a:solidFill>
                  <a:srgbClr val="334155"/>
                </a:solidFill>
                <a:latin typeface="Yu Gothic" pitchFamily="34" charset="0"/>
                <a:ea typeface="Yu Gothic" pitchFamily="34" charset="-122"/>
                <a:cs typeface="Yu Gothic" pitchFamily="34" charset="-120"/>
              </a:rPr>
              <a:t>Non-overlap IC</a:t>
            </a:r>
            <a:endParaRPr lang="en-US" sz="940" dirty="0"/>
          </a:p>
          <a:p>
            <a:pPr algn="l" indent="0" marL="0">
              <a:buNone/>
            </a:pPr>
            <a:r>
              <a:rPr lang="en-US" sz="940" b="1" dirty="0">
                <a:solidFill>
                  <a:srgbClr val="334155"/>
                </a:solidFill>
                <a:latin typeface="Yu Gothic" pitchFamily="34" charset="0"/>
                <a:ea typeface="Yu Gothic" pitchFamily="34" charset="-122"/>
                <a:cs typeface="Yu Gothic" pitchFamily="34" charset="-120"/>
              </a:rPr>
              <a:t>20日先なら月次/非重複評価を併用</a:t>
            </a:r>
            <a:endParaRPr lang="en-US" sz="940" dirty="0"/>
          </a:p>
        </p:txBody>
      </p:sp>
      <p:sp>
        <p:nvSpPr>
          <p:cNvPr id="8" name="Text 6"/>
          <p:cNvSpPr/>
          <p:nvPr/>
        </p:nvSpPr>
        <p:spPr>
          <a:xfrm>
            <a:off x="731520" y="2770632"/>
            <a:ext cx="3154680" cy="777240"/>
          </a:xfrm>
          <a:prstGeom prst="rect">
            <a:avLst/>
          </a:prstGeom>
          <a:solidFill>
            <a:srgbClr val="FFFFFF"/>
          </a:solidFill>
          <a:ln w="12700">
            <a:solidFill>
              <a:srgbClr val="CBD5E1"/>
            </a:solidFill>
          </a:ln>
        </p:spPr>
        <p:txBody>
          <a:bodyPr wrap="square" lIns="1270" tIns="1270" rIns="1270" bIns="1270" rtlCol="0" anchor="ctr">
            <a:normAutofit/>
          </a:bodyPr>
          <a:lstStyle/>
          <a:p>
            <a:pPr algn="l" indent="0" marL="0">
              <a:buNone/>
            </a:pPr>
            <a:r>
              <a:rPr lang="en-US" sz="940" b="1" dirty="0">
                <a:solidFill>
                  <a:srgbClr val="334155"/>
                </a:solidFill>
                <a:latin typeface="Yu Gothic" pitchFamily="34" charset="0"/>
                <a:ea typeface="Yu Gothic" pitchFamily="34" charset="-122"/>
                <a:cs typeface="Yu Gothic" pitchFamily="34" charset="-120"/>
              </a:rPr>
              <a:t>Model Reliability</a:t>
            </a:r>
            <a:endParaRPr lang="en-US" sz="940" dirty="0"/>
          </a:p>
          <a:p>
            <a:pPr algn="l" indent="0" marL="0">
              <a:buNone/>
            </a:pPr>
            <a:r>
              <a:rPr lang="en-US" sz="940" b="1" dirty="0">
                <a:solidFill>
                  <a:srgbClr val="334155"/>
                </a:solidFill>
                <a:latin typeface="Yu Gothic" pitchFamily="34" charset="0"/>
                <a:ea typeface="Yu Gothic" pitchFamily="34" charset="-122"/>
                <a:cs typeface="Yu Gothic" pitchFamily="34" charset="-120"/>
              </a:rPr>
              <a:t>Rank IC・ICIR・Hit Ratio・LS Sharpe</a:t>
            </a:r>
            <a:endParaRPr lang="en-US" sz="940" dirty="0"/>
          </a:p>
        </p:txBody>
      </p:sp>
      <p:sp>
        <p:nvSpPr>
          <p:cNvPr id="9" name="Text 7"/>
          <p:cNvSpPr/>
          <p:nvPr/>
        </p:nvSpPr>
        <p:spPr>
          <a:xfrm>
            <a:off x="4480560" y="2770632"/>
            <a:ext cx="3154680" cy="777240"/>
          </a:xfrm>
          <a:prstGeom prst="rect">
            <a:avLst/>
          </a:prstGeom>
          <a:solidFill>
            <a:srgbClr val="FFFFFF"/>
          </a:solidFill>
          <a:ln w="12700">
            <a:solidFill>
              <a:srgbClr val="CBD5E1"/>
            </a:solidFill>
          </a:ln>
        </p:spPr>
        <p:txBody>
          <a:bodyPr wrap="square" lIns="1270" tIns="1270" rIns="1270" bIns="1270" rtlCol="0" anchor="ctr">
            <a:normAutofit/>
          </a:bodyPr>
          <a:lstStyle/>
          <a:p>
            <a:pPr algn="l" indent="0" marL="0">
              <a:buNone/>
            </a:pPr>
            <a:r>
              <a:rPr lang="en-US" sz="940" b="1" dirty="0">
                <a:solidFill>
                  <a:srgbClr val="334155"/>
                </a:solidFill>
                <a:latin typeface="Yu Gothic" pitchFamily="34" charset="0"/>
                <a:ea typeface="Yu Gothic" pitchFamily="34" charset="-122"/>
                <a:cs typeface="Yu Gothic" pitchFamily="34" charset="-120"/>
              </a:rPr>
              <a:t>Ablation</a:t>
            </a:r>
            <a:endParaRPr lang="en-US" sz="940" dirty="0"/>
          </a:p>
          <a:p>
            <a:pPr algn="l" indent="0" marL="0">
              <a:buNone/>
            </a:pPr>
            <a:r>
              <a:rPr lang="en-US" sz="940" b="1" dirty="0">
                <a:solidFill>
                  <a:srgbClr val="334155"/>
                </a:solidFill>
                <a:latin typeface="Yu Gothic" pitchFamily="34" charset="0"/>
                <a:ea typeface="Yu Gothic" pitchFamily="34" charset="-122"/>
                <a:cs typeface="Yu Gothic" pitchFamily="34" charset="-120"/>
              </a:rPr>
              <a:t>TransformerやEvidence層の追加価値を検証</a:t>
            </a:r>
            <a:endParaRPr lang="en-US" sz="940" dirty="0"/>
          </a:p>
        </p:txBody>
      </p:sp>
      <p:sp>
        <p:nvSpPr>
          <p:cNvPr id="10" name="Text 8"/>
          <p:cNvSpPr/>
          <p:nvPr/>
        </p:nvSpPr>
        <p:spPr>
          <a:xfrm>
            <a:off x="8229600" y="2770632"/>
            <a:ext cx="3154680" cy="777240"/>
          </a:xfrm>
          <a:prstGeom prst="rect">
            <a:avLst/>
          </a:prstGeom>
          <a:solidFill>
            <a:srgbClr val="FFFFFF"/>
          </a:solidFill>
          <a:ln w="12700">
            <a:solidFill>
              <a:srgbClr val="CBD5E1"/>
            </a:solidFill>
          </a:ln>
        </p:spPr>
        <p:txBody>
          <a:bodyPr wrap="square" lIns="1270" tIns="1270" rIns="1270" bIns="1270" rtlCol="0" anchor="ctr">
            <a:normAutofit/>
          </a:bodyPr>
          <a:lstStyle/>
          <a:p>
            <a:pPr algn="l" indent="0" marL="0">
              <a:buNone/>
            </a:pPr>
            <a:r>
              <a:rPr lang="en-US" sz="940" b="1" dirty="0">
                <a:solidFill>
                  <a:srgbClr val="334155"/>
                </a:solidFill>
                <a:latin typeface="Yu Gothic" pitchFamily="34" charset="0"/>
                <a:ea typeface="Yu Gothic" pitchFamily="34" charset="-122"/>
                <a:cs typeface="Yu Gothic" pitchFamily="34" charset="-120"/>
              </a:rPr>
              <a:t>Robustness</a:t>
            </a:r>
            <a:endParaRPr lang="en-US" sz="940" dirty="0"/>
          </a:p>
          <a:p>
            <a:pPr algn="l" indent="0" marL="0">
              <a:buNone/>
            </a:pPr>
            <a:r>
              <a:rPr lang="en-US" sz="940" b="1" dirty="0">
                <a:solidFill>
                  <a:srgbClr val="334155"/>
                </a:solidFill>
                <a:latin typeface="Yu Gothic" pitchFamily="34" charset="0"/>
                <a:ea typeface="Yu Gothic" pitchFamily="34" charset="-122"/>
                <a:cs typeface="Yu Gothic" pitchFamily="34" charset="-120"/>
              </a:rPr>
              <a:t>市場別・レジーム別・期間別に安定性確認</a:t>
            </a:r>
            <a:endParaRPr lang="en-US" sz="940" dirty="0"/>
          </a:p>
        </p:txBody>
      </p:sp>
      <p:sp>
        <p:nvSpPr>
          <p:cNvPr id="11" name="Text 9"/>
          <p:cNvSpPr/>
          <p:nvPr/>
        </p:nvSpPr>
        <p:spPr>
          <a:xfrm>
            <a:off x="868680" y="4434840"/>
            <a:ext cx="10332720" cy="1234440"/>
          </a:xfrm>
          <a:prstGeom prst="rect">
            <a:avLst/>
          </a:prstGeom>
          <a:solidFill>
            <a:srgbClr val="0B1F3A"/>
          </a:solidFill>
          <a:ln>
            <a:solidFill>
              <a:srgbClr val="0B1F3A">
                <a:alpha val="0"/>
              </a:srgbClr>
            </a:solidFill>
          </a:ln>
        </p:spPr>
        <p:txBody>
          <a:bodyPr wrap="square" lIns="1778" tIns="1778" rIns="1778" bIns="1778" rtlCol="0" anchor="ctr">
            <a:normAutofit/>
          </a:bodyPr>
          <a:lstStyle/>
          <a:p>
            <a:pPr algn="l" indent="0" marL="0">
              <a:buNone/>
            </a:pPr>
            <a:r>
              <a:rPr lang="en-US" sz="1040" dirty="0">
                <a:solidFill>
                  <a:srgbClr val="FFFFFF"/>
                </a:solidFill>
                <a:latin typeface="Yu Gothic" pitchFamily="34" charset="0"/>
                <a:ea typeface="Yu Gothic" pitchFamily="34" charset="-122"/>
                <a:cs typeface="Yu Gothic" pitchFamily="34" charset="-120"/>
              </a:rPr>
              <a:t>Go / No-Go判断</a:t>
            </a:r>
            <a:endParaRPr lang="en-US" sz="1040" dirty="0"/>
          </a:p>
          <a:p>
            <a:pPr algn="l" indent="0" marL="0">
              <a:buNone/>
            </a:pPr>
            <a:endParaRPr lang="en-US" sz="1040" dirty="0"/>
          </a:p>
          <a:p>
            <a:pPr algn="l" indent="0" marL="0">
              <a:buNone/>
            </a:pPr>
            <a:r>
              <a:rPr lang="en-US" sz="1040" dirty="0">
                <a:solidFill>
                  <a:srgbClr val="FFFFFF"/>
                </a:solidFill>
                <a:latin typeface="Yu Gothic" pitchFamily="34" charset="0"/>
                <a:ea typeface="Yu Gothic" pitchFamily="34" charset="-122"/>
                <a:cs typeface="Yu Gothic" pitchFamily="34" charset="-120"/>
              </a:rPr>
              <a:t>• 単一LGBMよりOOS Rank IC・IRが改善</a:t>
            </a:r>
            <a:endParaRPr lang="en-US" sz="1040" dirty="0"/>
          </a:p>
          <a:p>
            <a:pPr algn="l" indent="0" marL="0">
              <a:buNone/>
            </a:pPr>
            <a:r>
              <a:rPr lang="en-US" sz="1040" dirty="0">
                <a:solidFill>
                  <a:srgbClr val="FFFFFF"/>
                </a:solidFill>
                <a:latin typeface="Yu Gothic" pitchFamily="34" charset="0"/>
                <a:ea typeface="Yu Gothic" pitchFamily="34" charset="-122"/>
                <a:cs typeface="Yu Gothic" pitchFamily="34" charset="-120"/>
              </a:rPr>
              <a:t>• 取引コスト控除後で改善</a:t>
            </a:r>
            <a:endParaRPr lang="en-US" sz="1040" dirty="0"/>
          </a:p>
          <a:p>
            <a:pPr algn="l" indent="0" marL="0">
              <a:buNone/>
            </a:pPr>
            <a:r>
              <a:rPr lang="en-US" sz="1040" dirty="0">
                <a:solidFill>
                  <a:srgbClr val="FFFFFF"/>
                </a:solidFill>
                <a:latin typeface="Yu Gothic" pitchFamily="34" charset="0"/>
                <a:ea typeface="Yu Gothic" pitchFamily="34" charset="-122"/>
                <a:cs typeface="Yu Gothic" pitchFamily="34" charset="-120"/>
              </a:rPr>
              <a:t>• 説明レポートがPMレビューに耐える</a:t>
            </a:r>
            <a:endParaRPr lang="en-US" sz="1040" dirty="0"/>
          </a:p>
          <a:p>
            <a:pPr algn="l" indent="0" marL="0">
              <a:buNone/>
            </a:pPr>
            <a:r>
              <a:rPr lang="en-US" sz="1040" dirty="0">
                <a:solidFill>
                  <a:srgbClr val="FFFFFF"/>
                </a:solidFill>
                <a:latin typeface="Yu Gothic" pitchFamily="34" charset="0"/>
                <a:ea typeface="Yu Gothic" pitchFamily="34" charset="-122"/>
                <a:cs typeface="Yu Gothic" pitchFamily="34" charset="-120"/>
              </a:rPr>
              <a:t>• Transformerの時間重要度がSeed/Foldで安定</a:t>
            </a:r>
            <a:endParaRPr lang="en-US" sz="1040" dirty="0"/>
          </a:p>
          <a:p>
            <a:pPr algn="l" indent="0" marL="0">
              <a:buNone/>
            </a:pPr>
            <a:r>
              <a:rPr lang="en-US" sz="1040" dirty="0">
                <a:solidFill>
                  <a:srgbClr val="FFFFFF"/>
                </a:solidFill>
                <a:latin typeface="Yu Gothic" pitchFamily="34" charset="0"/>
                <a:ea typeface="Yu Gothic" pitchFamily="34" charset="-122"/>
                <a:cs typeface="Yu Gothic" pitchFamily="34" charset="-120"/>
              </a:rPr>
              <a:t>• 不調モデルのウェイト低下が過剰反応していない</a:t>
            </a:r>
            <a:endParaRPr lang="en-US" sz="1040" dirty="0"/>
          </a:p>
        </p:txBody>
      </p:sp>
      <p:sp>
        <p:nvSpPr>
          <p:cNvPr id="12" name="Text 10"/>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13" name="Text 11"/>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13</a:t>
            </a:r>
            <a:endParaRPr lang="en-US" sz="750" dirty="0"/>
          </a:p>
        </p:txBody>
      </p:sp>
      <p:sp>
        <p:nvSpPr>
          <p:cNvPr id="14" name="Text 12"/>
          <p:cNvSpPr/>
          <p:nvPr/>
        </p:nvSpPr>
        <p:spPr>
          <a:xfrm>
            <a:off x="411480" y="6281928"/>
            <a:ext cx="10972800" cy="182880"/>
          </a:xfrm>
          <a:prstGeom prst="rect">
            <a:avLst/>
          </a:prstGeom>
          <a:noFill/>
          <a:ln/>
        </p:spPr>
        <p:txBody>
          <a:bodyPr wrap="square" lIns="0" tIns="0" rIns="0" bIns="0" rtlCol="0" anchor="ctr">
            <a:normAutofit/>
          </a:bodyPr>
          <a:lstStyle/>
          <a:p>
            <a:pPr indent="0" marL="0">
              <a:buNone/>
            </a:pPr>
            <a:r>
              <a:rPr lang="en-US" sz="500" dirty="0">
                <a:solidFill>
                  <a:srgbClr val="94A3B8"/>
                </a:solidFill>
                <a:latin typeface="Yu Gothic" pitchFamily="34" charset="0"/>
                <a:ea typeface="Yu Gothic" pitchFamily="34" charset="-122"/>
                <a:cs typeface="Yu Gothic" pitchFamily="34" charset="-120"/>
              </a:rPr>
              <a:t>Refs: Point-in-time ML feature store [11], Attention caveats [7][8]</a:t>
            </a:r>
            <a:endParaRPr lang="en-US" sz="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実装ロードマップ：小さく作り、価値を確認して拡張する</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複雑なTransformerから始めず、Evidence基盤と動的アンサンブルを段階的に検証する</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594360" y="1417320"/>
            <a:ext cx="1508760" cy="329184"/>
          </a:xfrm>
          <a:prstGeom prst="rect">
            <a:avLst/>
          </a:prstGeom>
          <a:solidFill>
            <a:srgbClr val="2563EB"/>
          </a:solidFill>
          <a:ln>
            <a:solidFill>
              <a:srgbClr val="2563EB">
                <a:alpha val="0"/>
              </a:srgbClr>
            </a:solidFill>
          </a:ln>
        </p:spPr>
        <p:txBody>
          <a:bodyPr wrap="square" lIns="1016" tIns="1016" rIns="1016" bIns="1016" rtlCol="0" anchor="ctr">
            <a:norm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Phase 0</a:t>
            </a:r>
            <a:endParaRPr lang="en-US" sz="900" dirty="0"/>
          </a:p>
        </p:txBody>
      </p:sp>
      <p:sp>
        <p:nvSpPr>
          <p:cNvPr id="6" name="Text 4"/>
          <p:cNvSpPr/>
          <p:nvPr/>
        </p:nvSpPr>
        <p:spPr>
          <a:xfrm>
            <a:off x="594360" y="1874520"/>
            <a:ext cx="1508760" cy="1115568"/>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740" b="1" dirty="0">
                <a:solidFill>
                  <a:srgbClr val="334155"/>
                </a:solidFill>
                <a:latin typeface="Yu Gothic" pitchFamily="34" charset="0"/>
                <a:ea typeface="Yu Gothic" pitchFamily="34" charset="-122"/>
                <a:cs typeface="Yu Gothic" pitchFamily="34" charset="-120"/>
              </a:rPr>
              <a:t>要件固定</a:t>
            </a:r>
            <a:endParaRPr lang="en-US" sz="740" dirty="0"/>
          </a:p>
          <a:p>
            <a:pPr algn="ctr" indent="0" marL="0">
              <a:buNone/>
            </a:pPr>
            <a:r>
              <a:rPr lang="en-US" sz="740" b="1" dirty="0">
                <a:solidFill>
                  <a:srgbClr val="334155"/>
                </a:solidFill>
                <a:latin typeface="Yu Gothic" pitchFamily="34" charset="0"/>
                <a:ea typeface="Yu Gothic" pitchFamily="34" charset="-122"/>
                <a:cs typeface="Yu Gothic" pitchFamily="34" charset="-120"/>
              </a:rPr>
              <a:t>12市場・対象ホライズン・データ項目・評価指標を確定</a:t>
            </a:r>
            <a:endParaRPr lang="en-US" sz="740" dirty="0"/>
          </a:p>
        </p:txBody>
      </p:sp>
      <p:sp>
        <p:nvSpPr>
          <p:cNvPr id="7" name="Shape 5"/>
          <p:cNvSpPr/>
          <p:nvPr/>
        </p:nvSpPr>
        <p:spPr>
          <a:xfrm>
            <a:off x="2130552" y="1581912"/>
            <a:ext cx="338328" cy="0"/>
          </a:xfrm>
          <a:prstGeom prst="line">
            <a:avLst/>
          </a:prstGeom>
          <a:noFill/>
          <a:ln w="11430">
            <a:solidFill>
              <a:srgbClr val="64748B"/>
            </a:solidFill>
            <a:prstDash val="solid"/>
            <a:headEnd type="none"/>
            <a:tailEnd type="triangle"/>
          </a:ln>
        </p:spPr>
      </p:sp>
      <p:sp>
        <p:nvSpPr>
          <p:cNvPr id="8" name="Text 6"/>
          <p:cNvSpPr/>
          <p:nvPr/>
        </p:nvSpPr>
        <p:spPr>
          <a:xfrm>
            <a:off x="2514600" y="1417320"/>
            <a:ext cx="1508760" cy="329184"/>
          </a:xfrm>
          <a:prstGeom prst="rect">
            <a:avLst/>
          </a:prstGeom>
          <a:solidFill>
            <a:srgbClr val="2563EB"/>
          </a:solidFill>
          <a:ln>
            <a:solidFill>
              <a:srgbClr val="2563EB">
                <a:alpha val="0"/>
              </a:srgbClr>
            </a:solidFill>
          </a:ln>
        </p:spPr>
        <p:txBody>
          <a:bodyPr wrap="square" lIns="1016" tIns="1016" rIns="1016" bIns="1016" rtlCol="0" anchor="ctr">
            <a:norm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Phase 1</a:t>
            </a:r>
            <a:endParaRPr lang="en-US" sz="900" dirty="0"/>
          </a:p>
        </p:txBody>
      </p:sp>
      <p:sp>
        <p:nvSpPr>
          <p:cNvPr id="9" name="Text 7"/>
          <p:cNvSpPr/>
          <p:nvPr/>
        </p:nvSpPr>
        <p:spPr>
          <a:xfrm>
            <a:off x="2514600" y="1874520"/>
            <a:ext cx="1508760" cy="1115568"/>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740" b="1" dirty="0">
                <a:solidFill>
                  <a:srgbClr val="334155"/>
                </a:solidFill>
                <a:latin typeface="Yu Gothic" pitchFamily="34" charset="0"/>
                <a:ea typeface="Yu Gothic" pitchFamily="34" charset="-122"/>
                <a:cs typeface="Yu Gothic" pitchFamily="34" charset="-120"/>
              </a:rPr>
              <a:t>Evidence基盤</a:t>
            </a:r>
            <a:endParaRPr lang="en-US" sz="740" dirty="0"/>
          </a:p>
          <a:p>
            <a:pPr algn="ctr" indent="0" marL="0">
              <a:buNone/>
            </a:pPr>
            <a:r>
              <a:rPr lang="en-US" sz="740" b="1" dirty="0">
                <a:solidFill>
                  <a:srgbClr val="334155"/>
                </a:solidFill>
                <a:latin typeface="Yu Gothic" pitchFamily="34" charset="0"/>
                <a:ea typeface="Yu Gothic" pitchFamily="34" charset="-122"/>
                <a:cs typeface="Yu Gothic" pitchFamily="34" charset="-120"/>
              </a:rPr>
              <a:t>Signal Store / Evidence Store / レポート雛形を作成</a:t>
            </a:r>
            <a:endParaRPr lang="en-US" sz="740" dirty="0"/>
          </a:p>
        </p:txBody>
      </p:sp>
      <p:sp>
        <p:nvSpPr>
          <p:cNvPr id="10" name="Shape 8"/>
          <p:cNvSpPr/>
          <p:nvPr/>
        </p:nvSpPr>
        <p:spPr>
          <a:xfrm>
            <a:off x="4050792" y="1581912"/>
            <a:ext cx="338328" cy="0"/>
          </a:xfrm>
          <a:prstGeom prst="line">
            <a:avLst/>
          </a:prstGeom>
          <a:noFill/>
          <a:ln w="11430">
            <a:solidFill>
              <a:srgbClr val="64748B"/>
            </a:solidFill>
            <a:prstDash val="solid"/>
            <a:headEnd type="none"/>
            <a:tailEnd type="triangle"/>
          </a:ln>
        </p:spPr>
      </p:sp>
      <p:sp>
        <p:nvSpPr>
          <p:cNvPr id="11" name="Text 9"/>
          <p:cNvSpPr/>
          <p:nvPr/>
        </p:nvSpPr>
        <p:spPr>
          <a:xfrm>
            <a:off x="4434840" y="1417320"/>
            <a:ext cx="1508760" cy="329184"/>
          </a:xfrm>
          <a:prstGeom prst="rect">
            <a:avLst/>
          </a:prstGeom>
          <a:solidFill>
            <a:srgbClr val="10B981"/>
          </a:solidFill>
          <a:ln>
            <a:solidFill>
              <a:srgbClr val="10B981">
                <a:alpha val="0"/>
              </a:srgbClr>
            </a:solidFill>
          </a:ln>
        </p:spPr>
        <p:txBody>
          <a:bodyPr wrap="square" lIns="1016" tIns="1016" rIns="1016" bIns="1016" rtlCol="0" anchor="ctr">
            <a:norm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Phase 2</a:t>
            </a:r>
            <a:endParaRPr lang="en-US" sz="900" dirty="0"/>
          </a:p>
        </p:txBody>
      </p:sp>
      <p:sp>
        <p:nvSpPr>
          <p:cNvPr id="12" name="Text 10"/>
          <p:cNvSpPr/>
          <p:nvPr/>
        </p:nvSpPr>
        <p:spPr>
          <a:xfrm>
            <a:off x="4434840" y="1874520"/>
            <a:ext cx="1508760" cy="1115568"/>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740" b="1" dirty="0">
                <a:solidFill>
                  <a:srgbClr val="334155"/>
                </a:solidFill>
                <a:latin typeface="Yu Gothic" pitchFamily="34" charset="0"/>
                <a:ea typeface="Yu Gothic" pitchFamily="34" charset="-122"/>
                <a:cs typeface="Yu Gothic" pitchFamily="34" charset="-120"/>
              </a:rPr>
              <a:t>Baseline Ensemble</a:t>
            </a:r>
            <a:endParaRPr lang="en-US" sz="740" dirty="0"/>
          </a:p>
          <a:p>
            <a:pPr algn="ctr" indent="0" marL="0">
              <a:buNone/>
            </a:pPr>
            <a:r>
              <a:rPr lang="en-US" sz="740" b="1" dirty="0">
                <a:solidFill>
                  <a:srgbClr val="334155"/>
                </a:solidFill>
                <a:latin typeface="Yu Gothic" pitchFamily="34" charset="0"/>
                <a:ea typeface="Yu Gothic" pitchFamily="34" charset="-122"/>
                <a:cs typeface="Yu Gothic" pitchFamily="34" charset="-120"/>
              </a:rPr>
              <a:t>Rule・Ridge・LGBM・RFをMechanism別に実装</a:t>
            </a:r>
            <a:endParaRPr lang="en-US" sz="740" dirty="0"/>
          </a:p>
        </p:txBody>
      </p:sp>
      <p:sp>
        <p:nvSpPr>
          <p:cNvPr id="13" name="Shape 11"/>
          <p:cNvSpPr/>
          <p:nvPr/>
        </p:nvSpPr>
        <p:spPr>
          <a:xfrm>
            <a:off x="5971032" y="1581912"/>
            <a:ext cx="338328" cy="0"/>
          </a:xfrm>
          <a:prstGeom prst="line">
            <a:avLst/>
          </a:prstGeom>
          <a:noFill/>
          <a:ln w="11430">
            <a:solidFill>
              <a:srgbClr val="64748B"/>
            </a:solidFill>
            <a:prstDash val="solid"/>
            <a:headEnd type="none"/>
            <a:tailEnd type="triangle"/>
          </a:ln>
        </p:spPr>
      </p:sp>
      <p:sp>
        <p:nvSpPr>
          <p:cNvPr id="14" name="Text 12"/>
          <p:cNvSpPr/>
          <p:nvPr/>
        </p:nvSpPr>
        <p:spPr>
          <a:xfrm>
            <a:off x="6355080" y="1417320"/>
            <a:ext cx="1508760" cy="329184"/>
          </a:xfrm>
          <a:prstGeom prst="rect">
            <a:avLst/>
          </a:prstGeom>
          <a:solidFill>
            <a:srgbClr val="10B981"/>
          </a:solidFill>
          <a:ln>
            <a:solidFill>
              <a:srgbClr val="10B981">
                <a:alpha val="0"/>
              </a:srgbClr>
            </a:solidFill>
          </a:ln>
        </p:spPr>
        <p:txBody>
          <a:bodyPr wrap="square" lIns="1016" tIns="1016" rIns="1016" bIns="1016" rtlCol="0" anchor="ctr">
            <a:norm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Phase 3</a:t>
            </a:r>
            <a:endParaRPr lang="en-US" sz="900" dirty="0"/>
          </a:p>
        </p:txBody>
      </p:sp>
      <p:sp>
        <p:nvSpPr>
          <p:cNvPr id="15" name="Text 13"/>
          <p:cNvSpPr/>
          <p:nvPr/>
        </p:nvSpPr>
        <p:spPr>
          <a:xfrm>
            <a:off x="6355080" y="1874520"/>
            <a:ext cx="1508760" cy="1115568"/>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740" b="1" dirty="0">
                <a:solidFill>
                  <a:srgbClr val="334155"/>
                </a:solidFill>
                <a:latin typeface="Yu Gothic" pitchFamily="34" charset="0"/>
                <a:ea typeface="Yu Gothic" pitchFamily="34" charset="-122"/>
                <a:cs typeface="Yu Gothic" pitchFamily="34" charset="-120"/>
              </a:rPr>
              <a:t>Dynamic Weight</a:t>
            </a:r>
            <a:endParaRPr lang="en-US" sz="740" dirty="0"/>
          </a:p>
          <a:p>
            <a:pPr algn="ctr" indent="0" marL="0">
              <a:buNone/>
            </a:pPr>
            <a:r>
              <a:rPr lang="en-US" sz="740" b="1" dirty="0">
                <a:solidFill>
                  <a:srgbClr val="334155"/>
                </a:solidFill>
                <a:latin typeface="Yu Gothic" pitchFamily="34" charset="0"/>
                <a:ea typeface="Yu Gothic" pitchFamily="34" charset="-122"/>
                <a:cs typeface="Yu Gothic" pitchFamily="34" charset="-120"/>
              </a:rPr>
              <a:t>OOS Rank IC/ICIRでモデル発言力を月次更新</a:t>
            </a:r>
            <a:endParaRPr lang="en-US" sz="740" dirty="0"/>
          </a:p>
        </p:txBody>
      </p:sp>
      <p:sp>
        <p:nvSpPr>
          <p:cNvPr id="16" name="Shape 14"/>
          <p:cNvSpPr/>
          <p:nvPr/>
        </p:nvSpPr>
        <p:spPr>
          <a:xfrm>
            <a:off x="7891272" y="1581912"/>
            <a:ext cx="338328" cy="0"/>
          </a:xfrm>
          <a:prstGeom prst="line">
            <a:avLst/>
          </a:prstGeom>
          <a:noFill/>
          <a:ln w="11430">
            <a:solidFill>
              <a:srgbClr val="64748B"/>
            </a:solidFill>
            <a:prstDash val="solid"/>
            <a:headEnd type="none"/>
            <a:tailEnd type="triangle"/>
          </a:ln>
        </p:spPr>
      </p:sp>
      <p:sp>
        <p:nvSpPr>
          <p:cNvPr id="17" name="Text 15"/>
          <p:cNvSpPr/>
          <p:nvPr/>
        </p:nvSpPr>
        <p:spPr>
          <a:xfrm>
            <a:off x="8275320" y="1417320"/>
            <a:ext cx="1508760" cy="329184"/>
          </a:xfrm>
          <a:prstGeom prst="rect">
            <a:avLst/>
          </a:prstGeom>
          <a:solidFill>
            <a:srgbClr val="7C3AED"/>
          </a:solidFill>
          <a:ln>
            <a:solidFill>
              <a:srgbClr val="7C3AED">
                <a:alpha val="0"/>
              </a:srgbClr>
            </a:solidFill>
          </a:ln>
        </p:spPr>
        <p:txBody>
          <a:bodyPr wrap="square" lIns="1016" tIns="1016" rIns="1016" bIns="1016" rtlCol="0" anchor="ctr">
            <a:norm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Phase 4</a:t>
            </a:r>
            <a:endParaRPr lang="en-US" sz="900" dirty="0"/>
          </a:p>
        </p:txBody>
      </p:sp>
      <p:sp>
        <p:nvSpPr>
          <p:cNvPr id="18" name="Text 16"/>
          <p:cNvSpPr/>
          <p:nvPr/>
        </p:nvSpPr>
        <p:spPr>
          <a:xfrm>
            <a:off x="8275320" y="1874520"/>
            <a:ext cx="1508760" cy="1115568"/>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740" b="1" dirty="0">
                <a:solidFill>
                  <a:srgbClr val="334155"/>
                </a:solidFill>
                <a:latin typeface="Yu Gothic" pitchFamily="34" charset="0"/>
                <a:ea typeface="Yu Gothic" pitchFamily="34" charset="-122"/>
                <a:cs typeface="Yu Gothic" pitchFamily="34" charset="-120"/>
              </a:rPr>
              <a:t>Transformer</a:t>
            </a:r>
            <a:endParaRPr lang="en-US" sz="740" dirty="0"/>
          </a:p>
          <a:p>
            <a:pPr algn="ctr" indent="0" marL="0">
              <a:buNone/>
            </a:pPr>
            <a:r>
              <a:rPr lang="en-US" sz="740" b="1" dirty="0">
                <a:solidFill>
                  <a:srgbClr val="334155"/>
                </a:solidFill>
                <a:latin typeface="Yu Gothic" pitchFamily="34" charset="0"/>
                <a:ea typeface="Yu Gothic" pitchFamily="34" charset="-122"/>
                <a:cs typeface="Yu Gothic" pitchFamily="34" charset="-120"/>
              </a:rPr>
              <a:t>TFT/PatchTSTをTemporal Expertとして追加</a:t>
            </a:r>
            <a:endParaRPr lang="en-US" sz="740" dirty="0"/>
          </a:p>
        </p:txBody>
      </p:sp>
      <p:sp>
        <p:nvSpPr>
          <p:cNvPr id="19" name="Shape 17"/>
          <p:cNvSpPr/>
          <p:nvPr/>
        </p:nvSpPr>
        <p:spPr>
          <a:xfrm>
            <a:off x="9811512" y="1581912"/>
            <a:ext cx="338328" cy="0"/>
          </a:xfrm>
          <a:prstGeom prst="line">
            <a:avLst/>
          </a:prstGeom>
          <a:noFill/>
          <a:ln w="11430">
            <a:solidFill>
              <a:srgbClr val="64748B"/>
            </a:solidFill>
            <a:prstDash val="solid"/>
            <a:headEnd type="none"/>
            <a:tailEnd type="triangle"/>
          </a:ln>
        </p:spPr>
      </p:sp>
      <p:sp>
        <p:nvSpPr>
          <p:cNvPr id="20" name="Text 18"/>
          <p:cNvSpPr/>
          <p:nvPr/>
        </p:nvSpPr>
        <p:spPr>
          <a:xfrm>
            <a:off x="10195560" y="1417320"/>
            <a:ext cx="1508760" cy="329184"/>
          </a:xfrm>
          <a:prstGeom prst="rect">
            <a:avLst/>
          </a:prstGeom>
          <a:solidFill>
            <a:srgbClr val="7C3AED"/>
          </a:solidFill>
          <a:ln>
            <a:solidFill>
              <a:srgbClr val="7C3AED">
                <a:alpha val="0"/>
              </a:srgbClr>
            </a:solidFill>
          </a:ln>
        </p:spPr>
        <p:txBody>
          <a:bodyPr wrap="square" lIns="1016" tIns="1016" rIns="1016" bIns="1016" rtlCol="0" anchor="ctr">
            <a:norm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Phase 5</a:t>
            </a:r>
            <a:endParaRPr lang="en-US" sz="900" dirty="0"/>
          </a:p>
        </p:txBody>
      </p:sp>
      <p:sp>
        <p:nvSpPr>
          <p:cNvPr id="21" name="Text 19"/>
          <p:cNvSpPr/>
          <p:nvPr/>
        </p:nvSpPr>
        <p:spPr>
          <a:xfrm>
            <a:off x="10195560" y="1874520"/>
            <a:ext cx="1508760" cy="1115568"/>
          </a:xfrm>
          <a:prstGeom prst="rect">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740" b="1" dirty="0">
                <a:solidFill>
                  <a:srgbClr val="334155"/>
                </a:solidFill>
                <a:latin typeface="Yu Gothic" pitchFamily="34" charset="0"/>
                <a:ea typeface="Yu Gothic" pitchFamily="34" charset="-122"/>
                <a:cs typeface="Yu Gothic" pitchFamily="34" charset="-120"/>
              </a:rPr>
              <a:t>Pilot</a:t>
            </a:r>
            <a:endParaRPr lang="en-US" sz="740" dirty="0"/>
          </a:p>
          <a:p>
            <a:pPr algn="ctr" indent="0" marL="0">
              <a:buNone/>
            </a:pPr>
            <a:r>
              <a:rPr lang="en-US" sz="740" b="1" dirty="0">
                <a:solidFill>
                  <a:srgbClr val="334155"/>
                </a:solidFill>
                <a:latin typeface="Yu Gothic" pitchFamily="34" charset="0"/>
                <a:ea typeface="Yu Gothic" pitchFamily="34" charset="-122"/>
                <a:cs typeface="Yu Gothic" pitchFamily="34" charset="-120"/>
              </a:rPr>
              <a:t>PM向け月次レポート・擬似運用・改善判断</a:t>
            </a:r>
            <a:endParaRPr lang="en-US" sz="740" dirty="0"/>
          </a:p>
        </p:txBody>
      </p:sp>
      <p:sp>
        <p:nvSpPr>
          <p:cNvPr id="22" name="Text 20"/>
          <p:cNvSpPr/>
          <p:nvPr/>
        </p:nvSpPr>
        <p:spPr>
          <a:xfrm>
            <a:off x="1005840" y="4114800"/>
            <a:ext cx="2971800" cy="1051560"/>
          </a:xfrm>
          <a:prstGeom prst="rect">
            <a:avLst/>
          </a:prstGeom>
          <a:solidFill>
            <a:srgbClr val="F8FAFC"/>
          </a:solidFill>
          <a:ln w="12700">
            <a:solidFill>
              <a:srgbClr val="CBD5E1"/>
            </a:solidFill>
          </a:ln>
        </p:spPr>
        <p:txBody>
          <a:bodyPr wrap="square" lIns="1016" tIns="1016" rIns="1016" bIns="1016" rtlCol="0" anchor="ctr">
            <a:normAutofit/>
          </a:bodyPr>
          <a:lstStyle/>
          <a:p>
            <a:pPr algn="ctr" indent="0" marL="0">
              <a:buNone/>
            </a:pPr>
            <a:r>
              <a:rPr lang="en-US" sz="950" b="1" dirty="0">
                <a:solidFill>
                  <a:srgbClr val="0B1F3A"/>
                </a:solidFill>
                <a:latin typeface="Yu Gothic" pitchFamily="34" charset="0"/>
                <a:ea typeface="Yu Gothic" pitchFamily="34" charset="-122"/>
                <a:cs typeface="Yu Gothic" pitchFamily="34" charset="-120"/>
              </a:rPr>
              <a:t>技術成果物</a:t>
            </a:r>
            <a:endParaRPr lang="en-US" sz="950" dirty="0"/>
          </a:p>
          <a:p>
            <a:pPr algn="ctr" indent="0" marL="0">
              <a:buNone/>
            </a:pPr>
            <a:r>
              <a:rPr lang="en-US" sz="950" b="1" dirty="0">
                <a:solidFill>
                  <a:srgbClr val="0B1F3A"/>
                </a:solidFill>
                <a:latin typeface="Yu Gothic" pitchFamily="34" charset="0"/>
                <a:ea typeface="Yu Gothic" pitchFamily="34" charset="-122"/>
                <a:cs typeface="Yu Gothic" pitchFamily="34" charset="-120"/>
              </a:rPr>
              <a:t>Signal/Evidence Store、学習Pipeline、Backtest、レポート出力</a:t>
            </a:r>
            <a:endParaRPr lang="en-US" sz="950" dirty="0"/>
          </a:p>
        </p:txBody>
      </p:sp>
      <p:sp>
        <p:nvSpPr>
          <p:cNvPr id="23" name="Text 21"/>
          <p:cNvSpPr/>
          <p:nvPr/>
        </p:nvSpPr>
        <p:spPr>
          <a:xfrm>
            <a:off x="4434840" y="4114800"/>
            <a:ext cx="2971800" cy="1051560"/>
          </a:xfrm>
          <a:prstGeom prst="rect">
            <a:avLst/>
          </a:prstGeom>
          <a:solidFill>
            <a:srgbClr val="F8FAFC"/>
          </a:solidFill>
          <a:ln w="12700">
            <a:solidFill>
              <a:srgbClr val="CBD5E1"/>
            </a:solidFill>
          </a:ln>
        </p:spPr>
        <p:txBody>
          <a:bodyPr wrap="square" lIns="1016" tIns="1016" rIns="1016" bIns="1016" rtlCol="0" anchor="ctr">
            <a:normAutofit/>
          </a:bodyPr>
          <a:lstStyle/>
          <a:p>
            <a:pPr algn="ctr" indent="0" marL="0">
              <a:buNone/>
            </a:pPr>
            <a:r>
              <a:rPr lang="en-US" sz="950" b="1" dirty="0">
                <a:solidFill>
                  <a:srgbClr val="0B1F3A"/>
                </a:solidFill>
                <a:latin typeface="Yu Gothic" pitchFamily="34" charset="0"/>
                <a:ea typeface="Yu Gothic" pitchFamily="34" charset="-122"/>
                <a:cs typeface="Yu Gothic" pitchFamily="34" charset="-120"/>
              </a:rPr>
              <a:t>投資成果物</a:t>
            </a:r>
            <a:endParaRPr lang="en-US" sz="950" dirty="0"/>
          </a:p>
          <a:p>
            <a:pPr algn="ctr" indent="0" marL="0">
              <a:buNone/>
            </a:pPr>
            <a:r>
              <a:rPr lang="en-US" sz="950" b="1" dirty="0">
                <a:solidFill>
                  <a:srgbClr val="0B1F3A"/>
                </a:solidFill>
                <a:latin typeface="Yu Gothic" pitchFamily="34" charset="0"/>
                <a:ea typeface="Yu Gothic" pitchFamily="34" charset="-122"/>
                <a:cs typeface="Yu Gothic" pitchFamily="34" charset="-120"/>
              </a:rPr>
              <a:t>月次PM説明資料、Evidence Attribution、モデルウェイト履歴</a:t>
            </a:r>
            <a:endParaRPr lang="en-US" sz="950" dirty="0"/>
          </a:p>
        </p:txBody>
      </p:sp>
      <p:sp>
        <p:nvSpPr>
          <p:cNvPr id="24" name="Text 22"/>
          <p:cNvSpPr/>
          <p:nvPr/>
        </p:nvSpPr>
        <p:spPr>
          <a:xfrm>
            <a:off x="7863840" y="4114800"/>
            <a:ext cx="2971800" cy="1051560"/>
          </a:xfrm>
          <a:prstGeom prst="rect">
            <a:avLst/>
          </a:prstGeom>
          <a:solidFill>
            <a:srgbClr val="F8FAFC"/>
          </a:solidFill>
          <a:ln w="12700">
            <a:solidFill>
              <a:srgbClr val="CBD5E1"/>
            </a:solidFill>
          </a:ln>
        </p:spPr>
        <p:txBody>
          <a:bodyPr wrap="square" lIns="1016" tIns="1016" rIns="1016" bIns="1016" rtlCol="0" anchor="ctr">
            <a:normAutofit/>
          </a:bodyPr>
          <a:lstStyle/>
          <a:p>
            <a:pPr algn="ctr" indent="0" marL="0">
              <a:buNone/>
            </a:pPr>
            <a:r>
              <a:rPr lang="en-US" sz="950" b="1" dirty="0">
                <a:solidFill>
                  <a:srgbClr val="0B1F3A"/>
                </a:solidFill>
                <a:latin typeface="Yu Gothic" pitchFamily="34" charset="0"/>
                <a:ea typeface="Yu Gothic" pitchFamily="34" charset="-122"/>
                <a:cs typeface="Yu Gothic" pitchFamily="34" charset="-120"/>
              </a:rPr>
              <a:t>評価成果物</a:t>
            </a:r>
            <a:endParaRPr lang="en-US" sz="950" dirty="0"/>
          </a:p>
          <a:p>
            <a:pPr algn="ctr" indent="0" marL="0">
              <a:buNone/>
            </a:pPr>
            <a:r>
              <a:rPr lang="en-US" sz="950" b="1" dirty="0">
                <a:solidFill>
                  <a:srgbClr val="0B1F3A"/>
                </a:solidFill>
                <a:latin typeface="Yu Gothic" pitchFamily="34" charset="0"/>
                <a:ea typeface="Yu Gothic" pitchFamily="34" charset="-122"/>
                <a:cs typeface="Yu Gothic" pitchFamily="34" charset="-120"/>
              </a:rPr>
              <a:t>OOS Rank IC、IR、Turnover、コスト控除後、レジーム別性能</a:t>
            </a:r>
            <a:endParaRPr lang="en-US" sz="950" dirty="0"/>
          </a:p>
        </p:txBody>
      </p:sp>
      <p:sp>
        <p:nvSpPr>
          <p:cNvPr id="25" name="Text 23"/>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26" name="Text 24"/>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14</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PM向けアウトプット：投資判断をEvidenceで説明する</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モデルのブラックボックス出力ではなく、投資会議で議論できる形へ変換する</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685800" y="1234440"/>
            <a:ext cx="3017520" cy="384048"/>
          </a:xfrm>
          <a:prstGeom prst="rect">
            <a:avLst/>
          </a:prstGeom>
          <a:solidFill>
            <a:srgbClr val="0B1F3A"/>
          </a:solidFill>
          <a:ln>
            <a:solidFill>
              <a:srgbClr val="0B1F3A">
                <a:alpha val="0"/>
              </a:srgbClr>
            </a:solidFill>
          </a:ln>
        </p:spPr>
        <p:txBody>
          <a:bodyPr wrap="square" lIns="1016" tIns="1016" rIns="1016" bIns="1016" rtlCol="0" anchor="ctr">
            <a:norm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日本株先物：Moderate Long</a:t>
            </a:r>
            <a:endParaRPr lang="en-US" sz="1200" dirty="0"/>
          </a:p>
        </p:txBody>
      </p:sp>
      <p:sp>
        <p:nvSpPr>
          <p:cNvPr id="6" name="Text 4"/>
          <p:cNvSpPr/>
          <p:nvPr/>
        </p:nvSpPr>
        <p:spPr>
          <a:xfrm>
            <a:off x="822960" y="1828800"/>
            <a:ext cx="1280160" cy="310896"/>
          </a:xfrm>
          <a:prstGeom prst="rect">
            <a:avLst/>
          </a:prstGeom>
          <a:solidFill>
            <a:srgbClr val="10B981"/>
          </a:solidFill>
          <a:ln>
            <a:solidFill>
              <a:srgbClr val="10B981">
                <a:alpha val="0"/>
              </a:srgbClr>
            </a:solidFill>
          </a:ln>
        </p:spPr>
        <p:txBody>
          <a:bodyPr wrap="square" lIns="1016" tIns="1016" rIns="1016" bIns="1016" rtlCol="0" anchor="ctr">
            <a:normAutofit/>
          </a:bodyPr>
          <a:lstStyle/>
          <a:p>
            <a:pPr algn="ctr" indent="0" marL="0">
              <a:buNone/>
            </a:pPr>
            <a:r>
              <a:rPr lang="en-US" sz="800" b="1" dirty="0">
                <a:solidFill>
                  <a:srgbClr val="FFFFFF"/>
                </a:solidFill>
                <a:latin typeface="Yu Gothic" pitchFamily="34" charset="0"/>
                <a:ea typeface="Yu Gothic" pitchFamily="34" charset="-122"/>
                <a:cs typeface="Yu Gothic" pitchFamily="34" charset="-120"/>
              </a:rPr>
              <a:t>Persistence</a:t>
            </a:r>
            <a:endParaRPr lang="en-US" sz="800" dirty="0"/>
          </a:p>
        </p:txBody>
      </p:sp>
      <p:sp>
        <p:nvSpPr>
          <p:cNvPr id="7" name="Text 5"/>
          <p:cNvSpPr/>
          <p:nvPr/>
        </p:nvSpPr>
        <p:spPr>
          <a:xfrm>
            <a:off x="2240280" y="1828800"/>
            <a:ext cx="960120" cy="310896"/>
          </a:xfrm>
          <a:prstGeom prst="rect">
            <a:avLst/>
          </a:prstGeom>
          <a:solidFill>
            <a:srgbClr val="FFFFFF"/>
          </a:solidFill>
          <a:ln w="12700">
            <a:solidFill>
              <a:srgbClr val="10B981"/>
            </a:solidFill>
          </a:ln>
        </p:spPr>
        <p:txBody>
          <a:bodyPr wrap="square" lIns="1016" tIns="1016" rIns="1016" bIns="1016" rtlCol="0" anchor="ctr">
            <a:normAutofit/>
          </a:bodyPr>
          <a:lstStyle/>
          <a:p>
            <a:pPr algn="ctr" indent="0" marL="0">
              <a:buNone/>
            </a:pPr>
            <a:r>
              <a:rPr lang="en-US" sz="800" b="1" dirty="0">
                <a:solidFill>
                  <a:srgbClr val="10B981"/>
                </a:solidFill>
                <a:latin typeface="Yu Gothic" pitchFamily="34" charset="0"/>
                <a:ea typeface="Yu Gothic" pitchFamily="34" charset="-122"/>
                <a:cs typeface="Yu Gothic" pitchFamily="34" charset="-120"/>
              </a:rPr>
              <a:t>Bullish</a:t>
            </a:r>
            <a:endParaRPr lang="en-US" sz="800" dirty="0"/>
          </a:p>
        </p:txBody>
      </p:sp>
      <p:sp>
        <p:nvSpPr>
          <p:cNvPr id="8" name="Text 6"/>
          <p:cNvSpPr/>
          <p:nvPr/>
        </p:nvSpPr>
        <p:spPr>
          <a:xfrm>
            <a:off x="3383280" y="1828800"/>
            <a:ext cx="4389120" cy="310896"/>
          </a:xfrm>
          <a:prstGeom prst="rect">
            <a:avLst/>
          </a:prstGeom>
          <a:solidFill>
            <a:srgbClr val="F8FAFC"/>
          </a:solidFill>
          <a:ln w="12700">
            <a:solidFill>
              <a:srgbClr val="E2E8F0"/>
            </a:solidFill>
          </a:ln>
        </p:spPr>
        <p:txBody>
          <a:bodyPr wrap="square" lIns="1016" tIns="1016" rIns="1016" bIns="1016" rtlCol="0" anchor="ctr">
            <a:normAutofit/>
          </a:bodyPr>
          <a:lstStyle/>
          <a:p>
            <a:pPr algn="l" indent="0" marL="0">
              <a:buNone/>
            </a:pPr>
            <a:r>
              <a:rPr lang="en-US" sz="820" dirty="0">
                <a:solidFill>
                  <a:srgbClr val="334155"/>
                </a:solidFill>
                <a:latin typeface="Yu Gothic" pitchFamily="34" charset="0"/>
                <a:ea typeface="Yu Gothic" pitchFamily="34" charset="-122"/>
                <a:cs typeface="Yu Gothic" pitchFamily="34" charset="-120"/>
              </a:rPr>
              <a:t>中期Momentum・Trend Structureが強い</a:t>
            </a:r>
            <a:endParaRPr lang="en-US" sz="820" dirty="0"/>
          </a:p>
        </p:txBody>
      </p:sp>
      <p:sp>
        <p:nvSpPr>
          <p:cNvPr id="9" name="Text 7"/>
          <p:cNvSpPr/>
          <p:nvPr/>
        </p:nvSpPr>
        <p:spPr>
          <a:xfrm>
            <a:off x="822960" y="2331720"/>
            <a:ext cx="1280160" cy="310896"/>
          </a:xfrm>
          <a:prstGeom prst="rect">
            <a:avLst/>
          </a:prstGeom>
          <a:solidFill>
            <a:srgbClr val="7C3AED"/>
          </a:solidFill>
          <a:ln>
            <a:solidFill>
              <a:srgbClr val="7C3AED">
                <a:alpha val="0"/>
              </a:srgbClr>
            </a:solidFill>
          </a:ln>
        </p:spPr>
        <p:txBody>
          <a:bodyPr wrap="square" lIns="1016" tIns="1016" rIns="1016" bIns="1016" rtlCol="0" anchor="ctr">
            <a:normAutofit/>
          </a:bodyPr>
          <a:lstStyle/>
          <a:p>
            <a:pPr algn="ctr" indent="0" marL="0">
              <a:buNone/>
            </a:pPr>
            <a:r>
              <a:rPr lang="en-US" sz="800" b="1" dirty="0">
                <a:solidFill>
                  <a:srgbClr val="FFFFFF"/>
                </a:solidFill>
                <a:latin typeface="Yu Gothic" pitchFamily="34" charset="0"/>
                <a:ea typeface="Yu Gothic" pitchFamily="34" charset="-122"/>
                <a:cs typeface="Yu Gothic" pitchFamily="34" charset="-120"/>
              </a:rPr>
              <a:t>Transformer</a:t>
            </a:r>
            <a:endParaRPr lang="en-US" sz="800" dirty="0"/>
          </a:p>
        </p:txBody>
      </p:sp>
      <p:sp>
        <p:nvSpPr>
          <p:cNvPr id="10" name="Text 8"/>
          <p:cNvSpPr/>
          <p:nvPr/>
        </p:nvSpPr>
        <p:spPr>
          <a:xfrm>
            <a:off x="2240280" y="2331720"/>
            <a:ext cx="960120" cy="310896"/>
          </a:xfrm>
          <a:prstGeom prst="rect">
            <a:avLst/>
          </a:prstGeom>
          <a:solidFill>
            <a:srgbClr val="FFFFFF"/>
          </a:solidFill>
          <a:ln w="12700">
            <a:solidFill>
              <a:srgbClr val="7C3AED"/>
            </a:solidFill>
          </a:ln>
        </p:spPr>
        <p:txBody>
          <a:bodyPr wrap="square" lIns="1016" tIns="1016" rIns="1016" bIns="1016" rtlCol="0" anchor="ctr">
            <a:normAutofit/>
          </a:bodyPr>
          <a:lstStyle/>
          <a:p>
            <a:pPr algn="ctr" indent="0" marL="0">
              <a:buNone/>
            </a:pPr>
            <a:r>
              <a:rPr lang="en-US" sz="800" b="1" dirty="0">
                <a:solidFill>
                  <a:srgbClr val="7C3AED"/>
                </a:solidFill>
                <a:latin typeface="Yu Gothic" pitchFamily="34" charset="0"/>
                <a:ea typeface="Yu Gothic" pitchFamily="34" charset="-122"/>
                <a:cs typeface="Yu Gothic" pitchFamily="34" charset="-120"/>
              </a:rPr>
              <a:t>Bullish</a:t>
            </a:r>
            <a:endParaRPr lang="en-US" sz="800" dirty="0"/>
          </a:p>
        </p:txBody>
      </p:sp>
      <p:sp>
        <p:nvSpPr>
          <p:cNvPr id="11" name="Text 9"/>
          <p:cNvSpPr/>
          <p:nvPr/>
        </p:nvSpPr>
        <p:spPr>
          <a:xfrm>
            <a:off x="3383280" y="2331720"/>
            <a:ext cx="4389120" cy="310896"/>
          </a:xfrm>
          <a:prstGeom prst="rect">
            <a:avLst/>
          </a:prstGeom>
          <a:solidFill>
            <a:srgbClr val="F8FAFC"/>
          </a:solidFill>
          <a:ln w="12700">
            <a:solidFill>
              <a:srgbClr val="E2E8F0"/>
            </a:solidFill>
          </a:ln>
        </p:spPr>
        <p:txBody>
          <a:bodyPr wrap="square" lIns="1016" tIns="1016" rIns="1016" bIns="1016" rtlCol="0" anchor="ctr">
            <a:normAutofit/>
          </a:bodyPr>
          <a:lstStyle/>
          <a:p>
            <a:pPr algn="l" indent="0" marL="0">
              <a:buNone/>
            </a:pPr>
            <a:r>
              <a:rPr lang="en-US" sz="820" dirty="0">
                <a:solidFill>
                  <a:srgbClr val="334155"/>
                </a:solidFill>
                <a:latin typeface="Yu Gothic" pitchFamily="34" charset="0"/>
                <a:ea typeface="Yu Gothic" pitchFamily="34" charset="-122"/>
                <a:cs typeface="Yu Gothic" pitchFamily="34" charset="-120"/>
              </a:rPr>
              <a:t>21–60日のPersistence期間を重視</a:t>
            </a:r>
            <a:endParaRPr lang="en-US" sz="820" dirty="0"/>
          </a:p>
        </p:txBody>
      </p:sp>
      <p:sp>
        <p:nvSpPr>
          <p:cNvPr id="12" name="Text 10"/>
          <p:cNvSpPr/>
          <p:nvPr/>
        </p:nvSpPr>
        <p:spPr>
          <a:xfrm>
            <a:off x="822960" y="2834640"/>
            <a:ext cx="1280160" cy="310896"/>
          </a:xfrm>
          <a:prstGeom prst="rect">
            <a:avLst/>
          </a:prstGeom>
          <a:solidFill>
            <a:srgbClr val="2563EB"/>
          </a:solidFill>
          <a:ln>
            <a:solidFill>
              <a:srgbClr val="2563EB">
                <a:alpha val="0"/>
              </a:srgbClr>
            </a:solidFill>
          </a:ln>
        </p:spPr>
        <p:txBody>
          <a:bodyPr wrap="square" lIns="1016" tIns="1016" rIns="1016" bIns="1016" rtlCol="0" anchor="ctr">
            <a:normAutofit/>
          </a:bodyPr>
          <a:lstStyle/>
          <a:p>
            <a:pPr algn="ctr" indent="0" marL="0">
              <a:buNone/>
            </a:pPr>
            <a:r>
              <a:rPr lang="en-US" sz="800" b="1" dirty="0">
                <a:solidFill>
                  <a:srgbClr val="FFFFFF"/>
                </a:solidFill>
                <a:latin typeface="Yu Gothic" pitchFamily="34" charset="0"/>
                <a:ea typeface="Yu Gothic" pitchFamily="34" charset="-122"/>
                <a:cs typeface="Yu Gothic" pitchFamily="34" charset="-120"/>
              </a:rPr>
              <a:t>Flow</a:t>
            </a:r>
            <a:endParaRPr lang="en-US" sz="800" dirty="0"/>
          </a:p>
        </p:txBody>
      </p:sp>
      <p:sp>
        <p:nvSpPr>
          <p:cNvPr id="13" name="Text 11"/>
          <p:cNvSpPr/>
          <p:nvPr/>
        </p:nvSpPr>
        <p:spPr>
          <a:xfrm>
            <a:off x="2240280" y="2834640"/>
            <a:ext cx="960120" cy="310896"/>
          </a:xfrm>
          <a:prstGeom prst="rect">
            <a:avLst/>
          </a:prstGeom>
          <a:solidFill>
            <a:srgbClr val="FFFFFF"/>
          </a:solidFill>
          <a:ln w="12700">
            <a:solidFill>
              <a:srgbClr val="2563EB"/>
            </a:solidFill>
          </a:ln>
        </p:spPr>
        <p:txBody>
          <a:bodyPr wrap="square" lIns="1016" tIns="1016" rIns="1016" bIns="1016" rtlCol="0" anchor="ctr">
            <a:normAutofit/>
          </a:bodyPr>
          <a:lstStyle/>
          <a:p>
            <a:pPr algn="ctr" indent="0" marL="0">
              <a:buNone/>
            </a:pPr>
            <a:r>
              <a:rPr lang="en-US" sz="800" b="1" dirty="0">
                <a:solidFill>
                  <a:srgbClr val="2563EB"/>
                </a:solidFill>
                <a:latin typeface="Yu Gothic" pitchFamily="34" charset="0"/>
                <a:ea typeface="Yu Gothic" pitchFamily="34" charset="-122"/>
                <a:cs typeface="Yu Gothic" pitchFamily="34" charset="-120"/>
              </a:rPr>
              <a:t>Bullish</a:t>
            </a:r>
            <a:endParaRPr lang="en-US" sz="800" dirty="0"/>
          </a:p>
        </p:txBody>
      </p:sp>
      <p:sp>
        <p:nvSpPr>
          <p:cNvPr id="14" name="Text 12"/>
          <p:cNvSpPr/>
          <p:nvPr/>
        </p:nvSpPr>
        <p:spPr>
          <a:xfrm>
            <a:off x="3383280" y="2834640"/>
            <a:ext cx="4389120" cy="310896"/>
          </a:xfrm>
          <a:prstGeom prst="rect">
            <a:avLst/>
          </a:prstGeom>
          <a:solidFill>
            <a:srgbClr val="F8FAFC"/>
          </a:solidFill>
          <a:ln w="12700">
            <a:solidFill>
              <a:srgbClr val="E2E8F0"/>
            </a:solidFill>
          </a:ln>
        </p:spPr>
        <p:txBody>
          <a:bodyPr wrap="square" lIns="1016" tIns="1016" rIns="1016" bIns="1016" rtlCol="0" anchor="ctr">
            <a:normAutofit/>
          </a:bodyPr>
          <a:lstStyle/>
          <a:p>
            <a:pPr algn="l" indent="0" marL="0">
              <a:buNone/>
            </a:pPr>
            <a:r>
              <a:rPr lang="en-US" sz="820" dirty="0">
                <a:solidFill>
                  <a:srgbClr val="334155"/>
                </a:solidFill>
                <a:latin typeface="Yu Gothic" pitchFamily="34" charset="0"/>
                <a:ea typeface="Yu Gothic" pitchFamily="34" charset="-122"/>
                <a:cs typeface="Yu Gothic" pitchFamily="34" charset="-120"/>
              </a:rPr>
              <a:t>価格上昇に出来高の確認あり</a:t>
            </a:r>
            <a:endParaRPr lang="en-US" sz="820" dirty="0"/>
          </a:p>
        </p:txBody>
      </p:sp>
      <p:sp>
        <p:nvSpPr>
          <p:cNvPr id="15" name="Text 13"/>
          <p:cNvSpPr/>
          <p:nvPr/>
        </p:nvSpPr>
        <p:spPr>
          <a:xfrm>
            <a:off x="822960" y="3337560"/>
            <a:ext cx="1280160" cy="310896"/>
          </a:xfrm>
          <a:prstGeom prst="rect">
            <a:avLst/>
          </a:prstGeom>
          <a:solidFill>
            <a:srgbClr val="EF4444"/>
          </a:solidFill>
          <a:ln>
            <a:solidFill>
              <a:srgbClr val="EF4444">
                <a:alpha val="0"/>
              </a:srgbClr>
            </a:solidFill>
          </a:ln>
        </p:spPr>
        <p:txBody>
          <a:bodyPr wrap="square" lIns="1016" tIns="1016" rIns="1016" bIns="1016" rtlCol="0" anchor="ctr">
            <a:normAutofit/>
          </a:bodyPr>
          <a:lstStyle/>
          <a:p>
            <a:pPr algn="ctr" indent="0" marL="0">
              <a:buNone/>
            </a:pPr>
            <a:r>
              <a:rPr lang="en-US" sz="800" b="1" dirty="0">
                <a:solidFill>
                  <a:srgbClr val="FFFFFF"/>
                </a:solidFill>
                <a:latin typeface="Yu Gothic" pitchFamily="34" charset="0"/>
                <a:ea typeface="Yu Gothic" pitchFamily="34" charset="-122"/>
                <a:cs typeface="Yu Gothic" pitchFamily="34" charset="-120"/>
              </a:rPr>
              <a:t>Volatility</a:t>
            </a:r>
            <a:endParaRPr lang="en-US" sz="800" dirty="0"/>
          </a:p>
        </p:txBody>
      </p:sp>
      <p:sp>
        <p:nvSpPr>
          <p:cNvPr id="16" name="Text 14"/>
          <p:cNvSpPr/>
          <p:nvPr/>
        </p:nvSpPr>
        <p:spPr>
          <a:xfrm>
            <a:off x="2240280" y="3337560"/>
            <a:ext cx="960120" cy="310896"/>
          </a:xfrm>
          <a:prstGeom prst="rect">
            <a:avLst/>
          </a:prstGeom>
          <a:solidFill>
            <a:srgbClr val="FFFFFF"/>
          </a:solidFill>
          <a:ln w="12700">
            <a:solidFill>
              <a:srgbClr val="EF4444"/>
            </a:solidFill>
          </a:ln>
        </p:spPr>
        <p:txBody>
          <a:bodyPr wrap="square" lIns="1016" tIns="1016" rIns="1016" bIns="1016" rtlCol="0" anchor="ctr">
            <a:normAutofit/>
          </a:bodyPr>
          <a:lstStyle/>
          <a:p>
            <a:pPr algn="ctr" indent="0" marL="0">
              <a:buNone/>
            </a:pPr>
            <a:r>
              <a:rPr lang="en-US" sz="800" b="1" dirty="0">
                <a:solidFill>
                  <a:srgbClr val="EF4444"/>
                </a:solidFill>
                <a:latin typeface="Yu Gothic" pitchFamily="34" charset="0"/>
                <a:ea typeface="Yu Gothic" pitchFamily="34" charset="-122"/>
                <a:cs typeface="Yu Gothic" pitchFamily="34" charset="-120"/>
              </a:rPr>
              <a:t>Bearish</a:t>
            </a:r>
            <a:endParaRPr lang="en-US" sz="800" dirty="0"/>
          </a:p>
        </p:txBody>
      </p:sp>
      <p:sp>
        <p:nvSpPr>
          <p:cNvPr id="17" name="Text 15"/>
          <p:cNvSpPr/>
          <p:nvPr/>
        </p:nvSpPr>
        <p:spPr>
          <a:xfrm>
            <a:off x="3383280" y="3337560"/>
            <a:ext cx="4389120" cy="310896"/>
          </a:xfrm>
          <a:prstGeom prst="rect">
            <a:avLst/>
          </a:prstGeom>
          <a:solidFill>
            <a:srgbClr val="F8FAFC"/>
          </a:solidFill>
          <a:ln w="12700">
            <a:solidFill>
              <a:srgbClr val="E2E8F0"/>
            </a:solidFill>
          </a:ln>
        </p:spPr>
        <p:txBody>
          <a:bodyPr wrap="square" lIns="1016" tIns="1016" rIns="1016" bIns="1016" rtlCol="0" anchor="ctr">
            <a:normAutofit/>
          </a:bodyPr>
          <a:lstStyle/>
          <a:p>
            <a:pPr algn="l" indent="0" marL="0">
              <a:buNone/>
            </a:pPr>
            <a:r>
              <a:rPr lang="en-US" sz="820" dirty="0">
                <a:solidFill>
                  <a:srgbClr val="334155"/>
                </a:solidFill>
                <a:latin typeface="Yu Gothic" pitchFamily="34" charset="0"/>
                <a:ea typeface="Yu Gothic" pitchFamily="34" charset="-122"/>
                <a:cs typeface="Yu Gothic" pitchFamily="34" charset="-120"/>
              </a:rPr>
              <a:t>ボラ上昇によりサイズ抑制</a:t>
            </a:r>
            <a:endParaRPr lang="en-US" sz="820" dirty="0"/>
          </a:p>
        </p:txBody>
      </p:sp>
      <p:sp>
        <p:nvSpPr>
          <p:cNvPr id="18" name="Text 16"/>
          <p:cNvSpPr/>
          <p:nvPr/>
        </p:nvSpPr>
        <p:spPr>
          <a:xfrm>
            <a:off x="822960" y="3840480"/>
            <a:ext cx="1280160" cy="310896"/>
          </a:xfrm>
          <a:prstGeom prst="rect">
            <a:avLst/>
          </a:prstGeom>
          <a:solidFill>
            <a:srgbClr val="F59E0B"/>
          </a:solidFill>
          <a:ln>
            <a:solidFill>
              <a:srgbClr val="F59E0B">
                <a:alpha val="0"/>
              </a:srgbClr>
            </a:solidFill>
          </a:ln>
        </p:spPr>
        <p:txBody>
          <a:bodyPr wrap="square" lIns="1016" tIns="1016" rIns="1016" bIns="1016" rtlCol="0" anchor="ctr">
            <a:normAutofit/>
          </a:bodyPr>
          <a:lstStyle/>
          <a:p>
            <a:pPr algn="ctr" indent="0" marL="0">
              <a:buNone/>
            </a:pPr>
            <a:r>
              <a:rPr lang="en-US" sz="800" b="1" dirty="0">
                <a:solidFill>
                  <a:srgbClr val="FFFFFF"/>
                </a:solidFill>
                <a:latin typeface="Yu Gothic" pitchFamily="34" charset="0"/>
                <a:ea typeface="Yu Gothic" pitchFamily="34" charset="-122"/>
                <a:cs typeface="Yu Gothic" pitchFamily="34" charset="-120"/>
              </a:rPr>
              <a:t>FX / Macro</a:t>
            </a:r>
            <a:endParaRPr lang="en-US" sz="800" dirty="0"/>
          </a:p>
        </p:txBody>
      </p:sp>
      <p:sp>
        <p:nvSpPr>
          <p:cNvPr id="19" name="Text 17"/>
          <p:cNvSpPr/>
          <p:nvPr/>
        </p:nvSpPr>
        <p:spPr>
          <a:xfrm>
            <a:off x="2240280" y="3840480"/>
            <a:ext cx="960120" cy="310896"/>
          </a:xfrm>
          <a:prstGeom prst="rect">
            <a:avLst/>
          </a:prstGeom>
          <a:solidFill>
            <a:srgbClr val="FFFFFF"/>
          </a:solidFill>
          <a:ln w="12700">
            <a:solidFill>
              <a:srgbClr val="F59E0B"/>
            </a:solidFill>
          </a:ln>
        </p:spPr>
        <p:txBody>
          <a:bodyPr wrap="square" lIns="1016" tIns="1016" rIns="1016" bIns="1016" rtlCol="0" anchor="ctr">
            <a:normAutofit/>
          </a:bodyPr>
          <a:lstStyle/>
          <a:p>
            <a:pPr algn="ctr" indent="0" marL="0">
              <a:buNone/>
            </a:pPr>
            <a:r>
              <a:rPr lang="en-US" sz="800" b="1" dirty="0">
                <a:solidFill>
                  <a:srgbClr val="F59E0B"/>
                </a:solidFill>
                <a:latin typeface="Yu Gothic" pitchFamily="34" charset="0"/>
                <a:ea typeface="Yu Gothic" pitchFamily="34" charset="-122"/>
                <a:cs typeface="Yu Gothic" pitchFamily="34" charset="-120"/>
              </a:rPr>
              <a:t>Neutral</a:t>
            </a:r>
            <a:endParaRPr lang="en-US" sz="800" dirty="0"/>
          </a:p>
        </p:txBody>
      </p:sp>
      <p:sp>
        <p:nvSpPr>
          <p:cNvPr id="20" name="Text 18"/>
          <p:cNvSpPr/>
          <p:nvPr/>
        </p:nvSpPr>
        <p:spPr>
          <a:xfrm>
            <a:off x="3383280" y="3840480"/>
            <a:ext cx="4389120" cy="310896"/>
          </a:xfrm>
          <a:prstGeom prst="rect">
            <a:avLst/>
          </a:prstGeom>
          <a:solidFill>
            <a:srgbClr val="F8FAFC"/>
          </a:solidFill>
          <a:ln w="12700">
            <a:solidFill>
              <a:srgbClr val="E2E8F0"/>
            </a:solidFill>
          </a:ln>
        </p:spPr>
        <p:txBody>
          <a:bodyPr wrap="square" lIns="1016" tIns="1016" rIns="1016" bIns="1016" rtlCol="0" anchor="ctr">
            <a:normAutofit/>
          </a:bodyPr>
          <a:lstStyle/>
          <a:p>
            <a:pPr algn="l" indent="0" marL="0">
              <a:buNone/>
            </a:pPr>
            <a:r>
              <a:rPr lang="en-US" sz="820" dirty="0">
                <a:solidFill>
                  <a:srgbClr val="334155"/>
                </a:solidFill>
                <a:latin typeface="Yu Gothic" pitchFamily="34" charset="0"/>
                <a:ea typeface="Yu Gothic" pitchFamily="34" charset="-122"/>
                <a:cs typeface="Yu Gothic" pitchFamily="34" charset="-120"/>
              </a:rPr>
              <a:t>外部環境は強い追い風ではない</a:t>
            </a:r>
            <a:endParaRPr lang="en-US" sz="820" dirty="0"/>
          </a:p>
        </p:txBody>
      </p:sp>
      <p:sp>
        <p:nvSpPr>
          <p:cNvPr id="21" name="Text 19"/>
          <p:cNvSpPr/>
          <p:nvPr/>
        </p:nvSpPr>
        <p:spPr>
          <a:xfrm>
            <a:off x="822960" y="4663440"/>
            <a:ext cx="1325880" cy="320040"/>
          </a:xfrm>
          <a:prstGeom prst="rect">
            <a:avLst/>
          </a:prstGeom>
          <a:solidFill>
            <a:srgbClr val="DBEAFE"/>
          </a:solidFill>
          <a:ln w="12700">
            <a:solidFill>
              <a:srgbClr val="2563EB"/>
            </a:solidFill>
          </a:ln>
        </p:spPr>
        <p:txBody>
          <a:bodyPr wrap="square" lIns="1016" tIns="1016" rIns="1016" bIns="1016" rtlCol="0" anchor="ctr">
            <a:normAutofit/>
          </a:bodyPr>
          <a:lstStyle/>
          <a:p>
            <a:pPr algn="ctr" indent="0" marL="0">
              <a:buNone/>
            </a:pPr>
            <a:r>
              <a:rPr lang="en-US" sz="900" b="1" dirty="0">
                <a:solidFill>
                  <a:srgbClr val="2563EB"/>
                </a:solidFill>
                <a:latin typeface="Yu Gothic" pitchFamily="34" charset="0"/>
                <a:ea typeface="Yu Gothic" pitchFamily="34" charset="-122"/>
                <a:cs typeface="Yu Gothic" pitchFamily="34" charset="-120"/>
              </a:rPr>
              <a:t>最終説明文</a:t>
            </a:r>
            <a:endParaRPr lang="en-US" sz="900" dirty="0"/>
          </a:p>
        </p:txBody>
      </p:sp>
      <p:sp>
        <p:nvSpPr>
          <p:cNvPr id="22" name="Text 20"/>
          <p:cNvSpPr/>
          <p:nvPr/>
        </p:nvSpPr>
        <p:spPr>
          <a:xfrm>
            <a:off x="2331720" y="4645152"/>
            <a:ext cx="8869680" cy="475488"/>
          </a:xfrm>
          <a:prstGeom prst="rect">
            <a:avLst/>
          </a:prstGeom>
          <a:noFill/>
          <a:ln/>
        </p:spPr>
        <p:txBody>
          <a:bodyPr wrap="square" lIns="0" tIns="0" rIns="0" bIns="0" rtlCol="0" anchor="ctr">
            <a:normAutofit/>
          </a:bodyPr>
          <a:lstStyle/>
          <a:p>
            <a:pPr indent="0" marL="0">
              <a:buNone/>
            </a:pPr>
            <a:r>
              <a:rPr lang="en-US" sz="1050" dirty="0">
                <a:solidFill>
                  <a:srgbClr val="334155"/>
                </a:solidFill>
                <a:latin typeface="Yu Gothic" pitchFamily="34" charset="0"/>
                <a:ea typeface="Yu Gothic" pitchFamily="34" charset="-122"/>
                <a:cs typeface="Yu Gothic" pitchFamily="34" charset="-120"/>
              </a:rPr>
              <a:t>日本株先物は、Persistence・Flow・Transformer Temporal Expertが強気を示した。一方、Volatility Evidenceがやや弱気であるため、ロング判断は維持するが、ポジションサイズは通常比70%に抑制する。</a:t>
            </a:r>
            <a:endParaRPr lang="en-US" sz="1050" dirty="0"/>
          </a:p>
        </p:txBody>
      </p:sp>
      <p:sp>
        <p:nvSpPr>
          <p:cNvPr id="23" name="Text 21"/>
          <p:cNvSpPr/>
          <p:nvPr/>
        </p:nvSpPr>
        <p:spPr>
          <a:xfrm>
            <a:off x="8229600" y="1508760"/>
            <a:ext cx="2880360" cy="2423160"/>
          </a:xfrm>
          <a:prstGeom prst="rect">
            <a:avLst/>
          </a:prstGeom>
          <a:solidFill>
            <a:srgbClr val="F8FAFC"/>
          </a:solidFill>
          <a:ln w="12700">
            <a:solidFill>
              <a:srgbClr val="CBD5E1"/>
            </a:solidFill>
          </a:ln>
        </p:spPr>
        <p:txBody>
          <a:bodyPr wrap="square" lIns="1524" tIns="1524" rIns="1524" bIns="1524" rtlCol="0" anchor="ctr">
            <a:normAutofit/>
          </a:bodyPr>
          <a:lstStyle/>
          <a:p>
            <a:pPr algn="l" indent="0" marL="0">
              <a:buNone/>
            </a:pPr>
            <a:r>
              <a:rPr lang="en-US" sz="1000" dirty="0">
                <a:solidFill>
                  <a:srgbClr val="0B1F3A"/>
                </a:solidFill>
                <a:latin typeface="Yu Gothic" pitchFamily="34" charset="0"/>
                <a:ea typeface="Yu Gothic" pitchFamily="34" charset="-122"/>
                <a:cs typeface="Yu Gothic" pitchFamily="34" charset="-120"/>
              </a:rPr>
              <a:t>PMが確認できること</a:t>
            </a:r>
            <a:endParaRPr lang="en-US" sz="1000" dirty="0"/>
          </a:p>
          <a:p>
            <a:pPr algn="l" indent="0" marL="0">
              <a:buNone/>
            </a:pPr>
            <a:endParaRPr lang="en-US" sz="1000" dirty="0"/>
          </a:p>
          <a:p>
            <a:pPr algn="l" indent="0" marL="0">
              <a:buNone/>
            </a:pPr>
            <a:r>
              <a:rPr lang="en-US" sz="1000" dirty="0">
                <a:solidFill>
                  <a:srgbClr val="0B1F3A"/>
                </a:solidFill>
                <a:latin typeface="Yu Gothic" pitchFamily="34" charset="0"/>
                <a:ea typeface="Yu Gothic" pitchFamily="34" charset="-122"/>
                <a:cs typeface="Yu Gothic" pitchFamily="34" charset="-120"/>
              </a:rPr>
              <a:t>• どの投資仮説が買い/売りを支持したか</a:t>
            </a:r>
            <a:endParaRPr lang="en-US" sz="1000" dirty="0"/>
          </a:p>
          <a:p>
            <a:pPr algn="l" indent="0" marL="0">
              <a:buNone/>
            </a:pPr>
            <a:r>
              <a:rPr lang="en-US" sz="1000" dirty="0">
                <a:solidFill>
                  <a:srgbClr val="0B1F3A"/>
                </a:solidFill>
                <a:latin typeface="Yu Gothic" pitchFamily="34" charset="0"/>
                <a:ea typeface="Yu Gothic" pitchFamily="34" charset="-122"/>
                <a:cs typeface="Yu Gothic" pitchFamily="34" charset="-120"/>
              </a:rPr>
              <a:t>• どのモデルの発言力が上がった/下がったか</a:t>
            </a:r>
            <a:endParaRPr lang="en-US" sz="1000" dirty="0"/>
          </a:p>
          <a:p>
            <a:pPr algn="l" indent="0" marL="0">
              <a:buNone/>
            </a:pPr>
            <a:r>
              <a:rPr lang="en-US" sz="1000" dirty="0">
                <a:solidFill>
                  <a:srgbClr val="0B1F3A"/>
                </a:solidFill>
                <a:latin typeface="Yu Gothic" pitchFamily="34" charset="0"/>
                <a:ea typeface="Yu Gothic" pitchFamily="34" charset="-122"/>
                <a:cs typeface="Yu Gothic" pitchFamily="34" charset="-120"/>
              </a:rPr>
              <a:t>• Transformerがどの過去期間を重視したか</a:t>
            </a:r>
            <a:endParaRPr lang="en-US" sz="1000" dirty="0"/>
          </a:p>
          <a:p>
            <a:pPr algn="l" indent="0" marL="0">
              <a:buNone/>
            </a:pPr>
            <a:r>
              <a:rPr lang="en-US" sz="1000" dirty="0">
                <a:solidFill>
                  <a:srgbClr val="0B1F3A"/>
                </a:solidFill>
                <a:latin typeface="Yu Gothic" pitchFamily="34" charset="0"/>
                <a:ea typeface="Yu Gothic" pitchFamily="34" charset="-122"/>
                <a:cs typeface="Yu Gothic" pitchFamily="34" charset="-120"/>
              </a:rPr>
              <a:t>• リスク制約でサイズがどう変わったか</a:t>
            </a:r>
            <a:endParaRPr lang="en-US" sz="1000" dirty="0"/>
          </a:p>
        </p:txBody>
      </p:sp>
      <p:sp>
        <p:nvSpPr>
          <p:cNvPr id="24" name="Text 22"/>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25" name="Text 23"/>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15</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なぜこのフローが妥当か</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研究知見・実務要件・運用統制の3つに整合する</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868680" y="1417320"/>
            <a:ext cx="1828800" cy="384048"/>
          </a:xfrm>
          <a:prstGeom prst="rect">
            <a:avLst/>
          </a:prstGeom>
          <a:solidFill>
            <a:srgbClr val="2563EB"/>
          </a:solidFill>
          <a:ln>
            <a:solidFill>
              <a:srgbClr val="2563EB">
                <a:alpha val="0"/>
              </a:srgbClr>
            </a:solidFill>
          </a:ln>
        </p:spPr>
        <p:txBody>
          <a:bodyPr wrap="square" lIns="1016" tIns="1016" rIns="1016" bIns="1016" rtlCol="0" anchor="ctr">
            <a:norm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研究知見</a:t>
            </a:r>
            <a:endParaRPr lang="en-US" sz="1100" dirty="0"/>
          </a:p>
        </p:txBody>
      </p:sp>
      <p:sp>
        <p:nvSpPr>
          <p:cNvPr id="6" name="Text 4"/>
          <p:cNvSpPr/>
          <p:nvPr/>
        </p:nvSpPr>
        <p:spPr>
          <a:xfrm>
            <a:off x="868680" y="1920240"/>
            <a:ext cx="4754880" cy="914400"/>
          </a:xfrm>
          <a:prstGeom prst="rect">
            <a:avLst/>
          </a:prstGeom>
          <a:solidFill>
            <a:srgbClr val="FFFFFF"/>
          </a:solidFill>
          <a:ln w="12700">
            <a:solidFill>
              <a:srgbClr val="CBD5E1"/>
            </a:solidFill>
          </a:ln>
        </p:spPr>
        <p:txBody>
          <a:bodyPr wrap="square" lIns="1524" tIns="1524" rIns="1524" bIns="1524" rtlCol="0" anchor="ctr">
            <a:normAutofit/>
          </a:bodyPr>
          <a:lstStyle/>
          <a:p>
            <a:pPr algn="l" indent="0" marL="0">
              <a:buNone/>
            </a:pPr>
            <a:r>
              <a:rPr lang="en-US" sz="1000" dirty="0">
                <a:solidFill>
                  <a:srgbClr val="334155"/>
                </a:solidFill>
                <a:latin typeface="Yu Gothic" pitchFamily="34" charset="0"/>
                <a:ea typeface="Yu Gothic" pitchFamily="34" charset="-122"/>
                <a:cs typeface="Yu Gothic" pitchFamily="34" charset="-120"/>
              </a:rPr>
              <a:t>予測組合せは単一モデル選択より頑健になりやすい。Transformerは長期依存・多期間予測に適した構造を持つ。</a:t>
            </a:r>
            <a:endParaRPr lang="en-US" sz="1000" dirty="0"/>
          </a:p>
        </p:txBody>
      </p:sp>
      <p:sp>
        <p:nvSpPr>
          <p:cNvPr id="7" name="Text 5"/>
          <p:cNvSpPr/>
          <p:nvPr/>
        </p:nvSpPr>
        <p:spPr>
          <a:xfrm>
            <a:off x="6355080" y="1417320"/>
            <a:ext cx="1828800" cy="384048"/>
          </a:xfrm>
          <a:prstGeom prst="rect">
            <a:avLst/>
          </a:prstGeom>
          <a:solidFill>
            <a:srgbClr val="10B981"/>
          </a:solidFill>
          <a:ln>
            <a:solidFill>
              <a:srgbClr val="10B981">
                <a:alpha val="0"/>
              </a:srgbClr>
            </a:solidFill>
          </a:ln>
        </p:spPr>
        <p:txBody>
          <a:bodyPr wrap="square" lIns="1016" tIns="1016" rIns="1016" bIns="1016" rtlCol="0" anchor="ctr">
            <a:norm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金融実務</a:t>
            </a:r>
            <a:endParaRPr lang="en-US" sz="1100" dirty="0"/>
          </a:p>
        </p:txBody>
      </p:sp>
      <p:sp>
        <p:nvSpPr>
          <p:cNvPr id="8" name="Text 6"/>
          <p:cNvSpPr/>
          <p:nvPr/>
        </p:nvSpPr>
        <p:spPr>
          <a:xfrm>
            <a:off x="6355080" y="1920240"/>
            <a:ext cx="4754880" cy="914400"/>
          </a:xfrm>
          <a:prstGeom prst="rect">
            <a:avLst/>
          </a:prstGeom>
          <a:solidFill>
            <a:srgbClr val="FFFFFF"/>
          </a:solidFill>
          <a:ln w="12700">
            <a:solidFill>
              <a:srgbClr val="CBD5E1"/>
            </a:solidFill>
          </a:ln>
        </p:spPr>
        <p:txBody>
          <a:bodyPr wrap="square" lIns="1524" tIns="1524" rIns="1524" bIns="1524" rtlCol="0" anchor="ctr">
            <a:normAutofit/>
          </a:bodyPr>
          <a:lstStyle/>
          <a:p>
            <a:pPr algn="l" indent="0" marL="0">
              <a:buNone/>
            </a:pPr>
            <a:r>
              <a:rPr lang="en-US" sz="1000" dirty="0">
                <a:solidFill>
                  <a:srgbClr val="334155"/>
                </a:solidFill>
                <a:latin typeface="Yu Gothic" pitchFamily="34" charset="0"/>
                <a:ea typeface="Yu Gothic" pitchFamily="34" charset="-122"/>
                <a:cs typeface="Yu Gothic" pitchFamily="34" charset="-120"/>
              </a:rPr>
              <a:t>PM説明では特徴量寄与より、どの市場仮説が支持されたかが重要。Evidence化は投資会議の言語に近い。</a:t>
            </a:r>
            <a:endParaRPr lang="en-US" sz="1000" dirty="0"/>
          </a:p>
        </p:txBody>
      </p:sp>
      <p:sp>
        <p:nvSpPr>
          <p:cNvPr id="9" name="Text 7"/>
          <p:cNvSpPr/>
          <p:nvPr/>
        </p:nvSpPr>
        <p:spPr>
          <a:xfrm>
            <a:off x="868680" y="3246120"/>
            <a:ext cx="1828800" cy="384048"/>
          </a:xfrm>
          <a:prstGeom prst="rect">
            <a:avLst/>
          </a:prstGeom>
          <a:solidFill>
            <a:srgbClr val="F59E0B"/>
          </a:solidFill>
          <a:ln>
            <a:solidFill>
              <a:srgbClr val="F59E0B">
                <a:alpha val="0"/>
              </a:srgbClr>
            </a:solidFill>
          </a:ln>
        </p:spPr>
        <p:txBody>
          <a:bodyPr wrap="square" lIns="1016" tIns="1016" rIns="1016" bIns="1016" rtlCol="0" anchor="ctr">
            <a:norm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運用統制</a:t>
            </a:r>
            <a:endParaRPr lang="en-US" sz="1100" dirty="0"/>
          </a:p>
        </p:txBody>
      </p:sp>
      <p:sp>
        <p:nvSpPr>
          <p:cNvPr id="10" name="Text 8"/>
          <p:cNvSpPr/>
          <p:nvPr/>
        </p:nvSpPr>
        <p:spPr>
          <a:xfrm>
            <a:off x="868680" y="3749040"/>
            <a:ext cx="4754880" cy="914400"/>
          </a:xfrm>
          <a:prstGeom prst="rect">
            <a:avLst/>
          </a:prstGeom>
          <a:solidFill>
            <a:srgbClr val="FFFFFF"/>
          </a:solidFill>
          <a:ln w="12700">
            <a:solidFill>
              <a:srgbClr val="CBD5E1"/>
            </a:solidFill>
          </a:ln>
        </p:spPr>
        <p:txBody>
          <a:bodyPr wrap="square" lIns="1524" tIns="1524" rIns="1524" bIns="1524" rtlCol="0" anchor="ctr">
            <a:normAutofit/>
          </a:bodyPr>
          <a:lstStyle/>
          <a:p>
            <a:pPr algn="l" indent="0" marL="0">
              <a:buNone/>
            </a:pPr>
            <a:r>
              <a:rPr lang="en-US" sz="1000" dirty="0">
                <a:solidFill>
                  <a:srgbClr val="334155"/>
                </a:solidFill>
                <a:latin typeface="Yu Gothic" pitchFamily="34" charset="0"/>
                <a:ea typeface="Yu Gothic" pitchFamily="34" charset="-122"/>
                <a:cs typeface="Yu Gothic" pitchFamily="34" charset="-120"/>
              </a:rPr>
              <a:t>動的ウェイトはOOSでのみ更新し、Prior縮小・上限・月次更新で過剰適応を抑える。</a:t>
            </a:r>
            <a:endParaRPr lang="en-US" sz="1000" dirty="0"/>
          </a:p>
        </p:txBody>
      </p:sp>
      <p:sp>
        <p:nvSpPr>
          <p:cNvPr id="11" name="Text 9"/>
          <p:cNvSpPr/>
          <p:nvPr/>
        </p:nvSpPr>
        <p:spPr>
          <a:xfrm>
            <a:off x="6355080" y="3246120"/>
            <a:ext cx="1828800" cy="384048"/>
          </a:xfrm>
          <a:prstGeom prst="rect">
            <a:avLst/>
          </a:prstGeom>
          <a:solidFill>
            <a:srgbClr val="7C3AED"/>
          </a:solidFill>
          <a:ln>
            <a:solidFill>
              <a:srgbClr val="7C3AED">
                <a:alpha val="0"/>
              </a:srgbClr>
            </a:solidFill>
          </a:ln>
        </p:spPr>
        <p:txBody>
          <a:bodyPr wrap="square" lIns="1016" tIns="1016" rIns="1016" bIns="1016" rtlCol="0" anchor="ctr">
            <a:norm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リスク管理</a:t>
            </a:r>
            <a:endParaRPr lang="en-US" sz="1100" dirty="0"/>
          </a:p>
        </p:txBody>
      </p:sp>
      <p:sp>
        <p:nvSpPr>
          <p:cNvPr id="12" name="Text 10"/>
          <p:cNvSpPr/>
          <p:nvPr/>
        </p:nvSpPr>
        <p:spPr>
          <a:xfrm>
            <a:off x="6355080" y="3749040"/>
            <a:ext cx="4754880" cy="914400"/>
          </a:xfrm>
          <a:prstGeom prst="rect">
            <a:avLst/>
          </a:prstGeom>
          <a:solidFill>
            <a:srgbClr val="FFFFFF"/>
          </a:solidFill>
          <a:ln w="12700">
            <a:solidFill>
              <a:srgbClr val="CBD5E1"/>
            </a:solidFill>
          </a:ln>
        </p:spPr>
        <p:txBody>
          <a:bodyPr wrap="square" lIns="1524" tIns="1524" rIns="1524" bIns="1524" rtlCol="0" anchor="ctr">
            <a:normAutofit/>
          </a:bodyPr>
          <a:lstStyle/>
          <a:p>
            <a:pPr algn="l" indent="0" marL="0">
              <a:buNone/>
            </a:pPr>
            <a:r>
              <a:rPr lang="en-US" sz="1000" dirty="0">
                <a:solidFill>
                  <a:srgbClr val="334155"/>
                </a:solidFill>
                <a:latin typeface="Yu Gothic" pitchFamily="34" charset="0"/>
                <a:ea typeface="Yu Gothic" pitchFamily="34" charset="-122"/>
                <a:cs typeface="Yu Gothic" pitchFamily="34" charset="-120"/>
              </a:rPr>
              <a:t>Volatility、Conflict、Turnover、ロール・休日情報をポジションサイズに反映する。</a:t>
            </a:r>
            <a:endParaRPr lang="en-US" sz="1000" dirty="0"/>
          </a:p>
        </p:txBody>
      </p:sp>
      <p:sp>
        <p:nvSpPr>
          <p:cNvPr id="13" name="Text 11"/>
          <p:cNvSpPr/>
          <p:nvPr/>
        </p:nvSpPr>
        <p:spPr>
          <a:xfrm>
            <a:off x="1325880" y="5486400"/>
            <a:ext cx="9555480" cy="512064"/>
          </a:xfrm>
          <a:prstGeom prst="rect">
            <a:avLst/>
          </a:prstGeom>
          <a:solidFill>
            <a:srgbClr val="0B1F3A"/>
          </a:solidFill>
          <a:ln>
            <a:solidFill>
              <a:srgbClr val="0B1F3A">
                <a:alpha val="0"/>
              </a:srgbClr>
            </a:solidFill>
          </a:ln>
        </p:spPr>
        <p:txBody>
          <a:bodyPr wrap="square" lIns="1016" tIns="1016" rIns="1016" bIns="1016" rtlCol="0" anchor="ctr">
            <a:normAutofit/>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実装価値：単なる精度改善ではなく、</a:t>
            </a:r>
            <a:endParaRPr lang="en-US" sz="1300" dirty="0"/>
          </a:p>
          <a:p>
            <a:pPr algn="ctr" indent="0" marL="0">
              <a:buNone/>
            </a:pPr>
            <a:r>
              <a:rPr lang="en-US" sz="1300" b="1" dirty="0">
                <a:solidFill>
                  <a:srgbClr val="FFFFFF"/>
                </a:solidFill>
                <a:latin typeface="Yu Gothic" pitchFamily="34" charset="0"/>
                <a:ea typeface="Yu Gothic" pitchFamily="34" charset="-122"/>
                <a:cs typeface="Yu Gothic" pitchFamily="34" charset="-120"/>
              </a:rPr>
              <a:t>「モデルを信頼できる投資プロセスに組み込む」ための基盤になる。</a:t>
            </a:r>
            <a:endParaRPr lang="en-US" sz="1300" dirty="0"/>
          </a:p>
        </p:txBody>
      </p:sp>
      <p:sp>
        <p:nvSpPr>
          <p:cNvPr id="14" name="Text 12"/>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15" name="Text 13"/>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16</a:t>
            </a:r>
            <a:endParaRPr lang="en-US" sz="750" dirty="0"/>
          </a:p>
        </p:txBody>
      </p:sp>
      <p:sp>
        <p:nvSpPr>
          <p:cNvPr id="16" name="Text 14"/>
          <p:cNvSpPr/>
          <p:nvPr/>
        </p:nvSpPr>
        <p:spPr>
          <a:xfrm>
            <a:off x="411480" y="6281928"/>
            <a:ext cx="10972800" cy="182880"/>
          </a:xfrm>
          <a:prstGeom prst="rect">
            <a:avLst/>
          </a:prstGeom>
          <a:noFill/>
          <a:ln/>
        </p:spPr>
        <p:txBody>
          <a:bodyPr wrap="square" lIns="0" tIns="0" rIns="0" bIns="0" rtlCol="0" anchor="ctr">
            <a:normAutofit/>
          </a:bodyPr>
          <a:lstStyle/>
          <a:p>
            <a:pPr indent="0" marL="0">
              <a:buNone/>
            </a:pPr>
            <a:r>
              <a:rPr lang="en-US" sz="500" dirty="0">
                <a:solidFill>
                  <a:srgbClr val="94A3B8"/>
                </a:solidFill>
                <a:latin typeface="Yu Gothic" pitchFamily="34" charset="0"/>
                <a:ea typeface="Yu Gothic" pitchFamily="34" charset="-122"/>
                <a:cs typeface="Yu Gothic" pitchFamily="34" charset="-120"/>
              </a:rPr>
              <a:t>Refs: Forecast combinations [1], TFT [4], PatchTST [5], Attention caveats [7][8]</a:t>
            </a:r>
            <a:endParaRPr lang="en-US" sz="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想定される懸念と対応策</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実装前にリスクを明示し、設計で潰す</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868680" y="1261872"/>
            <a:ext cx="1005840" cy="201168"/>
          </a:xfrm>
          <a:prstGeom prst="rect">
            <a:avLst/>
          </a:prstGeom>
          <a:noFill/>
          <a:ln/>
        </p:spPr>
        <p:txBody>
          <a:bodyPr wrap="square" lIns="0" tIns="0" rIns="0" bIns="0" rtlCol="0" anchor="ctr"/>
          <a:lstStyle/>
          <a:p>
            <a:pPr indent="0" marL="0">
              <a:buNone/>
            </a:pPr>
            <a:r>
              <a:rPr lang="en-US" sz="1000" b="1" dirty="0">
                <a:solidFill>
                  <a:srgbClr val="EF4444"/>
                </a:solidFill>
                <a:latin typeface="Yu Gothic" pitchFamily="34" charset="0"/>
                <a:ea typeface="Yu Gothic" pitchFamily="34" charset="-122"/>
                <a:cs typeface="Yu Gothic" pitchFamily="34" charset="-120"/>
              </a:rPr>
              <a:t>懸念</a:t>
            </a:r>
            <a:endParaRPr lang="en-US" sz="1000" dirty="0"/>
          </a:p>
        </p:txBody>
      </p:sp>
      <p:sp>
        <p:nvSpPr>
          <p:cNvPr id="6" name="Text 4"/>
          <p:cNvSpPr/>
          <p:nvPr/>
        </p:nvSpPr>
        <p:spPr>
          <a:xfrm>
            <a:off x="3063240" y="1261872"/>
            <a:ext cx="1005840" cy="201168"/>
          </a:xfrm>
          <a:prstGeom prst="rect">
            <a:avLst/>
          </a:prstGeom>
          <a:noFill/>
          <a:ln/>
        </p:spPr>
        <p:txBody>
          <a:bodyPr wrap="square" lIns="0" tIns="0" rIns="0" bIns="0" rtlCol="0" anchor="ctr"/>
          <a:lstStyle/>
          <a:p>
            <a:pPr indent="0" marL="0">
              <a:buNone/>
            </a:pPr>
            <a:r>
              <a:rPr lang="en-US" sz="1000" b="1" dirty="0">
                <a:solidFill>
                  <a:srgbClr val="64748B"/>
                </a:solidFill>
                <a:latin typeface="Yu Gothic" pitchFamily="34" charset="0"/>
                <a:ea typeface="Yu Gothic" pitchFamily="34" charset="-122"/>
                <a:cs typeface="Yu Gothic" pitchFamily="34" charset="-120"/>
              </a:rPr>
              <a:t>理由</a:t>
            </a:r>
            <a:endParaRPr lang="en-US" sz="1000" dirty="0"/>
          </a:p>
        </p:txBody>
      </p:sp>
      <p:sp>
        <p:nvSpPr>
          <p:cNvPr id="7" name="Text 5"/>
          <p:cNvSpPr/>
          <p:nvPr/>
        </p:nvSpPr>
        <p:spPr>
          <a:xfrm>
            <a:off x="5577840" y="1261872"/>
            <a:ext cx="1005840" cy="201168"/>
          </a:xfrm>
          <a:prstGeom prst="rect">
            <a:avLst/>
          </a:prstGeom>
          <a:noFill/>
          <a:ln/>
        </p:spPr>
        <p:txBody>
          <a:bodyPr wrap="square" lIns="0" tIns="0" rIns="0" bIns="0" rtlCol="0" anchor="ctr"/>
          <a:lstStyle/>
          <a:p>
            <a:pPr indent="0" marL="0">
              <a:buNone/>
            </a:pPr>
            <a:r>
              <a:rPr lang="en-US" sz="1000" b="1" dirty="0">
                <a:solidFill>
                  <a:srgbClr val="10B981"/>
                </a:solidFill>
                <a:latin typeface="Yu Gothic" pitchFamily="34" charset="0"/>
                <a:ea typeface="Yu Gothic" pitchFamily="34" charset="-122"/>
                <a:cs typeface="Yu Gothic" pitchFamily="34" charset="-120"/>
              </a:rPr>
              <a:t>対応策</a:t>
            </a:r>
            <a:endParaRPr lang="en-US" sz="1000" dirty="0"/>
          </a:p>
        </p:txBody>
      </p:sp>
      <p:sp>
        <p:nvSpPr>
          <p:cNvPr id="8" name="Text 6"/>
          <p:cNvSpPr/>
          <p:nvPr/>
        </p:nvSpPr>
        <p:spPr>
          <a:xfrm>
            <a:off x="822960" y="1600200"/>
            <a:ext cx="1920240" cy="384048"/>
          </a:xfrm>
          <a:prstGeom prst="rect">
            <a:avLst/>
          </a:prstGeom>
          <a:solidFill>
            <a:srgbClr val="FEE2E2"/>
          </a:solidFill>
          <a:ln w="12700">
            <a:solidFill>
              <a:srgbClr val="FCA5A5"/>
            </a:solidFill>
          </a:ln>
        </p:spPr>
        <p:txBody>
          <a:bodyPr wrap="square" lIns="1016" tIns="1016" rIns="1016" bIns="1016" rtlCol="0" anchor="ctr">
            <a:normAutofit/>
          </a:bodyPr>
          <a:lstStyle/>
          <a:p>
            <a:pPr algn="ctr" indent="0" marL="0">
              <a:buNone/>
            </a:pPr>
            <a:r>
              <a:rPr lang="en-US" sz="850" b="1" dirty="0">
                <a:solidFill>
                  <a:srgbClr val="EF4444"/>
                </a:solidFill>
                <a:latin typeface="Yu Gothic" pitchFamily="34" charset="0"/>
                <a:ea typeface="Yu Gothic" pitchFamily="34" charset="-122"/>
                <a:cs typeface="Yu Gothic" pitchFamily="34" charset="-120"/>
              </a:rPr>
              <a:t>過学習</a:t>
            </a:r>
            <a:endParaRPr lang="en-US" sz="850" dirty="0"/>
          </a:p>
        </p:txBody>
      </p:sp>
      <p:sp>
        <p:nvSpPr>
          <p:cNvPr id="9" name="Text 7"/>
          <p:cNvSpPr/>
          <p:nvPr/>
        </p:nvSpPr>
        <p:spPr>
          <a:xfrm>
            <a:off x="2971800" y="1600200"/>
            <a:ext cx="214884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00" dirty="0">
                <a:solidFill>
                  <a:srgbClr val="334155"/>
                </a:solidFill>
                <a:latin typeface="Yu Gothic" pitchFamily="34" charset="0"/>
                <a:ea typeface="Yu Gothic" pitchFamily="34" charset="-122"/>
                <a:cs typeface="Yu Gothic" pitchFamily="34" charset="-120"/>
              </a:rPr>
              <a:t>12市場のみでサンプルが小さい</a:t>
            </a:r>
            <a:endParaRPr lang="en-US" sz="800" dirty="0"/>
          </a:p>
        </p:txBody>
      </p:sp>
      <p:sp>
        <p:nvSpPr>
          <p:cNvPr id="10" name="Text 8"/>
          <p:cNvSpPr/>
          <p:nvPr/>
        </p:nvSpPr>
        <p:spPr>
          <a:xfrm>
            <a:off x="5394960" y="1600200"/>
            <a:ext cx="5897880" cy="384048"/>
          </a:xfrm>
          <a:prstGeom prst="rect">
            <a:avLst/>
          </a:prstGeom>
          <a:solidFill>
            <a:srgbClr val="ECFDF5"/>
          </a:solidFill>
          <a:ln w="12700">
            <a:solidFill>
              <a:srgbClr val="A7F3D0"/>
            </a:solidFill>
          </a:ln>
        </p:spPr>
        <p:txBody>
          <a:bodyPr wrap="square" lIns="1016" tIns="1016" rIns="1016" bIns="1016" rtlCol="0" anchor="ctr">
            <a:normAutofit/>
          </a:bodyPr>
          <a:lstStyle/>
          <a:p>
            <a:pPr algn="l" indent="0" marL="0">
              <a:buNone/>
            </a:pPr>
            <a:r>
              <a:rPr lang="en-US" sz="800" dirty="0">
                <a:solidFill>
                  <a:srgbClr val="065F46"/>
                </a:solidFill>
                <a:latin typeface="Yu Gothic" pitchFamily="34" charset="0"/>
                <a:ea typeface="Yu Gothic" pitchFamily="34" charset="-122"/>
                <a:cs typeface="Yu Gothic" pitchFamily="34" charset="-120"/>
              </a:rPr>
              <a:t>Prior縮小、非重複OOS、月次更新、Weight上限</a:t>
            </a:r>
            <a:endParaRPr lang="en-US" sz="800" dirty="0"/>
          </a:p>
        </p:txBody>
      </p:sp>
      <p:sp>
        <p:nvSpPr>
          <p:cNvPr id="11" name="Text 9"/>
          <p:cNvSpPr/>
          <p:nvPr/>
        </p:nvSpPr>
        <p:spPr>
          <a:xfrm>
            <a:off x="822960" y="2258568"/>
            <a:ext cx="1920240" cy="384048"/>
          </a:xfrm>
          <a:prstGeom prst="rect">
            <a:avLst/>
          </a:prstGeom>
          <a:solidFill>
            <a:srgbClr val="FEE2E2"/>
          </a:solidFill>
          <a:ln w="12700">
            <a:solidFill>
              <a:srgbClr val="FCA5A5"/>
            </a:solidFill>
          </a:ln>
        </p:spPr>
        <p:txBody>
          <a:bodyPr wrap="square" lIns="1016" tIns="1016" rIns="1016" bIns="1016" rtlCol="0" anchor="ctr">
            <a:normAutofit/>
          </a:bodyPr>
          <a:lstStyle/>
          <a:p>
            <a:pPr algn="ctr" indent="0" marL="0">
              <a:buNone/>
            </a:pPr>
            <a:r>
              <a:rPr lang="en-US" sz="850" b="1" dirty="0">
                <a:solidFill>
                  <a:srgbClr val="EF4444"/>
                </a:solidFill>
                <a:latin typeface="Yu Gothic" pitchFamily="34" charset="0"/>
                <a:ea typeface="Yu Gothic" pitchFamily="34" charset="-122"/>
                <a:cs typeface="Yu Gothic" pitchFamily="34" charset="-120"/>
              </a:rPr>
              <a:t>Attention誤解</a:t>
            </a:r>
            <a:endParaRPr lang="en-US" sz="850" dirty="0"/>
          </a:p>
        </p:txBody>
      </p:sp>
      <p:sp>
        <p:nvSpPr>
          <p:cNvPr id="12" name="Text 10"/>
          <p:cNvSpPr/>
          <p:nvPr/>
        </p:nvSpPr>
        <p:spPr>
          <a:xfrm>
            <a:off x="2971800" y="2258568"/>
            <a:ext cx="214884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00" dirty="0">
                <a:solidFill>
                  <a:srgbClr val="334155"/>
                </a:solidFill>
                <a:latin typeface="Yu Gothic" pitchFamily="34" charset="0"/>
                <a:ea typeface="Yu Gothic" pitchFamily="34" charset="-122"/>
                <a:cs typeface="Yu Gothic" pitchFamily="34" charset="-120"/>
              </a:rPr>
              <a:t>Attentionを理由と誤認する可能性</a:t>
            </a:r>
            <a:endParaRPr lang="en-US" sz="800" dirty="0"/>
          </a:p>
        </p:txBody>
      </p:sp>
      <p:sp>
        <p:nvSpPr>
          <p:cNvPr id="13" name="Text 11"/>
          <p:cNvSpPr/>
          <p:nvPr/>
        </p:nvSpPr>
        <p:spPr>
          <a:xfrm>
            <a:off x="5394960" y="2258568"/>
            <a:ext cx="5897880" cy="384048"/>
          </a:xfrm>
          <a:prstGeom prst="rect">
            <a:avLst/>
          </a:prstGeom>
          <a:solidFill>
            <a:srgbClr val="ECFDF5"/>
          </a:solidFill>
          <a:ln w="12700">
            <a:solidFill>
              <a:srgbClr val="A7F3D0"/>
            </a:solidFill>
          </a:ln>
        </p:spPr>
        <p:txBody>
          <a:bodyPr wrap="square" lIns="1016" tIns="1016" rIns="1016" bIns="1016" rtlCol="0" anchor="ctr">
            <a:normAutofit/>
          </a:bodyPr>
          <a:lstStyle/>
          <a:p>
            <a:pPr algn="l" indent="0" marL="0">
              <a:buNone/>
            </a:pPr>
            <a:r>
              <a:rPr lang="en-US" sz="800" dirty="0">
                <a:solidFill>
                  <a:srgbClr val="065F46"/>
                </a:solidFill>
                <a:latin typeface="Yu Gothic" pitchFamily="34" charset="0"/>
                <a:ea typeface="Yu Gothic" pitchFamily="34" charset="-122"/>
                <a:cs typeface="Yu Gothic" pitchFamily="34" charset="-120"/>
              </a:rPr>
              <a:t>Occlusion / Gradient / Seed安定性で裏取り</a:t>
            </a:r>
            <a:endParaRPr lang="en-US" sz="800" dirty="0"/>
          </a:p>
        </p:txBody>
      </p:sp>
      <p:sp>
        <p:nvSpPr>
          <p:cNvPr id="14" name="Text 12"/>
          <p:cNvSpPr/>
          <p:nvPr/>
        </p:nvSpPr>
        <p:spPr>
          <a:xfrm>
            <a:off x="822960" y="2916936"/>
            <a:ext cx="1920240" cy="384048"/>
          </a:xfrm>
          <a:prstGeom prst="rect">
            <a:avLst/>
          </a:prstGeom>
          <a:solidFill>
            <a:srgbClr val="FEE2E2"/>
          </a:solidFill>
          <a:ln w="12700">
            <a:solidFill>
              <a:srgbClr val="FCA5A5"/>
            </a:solidFill>
          </a:ln>
        </p:spPr>
        <p:txBody>
          <a:bodyPr wrap="square" lIns="1016" tIns="1016" rIns="1016" bIns="1016" rtlCol="0" anchor="ctr">
            <a:normAutofit/>
          </a:bodyPr>
          <a:lstStyle/>
          <a:p>
            <a:pPr algn="ctr" indent="0" marL="0">
              <a:buNone/>
            </a:pPr>
            <a:r>
              <a:rPr lang="en-US" sz="850" b="1" dirty="0">
                <a:solidFill>
                  <a:srgbClr val="EF4444"/>
                </a:solidFill>
                <a:latin typeface="Yu Gothic" pitchFamily="34" charset="0"/>
                <a:ea typeface="Yu Gothic" pitchFamily="34" charset="-122"/>
                <a:cs typeface="Yu Gothic" pitchFamily="34" charset="-120"/>
              </a:rPr>
              <a:t>モデル複雑化</a:t>
            </a:r>
            <a:endParaRPr lang="en-US" sz="850" dirty="0"/>
          </a:p>
        </p:txBody>
      </p:sp>
      <p:sp>
        <p:nvSpPr>
          <p:cNvPr id="15" name="Text 13"/>
          <p:cNvSpPr/>
          <p:nvPr/>
        </p:nvSpPr>
        <p:spPr>
          <a:xfrm>
            <a:off x="2971800" y="2916936"/>
            <a:ext cx="214884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00" dirty="0">
                <a:solidFill>
                  <a:srgbClr val="334155"/>
                </a:solidFill>
                <a:latin typeface="Yu Gothic" pitchFamily="34" charset="0"/>
                <a:ea typeface="Yu Gothic" pitchFamily="34" charset="-122"/>
                <a:cs typeface="Yu Gothic" pitchFamily="34" charset="-120"/>
              </a:rPr>
              <a:t>PMが理解しにくい</a:t>
            </a:r>
            <a:endParaRPr lang="en-US" sz="800" dirty="0"/>
          </a:p>
        </p:txBody>
      </p:sp>
      <p:sp>
        <p:nvSpPr>
          <p:cNvPr id="16" name="Text 14"/>
          <p:cNvSpPr/>
          <p:nvPr/>
        </p:nvSpPr>
        <p:spPr>
          <a:xfrm>
            <a:off x="5394960" y="2916936"/>
            <a:ext cx="5897880" cy="384048"/>
          </a:xfrm>
          <a:prstGeom prst="rect">
            <a:avLst/>
          </a:prstGeom>
          <a:solidFill>
            <a:srgbClr val="ECFDF5"/>
          </a:solidFill>
          <a:ln w="12700">
            <a:solidFill>
              <a:srgbClr val="A7F3D0"/>
            </a:solidFill>
          </a:ln>
        </p:spPr>
        <p:txBody>
          <a:bodyPr wrap="square" lIns="1016" tIns="1016" rIns="1016" bIns="1016" rtlCol="0" anchor="ctr">
            <a:normAutofit/>
          </a:bodyPr>
          <a:lstStyle/>
          <a:p>
            <a:pPr algn="l" indent="0" marL="0">
              <a:buNone/>
            </a:pPr>
            <a:r>
              <a:rPr lang="en-US" sz="800" dirty="0">
                <a:solidFill>
                  <a:srgbClr val="065F46"/>
                </a:solidFill>
                <a:latin typeface="Yu Gothic" pitchFamily="34" charset="0"/>
                <a:ea typeface="Yu Gothic" pitchFamily="34" charset="-122"/>
                <a:cs typeface="Yu Gothic" pitchFamily="34" charset="-120"/>
              </a:rPr>
              <a:t>Evidence・Mechanism単位の説明に集約</a:t>
            </a:r>
            <a:endParaRPr lang="en-US" sz="800" dirty="0"/>
          </a:p>
        </p:txBody>
      </p:sp>
      <p:sp>
        <p:nvSpPr>
          <p:cNvPr id="17" name="Text 15"/>
          <p:cNvSpPr/>
          <p:nvPr/>
        </p:nvSpPr>
        <p:spPr>
          <a:xfrm>
            <a:off x="822960" y="3575304"/>
            <a:ext cx="1920240" cy="384048"/>
          </a:xfrm>
          <a:prstGeom prst="rect">
            <a:avLst/>
          </a:prstGeom>
          <a:solidFill>
            <a:srgbClr val="FEE2E2"/>
          </a:solidFill>
          <a:ln w="12700">
            <a:solidFill>
              <a:srgbClr val="FCA5A5"/>
            </a:solidFill>
          </a:ln>
        </p:spPr>
        <p:txBody>
          <a:bodyPr wrap="square" lIns="1016" tIns="1016" rIns="1016" bIns="1016" rtlCol="0" anchor="ctr">
            <a:normAutofit/>
          </a:bodyPr>
          <a:lstStyle/>
          <a:p>
            <a:pPr algn="ctr" indent="0" marL="0">
              <a:buNone/>
            </a:pPr>
            <a:r>
              <a:rPr lang="en-US" sz="850" b="1" dirty="0">
                <a:solidFill>
                  <a:srgbClr val="EF4444"/>
                </a:solidFill>
                <a:latin typeface="Yu Gothic" pitchFamily="34" charset="0"/>
                <a:ea typeface="Yu Gothic" pitchFamily="34" charset="-122"/>
                <a:cs typeface="Yu Gothic" pitchFamily="34" charset="-120"/>
              </a:rPr>
              <a:t>データリーケージ</a:t>
            </a:r>
            <a:endParaRPr lang="en-US" sz="850" dirty="0"/>
          </a:p>
        </p:txBody>
      </p:sp>
      <p:sp>
        <p:nvSpPr>
          <p:cNvPr id="18" name="Text 16"/>
          <p:cNvSpPr/>
          <p:nvPr/>
        </p:nvSpPr>
        <p:spPr>
          <a:xfrm>
            <a:off x="2971800" y="3575304"/>
            <a:ext cx="214884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00" dirty="0">
                <a:solidFill>
                  <a:srgbClr val="334155"/>
                </a:solidFill>
                <a:latin typeface="Yu Gothic" pitchFamily="34" charset="0"/>
                <a:ea typeface="Yu Gothic" pitchFamily="34" charset="-122"/>
                <a:cs typeface="Yu Gothic" pitchFamily="34" charset="-120"/>
              </a:rPr>
              <a:t>時差・ロール・重複ターゲット</a:t>
            </a:r>
            <a:endParaRPr lang="en-US" sz="800" dirty="0"/>
          </a:p>
        </p:txBody>
      </p:sp>
      <p:sp>
        <p:nvSpPr>
          <p:cNvPr id="19" name="Text 17"/>
          <p:cNvSpPr/>
          <p:nvPr/>
        </p:nvSpPr>
        <p:spPr>
          <a:xfrm>
            <a:off x="5394960" y="3575304"/>
            <a:ext cx="5897880" cy="384048"/>
          </a:xfrm>
          <a:prstGeom prst="rect">
            <a:avLst/>
          </a:prstGeom>
          <a:solidFill>
            <a:srgbClr val="ECFDF5"/>
          </a:solidFill>
          <a:ln w="12700">
            <a:solidFill>
              <a:srgbClr val="A7F3D0"/>
            </a:solidFill>
          </a:ln>
        </p:spPr>
        <p:txBody>
          <a:bodyPr wrap="square" lIns="1016" tIns="1016" rIns="1016" bIns="1016" rtlCol="0" anchor="ctr">
            <a:normAutofit/>
          </a:bodyPr>
          <a:lstStyle/>
          <a:p>
            <a:pPr algn="l" indent="0" marL="0">
              <a:buNone/>
            </a:pPr>
            <a:r>
              <a:rPr lang="en-US" sz="800" dirty="0">
                <a:solidFill>
                  <a:srgbClr val="065F46"/>
                </a:solidFill>
                <a:latin typeface="Yu Gothic" pitchFamily="34" charset="0"/>
                <a:ea typeface="Yu Gothic" pitchFamily="34" charset="-122"/>
                <a:cs typeface="Yu Gothic" pitchFamily="34" charset="-120"/>
              </a:rPr>
              <a:t>Point-in-time、1日lag、非重複評価</a:t>
            </a:r>
            <a:endParaRPr lang="en-US" sz="800" dirty="0"/>
          </a:p>
        </p:txBody>
      </p:sp>
      <p:sp>
        <p:nvSpPr>
          <p:cNvPr id="20" name="Text 18"/>
          <p:cNvSpPr/>
          <p:nvPr/>
        </p:nvSpPr>
        <p:spPr>
          <a:xfrm>
            <a:off x="822960" y="4233672"/>
            <a:ext cx="1920240" cy="384048"/>
          </a:xfrm>
          <a:prstGeom prst="rect">
            <a:avLst/>
          </a:prstGeom>
          <a:solidFill>
            <a:srgbClr val="FEE2E2"/>
          </a:solidFill>
          <a:ln w="12700">
            <a:solidFill>
              <a:srgbClr val="FCA5A5"/>
            </a:solidFill>
          </a:ln>
        </p:spPr>
        <p:txBody>
          <a:bodyPr wrap="square" lIns="1016" tIns="1016" rIns="1016" bIns="1016" rtlCol="0" anchor="ctr">
            <a:normAutofit/>
          </a:bodyPr>
          <a:lstStyle/>
          <a:p>
            <a:pPr algn="ctr" indent="0" marL="0">
              <a:buNone/>
            </a:pPr>
            <a:r>
              <a:rPr lang="en-US" sz="850" b="1" dirty="0">
                <a:solidFill>
                  <a:srgbClr val="EF4444"/>
                </a:solidFill>
                <a:latin typeface="Yu Gothic" pitchFamily="34" charset="0"/>
                <a:ea typeface="Yu Gothic" pitchFamily="34" charset="-122"/>
                <a:cs typeface="Yu Gothic" pitchFamily="34" charset="-120"/>
              </a:rPr>
              <a:t>売買コスト</a:t>
            </a:r>
            <a:endParaRPr lang="en-US" sz="850" dirty="0"/>
          </a:p>
        </p:txBody>
      </p:sp>
      <p:sp>
        <p:nvSpPr>
          <p:cNvPr id="21" name="Text 19"/>
          <p:cNvSpPr/>
          <p:nvPr/>
        </p:nvSpPr>
        <p:spPr>
          <a:xfrm>
            <a:off x="2971800" y="4233672"/>
            <a:ext cx="214884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00" dirty="0">
                <a:solidFill>
                  <a:srgbClr val="334155"/>
                </a:solidFill>
                <a:latin typeface="Yu Gothic" pitchFamily="34" charset="0"/>
                <a:ea typeface="Yu Gothic" pitchFamily="34" charset="-122"/>
                <a:cs typeface="Yu Gothic" pitchFamily="34" charset="-120"/>
              </a:rPr>
              <a:t>高Turnoverで利益が消える</a:t>
            </a:r>
            <a:endParaRPr lang="en-US" sz="800" dirty="0"/>
          </a:p>
        </p:txBody>
      </p:sp>
      <p:sp>
        <p:nvSpPr>
          <p:cNvPr id="22" name="Text 20"/>
          <p:cNvSpPr/>
          <p:nvPr/>
        </p:nvSpPr>
        <p:spPr>
          <a:xfrm>
            <a:off x="5394960" y="4233672"/>
            <a:ext cx="5897880" cy="384048"/>
          </a:xfrm>
          <a:prstGeom prst="rect">
            <a:avLst/>
          </a:prstGeom>
          <a:solidFill>
            <a:srgbClr val="ECFDF5"/>
          </a:solidFill>
          <a:ln w="12700">
            <a:solidFill>
              <a:srgbClr val="A7F3D0"/>
            </a:solidFill>
          </a:ln>
        </p:spPr>
        <p:txBody>
          <a:bodyPr wrap="square" lIns="1016" tIns="1016" rIns="1016" bIns="1016" rtlCol="0" anchor="ctr">
            <a:normAutofit/>
          </a:bodyPr>
          <a:lstStyle/>
          <a:p>
            <a:pPr algn="l" indent="0" marL="0">
              <a:buNone/>
            </a:pPr>
            <a:r>
              <a:rPr lang="en-US" sz="800" dirty="0">
                <a:solidFill>
                  <a:srgbClr val="065F46"/>
                </a:solidFill>
                <a:latin typeface="Yu Gothic" pitchFamily="34" charset="0"/>
                <a:ea typeface="Yu Gothic" pitchFamily="34" charset="-122"/>
                <a:cs typeface="Yu Gothic" pitchFamily="34" charset="-120"/>
              </a:rPr>
              <a:t>Turnover penalty、Cost控除後評価</a:t>
            </a:r>
            <a:endParaRPr lang="en-US" sz="800" dirty="0"/>
          </a:p>
        </p:txBody>
      </p:sp>
      <p:sp>
        <p:nvSpPr>
          <p:cNvPr id="23" name="Text 21"/>
          <p:cNvSpPr/>
          <p:nvPr/>
        </p:nvSpPr>
        <p:spPr>
          <a:xfrm>
            <a:off x="822960" y="4892040"/>
            <a:ext cx="1920240" cy="384048"/>
          </a:xfrm>
          <a:prstGeom prst="rect">
            <a:avLst/>
          </a:prstGeom>
          <a:solidFill>
            <a:srgbClr val="FEE2E2"/>
          </a:solidFill>
          <a:ln w="12700">
            <a:solidFill>
              <a:srgbClr val="FCA5A5"/>
            </a:solidFill>
          </a:ln>
        </p:spPr>
        <p:txBody>
          <a:bodyPr wrap="square" lIns="1016" tIns="1016" rIns="1016" bIns="1016" rtlCol="0" anchor="ctr">
            <a:normAutofit/>
          </a:bodyPr>
          <a:lstStyle/>
          <a:p>
            <a:pPr algn="ctr" indent="0" marL="0">
              <a:buNone/>
            </a:pPr>
            <a:r>
              <a:rPr lang="en-US" sz="850" b="1" dirty="0">
                <a:solidFill>
                  <a:srgbClr val="EF4444"/>
                </a:solidFill>
                <a:latin typeface="Yu Gothic" pitchFamily="34" charset="0"/>
                <a:ea typeface="Yu Gothic" pitchFamily="34" charset="-122"/>
                <a:cs typeface="Yu Gothic" pitchFamily="34" charset="-120"/>
              </a:rPr>
              <a:t>運用不安定</a:t>
            </a:r>
            <a:endParaRPr lang="en-US" sz="850" dirty="0"/>
          </a:p>
        </p:txBody>
      </p:sp>
      <p:sp>
        <p:nvSpPr>
          <p:cNvPr id="24" name="Text 22"/>
          <p:cNvSpPr/>
          <p:nvPr/>
        </p:nvSpPr>
        <p:spPr>
          <a:xfrm>
            <a:off x="2971800" y="4892040"/>
            <a:ext cx="2148840" cy="384048"/>
          </a:xfrm>
          <a:prstGeom prst="rect">
            <a:avLst/>
          </a:prstGeom>
          <a:solidFill>
            <a:srgbClr val="F8FAFC"/>
          </a:solidFill>
          <a:ln w="12700">
            <a:solidFill>
              <a:srgbClr val="E2E8F0"/>
            </a:solidFill>
          </a:ln>
        </p:spPr>
        <p:txBody>
          <a:bodyPr wrap="square" lIns="1016" tIns="1016" rIns="1016" bIns="1016" rtlCol="0" anchor="ctr">
            <a:normAutofit/>
          </a:bodyPr>
          <a:lstStyle/>
          <a:p>
            <a:pPr algn="ctr" indent="0" marL="0">
              <a:buNone/>
            </a:pPr>
            <a:r>
              <a:rPr lang="en-US" sz="800" dirty="0">
                <a:solidFill>
                  <a:srgbClr val="334155"/>
                </a:solidFill>
                <a:latin typeface="Yu Gothic" pitchFamily="34" charset="0"/>
                <a:ea typeface="Yu Gothic" pitchFamily="34" charset="-122"/>
                <a:cs typeface="Yu Gothic" pitchFamily="34" charset="-120"/>
              </a:rPr>
              <a:t>モデルウェイトが頻繁に変わる</a:t>
            </a:r>
            <a:endParaRPr lang="en-US" sz="800" dirty="0"/>
          </a:p>
        </p:txBody>
      </p:sp>
      <p:sp>
        <p:nvSpPr>
          <p:cNvPr id="25" name="Text 23"/>
          <p:cNvSpPr/>
          <p:nvPr/>
        </p:nvSpPr>
        <p:spPr>
          <a:xfrm>
            <a:off x="5394960" y="4892040"/>
            <a:ext cx="5897880" cy="384048"/>
          </a:xfrm>
          <a:prstGeom prst="rect">
            <a:avLst/>
          </a:prstGeom>
          <a:solidFill>
            <a:srgbClr val="ECFDF5"/>
          </a:solidFill>
          <a:ln w="12700">
            <a:solidFill>
              <a:srgbClr val="A7F3D0"/>
            </a:solidFill>
          </a:ln>
        </p:spPr>
        <p:txBody>
          <a:bodyPr wrap="square" lIns="1016" tIns="1016" rIns="1016" bIns="1016" rtlCol="0" anchor="ctr">
            <a:normAutofit/>
          </a:bodyPr>
          <a:lstStyle/>
          <a:p>
            <a:pPr algn="l" indent="0" marL="0">
              <a:buNone/>
            </a:pPr>
            <a:r>
              <a:rPr lang="en-US" sz="800" dirty="0">
                <a:solidFill>
                  <a:srgbClr val="065F46"/>
                </a:solidFill>
                <a:latin typeface="Yu Gothic" pitchFamily="34" charset="0"/>
                <a:ea typeface="Yu Gothic" pitchFamily="34" charset="-122"/>
                <a:cs typeface="Yu Gothic" pitchFamily="34" charset="-120"/>
              </a:rPr>
              <a:t>更新頻度・変更幅制約・最低ウェイト</a:t>
            </a:r>
            <a:endParaRPr lang="en-US" sz="800" dirty="0"/>
          </a:p>
        </p:txBody>
      </p:sp>
      <p:sp>
        <p:nvSpPr>
          <p:cNvPr id="26" name="Text 24"/>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27" name="Text 25"/>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17</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意思決定依頼：小規模PoCとして実装価値を検証したい</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いきなり本番化せず、3段階で検証・判断する</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822960" y="1417320"/>
            <a:ext cx="310896" cy="310896"/>
          </a:xfrm>
          <a:prstGeom prst="rect">
            <a:avLst/>
          </a:prstGeom>
          <a:solidFill>
            <a:srgbClr val="2563EB"/>
          </a:solidFill>
          <a:ln>
            <a:solidFill>
              <a:srgbClr val="2563EB"/>
            </a:solid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6" name="Text 4"/>
          <p:cNvSpPr/>
          <p:nvPr/>
        </p:nvSpPr>
        <p:spPr>
          <a:xfrm>
            <a:off x="1234440" y="1389888"/>
            <a:ext cx="2286000" cy="219456"/>
          </a:xfrm>
          <a:prstGeom prst="rect">
            <a:avLst/>
          </a:prstGeom>
          <a:noFill/>
          <a:ln/>
        </p:spPr>
        <p:txBody>
          <a:bodyPr wrap="square" lIns="0" tIns="0" rIns="0" bIns="0" rtlCol="0" anchor="ctr"/>
          <a:lstStyle/>
          <a:p>
            <a:pPr indent="0" marL="0">
              <a:buNone/>
            </a:pPr>
            <a:r>
              <a:rPr lang="en-US" sz="1200" b="1" dirty="0">
                <a:solidFill>
                  <a:srgbClr val="0B1F3A"/>
                </a:solidFill>
                <a:latin typeface="Yu Gothic" pitchFamily="34" charset="0"/>
                <a:ea typeface="Yu Gothic" pitchFamily="34" charset="-122"/>
                <a:cs typeface="Yu Gothic" pitchFamily="34" charset="-120"/>
              </a:rPr>
              <a:t>承認いただきたいこと</a:t>
            </a:r>
            <a:endParaRPr lang="en-US" sz="1200" dirty="0"/>
          </a:p>
        </p:txBody>
      </p:sp>
      <p:sp>
        <p:nvSpPr>
          <p:cNvPr id="7" name="Text 5"/>
          <p:cNvSpPr/>
          <p:nvPr/>
        </p:nvSpPr>
        <p:spPr>
          <a:xfrm>
            <a:off x="1234440" y="1691640"/>
            <a:ext cx="7589520" cy="292608"/>
          </a:xfrm>
          <a:prstGeom prst="rect">
            <a:avLst/>
          </a:prstGeom>
          <a:noFill/>
          <a:ln/>
        </p:spPr>
        <p:txBody>
          <a:bodyPr wrap="square" lIns="0" tIns="0" rIns="0" bIns="0" rtlCol="0" anchor="ctr">
            <a:normAutofit/>
          </a:bodyPr>
          <a:lstStyle/>
          <a:p>
            <a:pPr indent="0" marL="0">
              <a:buNone/>
            </a:pPr>
            <a:r>
              <a:rPr lang="en-US" sz="920" dirty="0">
                <a:solidFill>
                  <a:srgbClr val="334155"/>
                </a:solidFill>
                <a:latin typeface="Yu Gothic" pitchFamily="34" charset="0"/>
                <a:ea typeface="Yu Gothic" pitchFamily="34" charset="-122"/>
                <a:cs typeface="Yu Gothic" pitchFamily="34" charset="-120"/>
              </a:rPr>
              <a:t>12指数先物を対象に、Evidence Ensemble + Transformer Temporal ExpertのPoCを開始</a:t>
            </a:r>
            <a:endParaRPr lang="en-US" sz="920" dirty="0"/>
          </a:p>
        </p:txBody>
      </p:sp>
      <p:sp>
        <p:nvSpPr>
          <p:cNvPr id="8" name="Text 6"/>
          <p:cNvSpPr/>
          <p:nvPr/>
        </p:nvSpPr>
        <p:spPr>
          <a:xfrm>
            <a:off x="822960" y="2331720"/>
            <a:ext cx="310896" cy="310896"/>
          </a:xfrm>
          <a:prstGeom prst="rect">
            <a:avLst/>
          </a:prstGeom>
          <a:solidFill>
            <a:srgbClr val="10B981"/>
          </a:solidFill>
          <a:ln>
            <a:solidFill>
              <a:srgbClr val="10B981"/>
            </a:solid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9" name="Text 7"/>
          <p:cNvSpPr/>
          <p:nvPr/>
        </p:nvSpPr>
        <p:spPr>
          <a:xfrm>
            <a:off x="1234440" y="2304288"/>
            <a:ext cx="2286000" cy="219456"/>
          </a:xfrm>
          <a:prstGeom prst="rect">
            <a:avLst/>
          </a:prstGeom>
          <a:noFill/>
          <a:ln/>
        </p:spPr>
        <p:txBody>
          <a:bodyPr wrap="square" lIns="0" tIns="0" rIns="0" bIns="0" rtlCol="0" anchor="ctr"/>
          <a:lstStyle/>
          <a:p>
            <a:pPr indent="0" marL="0">
              <a:buNone/>
            </a:pPr>
            <a:r>
              <a:rPr lang="en-US" sz="1200" b="1" dirty="0">
                <a:solidFill>
                  <a:srgbClr val="0B1F3A"/>
                </a:solidFill>
                <a:latin typeface="Yu Gothic" pitchFamily="34" charset="0"/>
                <a:ea typeface="Yu Gothic" pitchFamily="34" charset="-122"/>
                <a:cs typeface="Yu Gothic" pitchFamily="34" charset="-120"/>
              </a:rPr>
              <a:t>初期スコープ</a:t>
            </a:r>
            <a:endParaRPr lang="en-US" sz="1200" dirty="0"/>
          </a:p>
        </p:txBody>
      </p:sp>
      <p:sp>
        <p:nvSpPr>
          <p:cNvPr id="10" name="Text 8"/>
          <p:cNvSpPr/>
          <p:nvPr/>
        </p:nvSpPr>
        <p:spPr>
          <a:xfrm>
            <a:off x="1234440" y="2606040"/>
            <a:ext cx="7589520" cy="292608"/>
          </a:xfrm>
          <a:prstGeom prst="rect">
            <a:avLst/>
          </a:prstGeom>
          <a:noFill/>
          <a:ln/>
        </p:spPr>
        <p:txBody>
          <a:bodyPr wrap="square" lIns="0" tIns="0" rIns="0" bIns="0" rtlCol="0" anchor="ctr">
            <a:normAutofit/>
          </a:bodyPr>
          <a:lstStyle/>
          <a:p>
            <a:pPr indent="0" marL="0">
              <a:buNone/>
            </a:pPr>
            <a:r>
              <a:rPr lang="en-US" sz="920" dirty="0">
                <a:solidFill>
                  <a:srgbClr val="334155"/>
                </a:solidFill>
                <a:latin typeface="Yu Gothic" pitchFamily="34" charset="0"/>
                <a:ea typeface="Yu Gothic" pitchFamily="34" charset="-122"/>
                <a:cs typeface="Yu Gothic" pitchFamily="34" charset="-120"/>
              </a:rPr>
              <a:t>20営業日先Rank予測、月次リバランス、OOS Rank IC / IR / コスト控除後で評価</a:t>
            </a:r>
            <a:endParaRPr lang="en-US" sz="920" dirty="0"/>
          </a:p>
        </p:txBody>
      </p:sp>
      <p:sp>
        <p:nvSpPr>
          <p:cNvPr id="11" name="Text 9"/>
          <p:cNvSpPr/>
          <p:nvPr/>
        </p:nvSpPr>
        <p:spPr>
          <a:xfrm>
            <a:off x="822960" y="3246120"/>
            <a:ext cx="310896" cy="310896"/>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12" name="Text 10"/>
          <p:cNvSpPr/>
          <p:nvPr/>
        </p:nvSpPr>
        <p:spPr>
          <a:xfrm>
            <a:off x="1234440" y="3218688"/>
            <a:ext cx="2286000" cy="219456"/>
          </a:xfrm>
          <a:prstGeom prst="rect">
            <a:avLst/>
          </a:prstGeom>
          <a:noFill/>
          <a:ln/>
        </p:spPr>
        <p:txBody>
          <a:bodyPr wrap="square" lIns="0" tIns="0" rIns="0" bIns="0" rtlCol="0" anchor="ctr"/>
          <a:lstStyle/>
          <a:p>
            <a:pPr indent="0" marL="0">
              <a:buNone/>
            </a:pPr>
            <a:r>
              <a:rPr lang="en-US" sz="1200" b="1" dirty="0">
                <a:solidFill>
                  <a:srgbClr val="0B1F3A"/>
                </a:solidFill>
                <a:latin typeface="Yu Gothic" pitchFamily="34" charset="0"/>
                <a:ea typeface="Yu Gothic" pitchFamily="34" charset="-122"/>
                <a:cs typeface="Yu Gothic" pitchFamily="34" charset="-120"/>
              </a:rPr>
              <a:t>期待成果物</a:t>
            </a:r>
            <a:endParaRPr lang="en-US" sz="1200" dirty="0"/>
          </a:p>
        </p:txBody>
      </p:sp>
      <p:sp>
        <p:nvSpPr>
          <p:cNvPr id="13" name="Text 11"/>
          <p:cNvSpPr/>
          <p:nvPr/>
        </p:nvSpPr>
        <p:spPr>
          <a:xfrm>
            <a:off x="1234440" y="3520440"/>
            <a:ext cx="7589520" cy="292608"/>
          </a:xfrm>
          <a:prstGeom prst="rect">
            <a:avLst/>
          </a:prstGeom>
          <a:noFill/>
          <a:ln/>
        </p:spPr>
        <p:txBody>
          <a:bodyPr wrap="square" lIns="0" tIns="0" rIns="0" bIns="0" rtlCol="0" anchor="ctr">
            <a:normAutofit/>
          </a:bodyPr>
          <a:lstStyle/>
          <a:p>
            <a:pPr indent="0" marL="0">
              <a:buNone/>
            </a:pPr>
            <a:r>
              <a:rPr lang="en-US" sz="920" dirty="0">
                <a:solidFill>
                  <a:srgbClr val="334155"/>
                </a:solidFill>
                <a:latin typeface="Yu Gothic" pitchFamily="34" charset="0"/>
                <a:ea typeface="Yu Gothic" pitchFamily="34" charset="-122"/>
                <a:cs typeface="Yu Gothic" pitchFamily="34" charset="-120"/>
              </a:rPr>
              <a:t>PM説明レポート、モデルウェイト履歴、Temporal Importance可視化、Backtest結果</a:t>
            </a:r>
            <a:endParaRPr lang="en-US" sz="920" dirty="0"/>
          </a:p>
        </p:txBody>
      </p:sp>
      <p:sp>
        <p:nvSpPr>
          <p:cNvPr id="14" name="Text 12"/>
          <p:cNvSpPr/>
          <p:nvPr/>
        </p:nvSpPr>
        <p:spPr>
          <a:xfrm>
            <a:off x="822960" y="4160520"/>
            <a:ext cx="310896" cy="310896"/>
          </a:xfrm>
          <a:prstGeom prst="rect">
            <a:avLst/>
          </a:prstGeom>
          <a:solidFill>
            <a:srgbClr val="F59E0B"/>
          </a:solidFill>
          <a:ln>
            <a:solidFill>
              <a:srgbClr val="F59E0B"/>
            </a:solid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4</a:t>
            </a:r>
            <a:endParaRPr lang="en-US" sz="900" dirty="0"/>
          </a:p>
        </p:txBody>
      </p:sp>
      <p:sp>
        <p:nvSpPr>
          <p:cNvPr id="15" name="Text 13"/>
          <p:cNvSpPr/>
          <p:nvPr/>
        </p:nvSpPr>
        <p:spPr>
          <a:xfrm>
            <a:off x="1234440" y="4133088"/>
            <a:ext cx="2286000" cy="219456"/>
          </a:xfrm>
          <a:prstGeom prst="rect">
            <a:avLst/>
          </a:prstGeom>
          <a:noFill/>
          <a:ln/>
        </p:spPr>
        <p:txBody>
          <a:bodyPr wrap="square" lIns="0" tIns="0" rIns="0" bIns="0" rtlCol="0" anchor="ctr"/>
          <a:lstStyle/>
          <a:p>
            <a:pPr indent="0" marL="0">
              <a:buNone/>
            </a:pPr>
            <a:r>
              <a:rPr lang="en-US" sz="1200" b="1" dirty="0">
                <a:solidFill>
                  <a:srgbClr val="0B1F3A"/>
                </a:solidFill>
                <a:latin typeface="Yu Gothic" pitchFamily="34" charset="0"/>
                <a:ea typeface="Yu Gothic" pitchFamily="34" charset="-122"/>
                <a:cs typeface="Yu Gothic" pitchFamily="34" charset="-120"/>
              </a:rPr>
              <a:t>Go条件</a:t>
            </a:r>
            <a:endParaRPr lang="en-US" sz="1200" dirty="0"/>
          </a:p>
        </p:txBody>
      </p:sp>
      <p:sp>
        <p:nvSpPr>
          <p:cNvPr id="16" name="Text 14"/>
          <p:cNvSpPr/>
          <p:nvPr/>
        </p:nvSpPr>
        <p:spPr>
          <a:xfrm>
            <a:off x="1234440" y="4434840"/>
            <a:ext cx="7589520" cy="292608"/>
          </a:xfrm>
          <a:prstGeom prst="rect">
            <a:avLst/>
          </a:prstGeom>
          <a:noFill/>
          <a:ln/>
        </p:spPr>
        <p:txBody>
          <a:bodyPr wrap="square" lIns="0" tIns="0" rIns="0" bIns="0" rtlCol="0" anchor="ctr">
            <a:normAutofit/>
          </a:bodyPr>
          <a:lstStyle/>
          <a:p>
            <a:pPr indent="0" marL="0">
              <a:buNone/>
            </a:pPr>
            <a:r>
              <a:rPr lang="en-US" sz="920" dirty="0">
                <a:solidFill>
                  <a:srgbClr val="334155"/>
                </a:solidFill>
                <a:latin typeface="Yu Gothic" pitchFamily="34" charset="0"/>
                <a:ea typeface="Yu Gothic" pitchFamily="34" charset="-122"/>
                <a:cs typeface="Yu Gothic" pitchFamily="34" charset="-120"/>
              </a:rPr>
              <a:t>既存LGBM比でOOS改善、説明資料がレビュー可能、過学習・リーケージ検証を通過</a:t>
            </a:r>
            <a:endParaRPr lang="en-US" sz="920" dirty="0"/>
          </a:p>
        </p:txBody>
      </p:sp>
      <p:sp>
        <p:nvSpPr>
          <p:cNvPr id="17" name="Text 15"/>
          <p:cNvSpPr/>
          <p:nvPr/>
        </p:nvSpPr>
        <p:spPr>
          <a:xfrm>
            <a:off x="9372600" y="1508760"/>
            <a:ext cx="2194560" cy="3108960"/>
          </a:xfrm>
          <a:prstGeom prst="rect">
            <a:avLst/>
          </a:prstGeom>
          <a:solidFill>
            <a:srgbClr val="0B1F3A"/>
          </a:solidFill>
          <a:ln>
            <a:solidFill>
              <a:srgbClr val="0B1F3A">
                <a:alpha val="0"/>
              </a:srgbClr>
            </a:solidFill>
          </a:ln>
        </p:spPr>
        <p:txBody>
          <a:bodyPr wrap="square" lIns="1905" tIns="1905" rIns="1905" bIns="1905" rtlCol="0" anchor="ctr">
            <a:norm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初期PoCの判断軸</a:t>
            </a:r>
            <a:endParaRPr lang="en-US" sz="1100" dirty="0"/>
          </a:p>
          <a:p>
            <a:pPr algn="ctr" indent="0" marL="0">
              <a:buNone/>
            </a:pPr>
            <a:endParaRPr lang="en-US" sz="1100" dirty="0"/>
          </a:p>
          <a:p>
            <a:pPr algn="ctr" indent="0" marL="0">
              <a:buNone/>
            </a:pPr>
            <a:r>
              <a:rPr lang="en-US" sz="1100" b="1" dirty="0">
                <a:solidFill>
                  <a:srgbClr val="FFFFFF"/>
                </a:solidFill>
                <a:latin typeface="Yu Gothic" pitchFamily="34" charset="0"/>
                <a:ea typeface="Yu Gothic" pitchFamily="34" charset="-122"/>
                <a:cs typeface="Yu Gothic" pitchFamily="34" charset="-120"/>
              </a:rPr>
              <a:t>1. 予測力が改善するか</a:t>
            </a:r>
            <a:endParaRPr lang="en-US" sz="1100" dirty="0"/>
          </a:p>
          <a:p>
            <a:pPr algn="ctr" indent="0" marL="0">
              <a:buNone/>
            </a:pPr>
            <a:r>
              <a:rPr lang="en-US" sz="1100" b="1" dirty="0">
                <a:solidFill>
                  <a:srgbClr val="FFFFFF"/>
                </a:solidFill>
                <a:latin typeface="Yu Gothic" pitchFamily="34" charset="0"/>
                <a:ea typeface="Yu Gothic" pitchFamily="34" charset="-122"/>
                <a:cs typeface="Yu Gothic" pitchFamily="34" charset="-120"/>
              </a:rPr>
              <a:t>2. PMが説明を受け入れられるか</a:t>
            </a:r>
            <a:endParaRPr lang="en-US" sz="1100" dirty="0"/>
          </a:p>
          <a:p>
            <a:pPr algn="ctr" indent="0" marL="0">
              <a:buNone/>
            </a:pPr>
            <a:r>
              <a:rPr lang="en-US" sz="1100" b="1" dirty="0">
                <a:solidFill>
                  <a:srgbClr val="FFFFFF"/>
                </a:solidFill>
                <a:latin typeface="Yu Gothic" pitchFamily="34" charset="0"/>
                <a:ea typeface="Yu Gothic" pitchFamily="34" charset="-122"/>
                <a:cs typeface="Yu Gothic" pitchFamily="34" charset="-120"/>
              </a:rPr>
              <a:t>3. データ・運用統制に耐えるか</a:t>
            </a:r>
            <a:endParaRPr lang="en-US" sz="1100" dirty="0"/>
          </a:p>
          <a:p>
            <a:pPr algn="ctr" indent="0" marL="0">
              <a:buNone/>
            </a:pPr>
            <a:r>
              <a:rPr lang="en-US" sz="1100" b="1" dirty="0">
                <a:solidFill>
                  <a:srgbClr val="FFFFFF"/>
                </a:solidFill>
                <a:latin typeface="Yu Gothic" pitchFamily="34" charset="0"/>
                <a:ea typeface="Yu Gothic" pitchFamily="34" charset="-122"/>
                <a:cs typeface="Yu Gothic" pitchFamily="34" charset="-120"/>
              </a:rPr>
              <a:t>4. 実装コストに見合うか</a:t>
            </a:r>
            <a:endParaRPr lang="en-US" sz="1100" dirty="0"/>
          </a:p>
        </p:txBody>
      </p:sp>
      <p:sp>
        <p:nvSpPr>
          <p:cNvPr id="18" name="Text 16"/>
          <p:cNvSpPr/>
          <p:nvPr/>
        </p:nvSpPr>
        <p:spPr>
          <a:xfrm>
            <a:off x="1051560" y="5486400"/>
            <a:ext cx="10012680" cy="493776"/>
          </a:xfrm>
          <a:prstGeom prst="rect">
            <a:avLst/>
          </a:prstGeom>
          <a:solidFill>
            <a:srgbClr val="FFF7ED"/>
          </a:solidFill>
          <a:ln w="12700">
            <a:solidFill>
              <a:srgbClr val="FED7AA"/>
            </a:solidFill>
          </a:ln>
        </p:spPr>
        <p:txBody>
          <a:bodyPr wrap="square" lIns="1016" tIns="1016" rIns="1016" bIns="1016" rtlCol="0" anchor="ctr">
            <a:normAutofit/>
          </a:bodyPr>
          <a:lstStyle/>
          <a:p>
            <a:pPr algn="ctr" indent="0" marL="0">
              <a:buNone/>
            </a:pPr>
            <a:r>
              <a:rPr lang="en-US" sz="1050" b="1" dirty="0">
                <a:solidFill>
                  <a:srgbClr val="334155"/>
                </a:solidFill>
                <a:latin typeface="Yu Gothic" pitchFamily="34" charset="0"/>
                <a:ea typeface="Yu Gothic" pitchFamily="34" charset="-122"/>
                <a:cs typeface="Yu Gothic" pitchFamily="34" charset="-120"/>
              </a:rPr>
              <a:t>推奨：Phase 1–3を先に実装し、TransformerはPhase 4で追加。</a:t>
            </a:r>
            <a:endParaRPr lang="en-US" sz="1050" dirty="0"/>
          </a:p>
          <a:p>
            <a:pPr algn="ctr" indent="0" marL="0">
              <a:buNone/>
            </a:pPr>
            <a:r>
              <a:rPr lang="en-US" sz="1050" b="1" dirty="0">
                <a:solidFill>
                  <a:srgbClr val="334155"/>
                </a:solidFill>
                <a:latin typeface="Yu Gothic" pitchFamily="34" charset="0"/>
                <a:ea typeface="Yu Gothic" pitchFamily="34" charset="-122"/>
                <a:cs typeface="Yu Gothic" pitchFamily="34" charset="-120"/>
              </a:rPr>
              <a:t>Evidence基盤ができていれば、Transformer追加時も説明体系は崩れない。</a:t>
            </a:r>
            <a:endParaRPr lang="en-US" sz="1050" dirty="0"/>
          </a:p>
        </p:txBody>
      </p:sp>
      <p:sp>
        <p:nvSpPr>
          <p:cNvPr id="19" name="Text 17"/>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20" name="Text 18"/>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18</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Appendix A：主要数式サマリー</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実装時に参照する式の概要</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822960" y="1234440"/>
            <a:ext cx="1828800" cy="347472"/>
          </a:xfrm>
          <a:prstGeom prst="rect">
            <a:avLst/>
          </a:prstGeom>
          <a:solidFill>
            <a:srgbClr val="DBEAFE"/>
          </a:solidFill>
          <a:ln w="12700">
            <a:solidFill>
              <a:srgbClr val="2563EB"/>
            </a:solidFill>
          </a:ln>
        </p:spPr>
        <p:txBody>
          <a:bodyPr wrap="square" lIns="1016" tIns="1016" rIns="1016" bIns="1016" rtlCol="0" anchor="ctr">
            <a:normAutofit/>
          </a:bodyPr>
          <a:lstStyle/>
          <a:p>
            <a:pPr algn="ctr" indent="0" marL="0">
              <a:buNone/>
            </a:pPr>
            <a:r>
              <a:rPr lang="en-US" sz="900" b="1" dirty="0">
                <a:solidFill>
                  <a:srgbClr val="2563EB"/>
                </a:solidFill>
                <a:latin typeface="Yu Gothic" pitchFamily="34" charset="0"/>
                <a:ea typeface="Yu Gothic" pitchFamily="34" charset="-122"/>
                <a:cs typeface="Yu Gothic" pitchFamily="34" charset="-120"/>
              </a:rPr>
              <a:t>Signal化</a:t>
            </a:r>
            <a:endParaRPr lang="en-US" sz="900" dirty="0"/>
          </a:p>
        </p:txBody>
      </p:sp>
      <p:sp>
        <p:nvSpPr>
          <p:cNvPr id="6" name="Text 4"/>
          <p:cNvSpPr/>
          <p:nvPr/>
        </p:nvSpPr>
        <p:spPr>
          <a:xfrm>
            <a:off x="2834640" y="1234440"/>
            <a:ext cx="8412480" cy="347472"/>
          </a:xfrm>
          <a:prstGeom prst="rect">
            <a:avLst/>
          </a:prstGeom>
          <a:solidFill>
            <a:srgbClr val="FFFFFF"/>
          </a:solidFill>
          <a:ln w="12700">
            <a:solidFill>
              <a:srgbClr val="CBD5E1"/>
            </a:solidFill>
          </a:ln>
        </p:spPr>
        <p:txBody>
          <a:bodyPr wrap="square" lIns="1016" tIns="1016" rIns="1016" bIns="1016" rtlCol="0" anchor="ctr">
            <a:normAutofit/>
          </a:bodyPr>
          <a:lstStyle/>
          <a:p>
            <a:pPr algn="l" indent="0" marL="0">
              <a:buNone/>
            </a:pPr>
            <a:r>
              <a:rPr lang="en-US" sz="950" dirty="0">
                <a:solidFill>
                  <a:srgbClr val="334155"/>
                </a:solidFill>
                <a:latin typeface="Yu Gothic" pitchFamily="34" charset="0"/>
                <a:ea typeface="Yu Gothic" pitchFamily="34" charset="-122"/>
                <a:cs typeface="Yu Gothic" pitchFamily="34" charset="-120"/>
              </a:rPr>
              <a:t>Percentileᵢ,t = 過去L日の分布内順位 / Z-score = (x−μ)/σ</a:t>
            </a:r>
            <a:endParaRPr lang="en-US" sz="950" dirty="0"/>
          </a:p>
        </p:txBody>
      </p:sp>
      <p:sp>
        <p:nvSpPr>
          <p:cNvPr id="7" name="Text 5"/>
          <p:cNvSpPr/>
          <p:nvPr/>
        </p:nvSpPr>
        <p:spPr>
          <a:xfrm>
            <a:off x="822960" y="1984248"/>
            <a:ext cx="1828800" cy="347472"/>
          </a:xfrm>
          <a:prstGeom prst="rect">
            <a:avLst/>
          </a:prstGeom>
          <a:solidFill>
            <a:srgbClr val="DBEAFE"/>
          </a:solidFill>
          <a:ln w="12700">
            <a:solidFill>
              <a:srgbClr val="2563EB"/>
            </a:solidFill>
          </a:ln>
        </p:spPr>
        <p:txBody>
          <a:bodyPr wrap="square" lIns="1016" tIns="1016" rIns="1016" bIns="1016" rtlCol="0" anchor="ctr">
            <a:normAutofit/>
          </a:bodyPr>
          <a:lstStyle/>
          <a:p>
            <a:pPr algn="ctr" indent="0" marL="0">
              <a:buNone/>
            </a:pPr>
            <a:r>
              <a:rPr lang="en-US" sz="900" b="1" dirty="0">
                <a:solidFill>
                  <a:srgbClr val="2563EB"/>
                </a:solidFill>
                <a:latin typeface="Yu Gothic" pitchFamily="34" charset="0"/>
                <a:ea typeface="Yu Gothic" pitchFamily="34" charset="-122"/>
                <a:cs typeface="Yu Gothic" pitchFamily="34" charset="-120"/>
              </a:rPr>
              <a:t>モデル動的ウェイト</a:t>
            </a:r>
            <a:endParaRPr lang="en-US" sz="900" dirty="0"/>
          </a:p>
        </p:txBody>
      </p:sp>
      <p:sp>
        <p:nvSpPr>
          <p:cNvPr id="8" name="Text 6"/>
          <p:cNvSpPr/>
          <p:nvPr/>
        </p:nvSpPr>
        <p:spPr>
          <a:xfrm>
            <a:off x="2834640" y="1984248"/>
            <a:ext cx="8412480" cy="347472"/>
          </a:xfrm>
          <a:prstGeom prst="rect">
            <a:avLst/>
          </a:prstGeom>
          <a:solidFill>
            <a:srgbClr val="FFFFFF"/>
          </a:solidFill>
          <a:ln w="12700">
            <a:solidFill>
              <a:srgbClr val="CBD5E1"/>
            </a:solidFill>
          </a:ln>
        </p:spPr>
        <p:txBody>
          <a:bodyPr wrap="square" lIns="1016" tIns="1016" rIns="1016" bIns="1016" rtlCol="0" anchor="ctr">
            <a:normAutofit/>
          </a:bodyPr>
          <a:lstStyle/>
          <a:p>
            <a:pPr algn="l" indent="0" marL="0">
              <a:buNone/>
            </a:pPr>
            <a:r>
              <a:rPr lang="en-US" sz="950" dirty="0">
                <a:solidFill>
                  <a:srgbClr val="334155"/>
                </a:solidFill>
                <a:latin typeface="Yu Gothic" pitchFamily="34" charset="0"/>
                <a:ea typeface="Yu Gothic" pitchFamily="34" charset="-122"/>
                <a:cs typeface="Yu Gothic" pitchFamily="34" charset="-120"/>
              </a:rPr>
              <a:t>wₘ,t = (1−ρ)Priorₘ + ρ Softmax(Qₘ,t)</a:t>
            </a:r>
            <a:endParaRPr lang="en-US" sz="950" dirty="0"/>
          </a:p>
        </p:txBody>
      </p:sp>
      <p:sp>
        <p:nvSpPr>
          <p:cNvPr id="9" name="Text 7"/>
          <p:cNvSpPr/>
          <p:nvPr/>
        </p:nvSpPr>
        <p:spPr>
          <a:xfrm>
            <a:off x="822960" y="2734056"/>
            <a:ext cx="1828800" cy="347472"/>
          </a:xfrm>
          <a:prstGeom prst="rect">
            <a:avLst/>
          </a:prstGeom>
          <a:solidFill>
            <a:srgbClr val="DBEAFE"/>
          </a:solidFill>
          <a:ln w="12700">
            <a:solidFill>
              <a:srgbClr val="2563EB"/>
            </a:solidFill>
          </a:ln>
        </p:spPr>
        <p:txBody>
          <a:bodyPr wrap="square" lIns="1016" tIns="1016" rIns="1016" bIns="1016" rtlCol="0" anchor="ctr">
            <a:normAutofit/>
          </a:bodyPr>
          <a:lstStyle/>
          <a:p>
            <a:pPr algn="ctr" indent="0" marL="0">
              <a:buNone/>
            </a:pPr>
            <a:r>
              <a:rPr lang="en-US" sz="900" b="1" dirty="0">
                <a:solidFill>
                  <a:srgbClr val="2563EB"/>
                </a:solidFill>
                <a:latin typeface="Yu Gothic" pitchFamily="34" charset="0"/>
                <a:ea typeface="Yu Gothic" pitchFamily="34" charset="-122"/>
                <a:cs typeface="Yu Gothic" pitchFamily="34" charset="-120"/>
              </a:rPr>
              <a:t>モデル信頼度</a:t>
            </a:r>
            <a:endParaRPr lang="en-US" sz="900" dirty="0"/>
          </a:p>
        </p:txBody>
      </p:sp>
      <p:sp>
        <p:nvSpPr>
          <p:cNvPr id="10" name="Text 8"/>
          <p:cNvSpPr/>
          <p:nvPr/>
        </p:nvSpPr>
        <p:spPr>
          <a:xfrm>
            <a:off x="2834640" y="2734056"/>
            <a:ext cx="8412480" cy="347472"/>
          </a:xfrm>
          <a:prstGeom prst="rect">
            <a:avLst/>
          </a:prstGeom>
          <a:solidFill>
            <a:srgbClr val="FFFFFF"/>
          </a:solidFill>
          <a:ln w="12700">
            <a:solidFill>
              <a:srgbClr val="CBD5E1"/>
            </a:solidFill>
          </a:ln>
        </p:spPr>
        <p:txBody>
          <a:bodyPr wrap="square" lIns="1016" tIns="1016" rIns="1016" bIns="1016" rtlCol="0" anchor="ctr">
            <a:normAutofit/>
          </a:bodyPr>
          <a:lstStyle/>
          <a:p>
            <a:pPr algn="l" indent="0" marL="0">
              <a:buNone/>
            </a:pPr>
            <a:r>
              <a:rPr lang="en-US" sz="950" dirty="0">
                <a:solidFill>
                  <a:srgbClr val="334155"/>
                </a:solidFill>
                <a:latin typeface="Yu Gothic" pitchFamily="34" charset="0"/>
                <a:ea typeface="Yu Gothic" pitchFamily="34" charset="-122"/>
                <a:cs typeface="Yu Gothic" pitchFamily="34" charset="-120"/>
              </a:rPr>
              <a:t>Qₘ,t = 0.5 Rank IC + 0.3 ICIR + 0.2 Hit Ratio − Turnover Penalty</a:t>
            </a:r>
            <a:endParaRPr lang="en-US" sz="950" dirty="0"/>
          </a:p>
        </p:txBody>
      </p:sp>
      <p:sp>
        <p:nvSpPr>
          <p:cNvPr id="11" name="Text 9"/>
          <p:cNvSpPr/>
          <p:nvPr/>
        </p:nvSpPr>
        <p:spPr>
          <a:xfrm>
            <a:off x="822960" y="3483864"/>
            <a:ext cx="1828800" cy="347472"/>
          </a:xfrm>
          <a:prstGeom prst="rect">
            <a:avLst/>
          </a:prstGeom>
          <a:solidFill>
            <a:srgbClr val="DBEAFE"/>
          </a:solidFill>
          <a:ln w="12700">
            <a:solidFill>
              <a:srgbClr val="2563EB"/>
            </a:solidFill>
          </a:ln>
        </p:spPr>
        <p:txBody>
          <a:bodyPr wrap="square" lIns="1016" tIns="1016" rIns="1016" bIns="1016" rtlCol="0" anchor="ctr">
            <a:normAutofit/>
          </a:bodyPr>
          <a:lstStyle/>
          <a:p>
            <a:pPr algn="ctr" indent="0" marL="0">
              <a:buNone/>
            </a:pPr>
            <a:r>
              <a:rPr lang="en-US" sz="900" b="1" dirty="0">
                <a:solidFill>
                  <a:srgbClr val="2563EB"/>
                </a:solidFill>
                <a:latin typeface="Yu Gothic" pitchFamily="34" charset="0"/>
                <a:ea typeface="Yu Gothic" pitchFamily="34" charset="-122"/>
                <a:cs typeface="Yu Gothic" pitchFamily="34" charset="-120"/>
              </a:rPr>
              <a:t>Mechanism Score</a:t>
            </a:r>
            <a:endParaRPr lang="en-US" sz="900" dirty="0"/>
          </a:p>
        </p:txBody>
      </p:sp>
      <p:sp>
        <p:nvSpPr>
          <p:cNvPr id="12" name="Text 10"/>
          <p:cNvSpPr/>
          <p:nvPr/>
        </p:nvSpPr>
        <p:spPr>
          <a:xfrm>
            <a:off x="2834640" y="3483864"/>
            <a:ext cx="8412480" cy="347472"/>
          </a:xfrm>
          <a:prstGeom prst="rect">
            <a:avLst/>
          </a:prstGeom>
          <a:solidFill>
            <a:srgbClr val="FFFFFF"/>
          </a:solidFill>
          <a:ln w="12700">
            <a:solidFill>
              <a:srgbClr val="CBD5E1"/>
            </a:solidFill>
          </a:ln>
        </p:spPr>
        <p:txBody>
          <a:bodyPr wrap="square" lIns="1016" tIns="1016" rIns="1016" bIns="1016" rtlCol="0" anchor="ctr">
            <a:normAutofit/>
          </a:bodyPr>
          <a:lstStyle/>
          <a:p>
            <a:pPr algn="l" indent="0" marL="0">
              <a:buNone/>
            </a:pPr>
            <a:r>
              <a:rPr lang="en-US" sz="950" dirty="0">
                <a:solidFill>
                  <a:srgbClr val="334155"/>
                </a:solidFill>
                <a:latin typeface="Yu Gothic" pitchFamily="34" charset="0"/>
                <a:ea typeface="Yu Gothic" pitchFamily="34" charset="-122"/>
                <a:cs typeface="Yu Gothic" pitchFamily="34" charset="-120"/>
              </a:rPr>
              <a:t>Sᵢ,e,t = Σₘ wₑ,m,t × model_scoreᵢ,m,t</a:t>
            </a:r>
            <a:endParaRPr lang="en-US" sz="950" dirty="0"/>
          </a:p>
        </p:txBody>
      </p:sp>
      <p:sp>
        <p:nvSpPr>
          <p:cNvPr id="13" name="Text 11"/>
          <p:cNvSpPr/>
          <p:nvPr/>
        </p:nvSpPr>
        <p:spPr>
          <a:xfrm>
            <a:off x="822960" y="4233672"/>
            <a:ext cx="1828800" cy="347472"/>
          </a:xfrm>
          <a:prstGeom prst="rect">
            <a:avLst/>
          </a:prstGeom>
          <a:solidFill>
            <a:srgbClr val="DBEAFE"/>
          </a:solidFill>
          <a:ln w="12700">
            <a:solidFill>
              <a:srgbClr val="2563EB"/>
            </a:solidFill>
          </a:ln>
        </p:spPr>
        <p:txBody>
          <a:bodyPr wrap="square" lIns="1016" tIns="1016" rIns="1016" bIns="1016" rtlCol="0" anchor="ctr">
            <a:normAutofit/>
          </a:bodyPr>
          <a:lstStyle/>
          <a:p>
            <a:pPr algn="ctr" indent="0" marL="0">
              <a:buNone/>
            </a:pPr>
            <a:r>
              <a:rPr lang="en-US" sz="900" b="1" dirty="0">
                <a:solidFill>
                  <a:srgbClr val="2563EB"/>
                </a:solidFill>
                <a:latin typeface="Yu Gothic" pitchFamily="34" charset="0"/>
                <a:ea typeface="Yu Gothic" pitchFamily="34" charset="-122"/>
                <a:cs typeface="Yu Gothic" pitchFamily="34" charset="-120"/>
              </a:rPr>
              <a:t>Final Alpha</a:t>
            </a:r>
            <a:endParaRPr lang="en-US" sz="900" dirty="0"/>
          </a:p>
        </p:txBody>
      </p:sp>
      <p:sp>
        <p:nvSpPr>
          <p:cNvPr id="14" name="Text 12"/>
          <p:cNvSpPr/>
          <p:nvPr/>
        </p:nvSpPr>
        <p:spPr>
          <a:xfrm>
            <a:off x="2834640" y="4233672"/>
            <a:ext cx="8412480" cy="347472"/>
          </a:xfrm>
          <a:prstGeom prst="rect">
            <a:avLst/>
          </a:prstGeom>
          <a:solidFill>
            <a:srgbClr val="FFFFFF"/>
          </a:solidFill>
          <a:ln w="12700">
            <a:solidFill>
              <a:srgbClr val="CBD5E1"/>
            </a:solidFill>
          </a:ln>
        </p:spPr>
        <p:txBody>
          <a:bodyPr wrap="square" lIns="1016" tIns="1016" rIns="1016" bIns="1016" rtlCol="0" anchor="ctr">
            <a:normAutofit/>
          </a:bodyPr>
          <a:lstStyle/>
          <a:p>
            <a:pPr algn="l" indent="0" marL="0">
              <a:buNone/>
            </a:pPr>
            <a:r>
              <a:rPr lang="en-US" sz="950" dirty="0">
                <a:solidFill>
                  <a:srgbClr val="334155"/>
                </a:solidFill>
                <a:latin typeface="Yu Gothic" pitchFamily="34" charset="0"/>
                <a:ea typeface="Yu Gothic" pitchFamily="34" charset="-122"/>
                <a:cs typeface="Yu Gothic" pitchFamily="34" charset="-120"/>
              </a:rPr>
              <a:t>Aᵢ,t = Σₑ Wₑ,t × Confidenceᵢ,e,t × Sᵢ,e,t</a:t>
            </a:r>
            <a:endParaRPr lang="en-US" sz="950" dirty="0"/>
          </a:p>
        </p:txBody>
      </p:sp>
      <p:sp>
        <p:nvSpPr>
          <p:cNvPr id="15" name="Text 13"/>
          <p:cNvSpPr/>
          <p:nvPr/>
        </p:nvSpPr>
        <p:spPr>
          <a:xfrm>
            <a:off x="822960" y="4983480"/>
            <a:ext cx="1828800" cy="347472"/>
          </a:xfrm>
          <a:prstGeom prst="rect">
            <a:avLst/>
          </a:prstGeom>
          <a:solidFill>
            <a:srgbClr val="DBEAFE"/>
          </a:solidFill>
          <a:ln w="12700">
            <a:solidFill>
              <a:srgbClr val="2563EB"/>
            </a:solidFill>
          </a:ln>
        </p:spPr>
        <p:txBody>
          <a:bodyPr wrap="square" lIns="1016" tIns="1016" rIns="1016" bIns="1016" rtlCol="0" anchor="ctr">
            <a:normAutofit/>
          </a:bodyPr>
          <a:lstStyle/>
          <a:p>
            <a:pPr algn="ctr" indent="0" marL="0">
              <a:buNone/>
            </a:pPr>
            <a:r>
              <a:rPr lang="en-US" sz="900" b="1" dirty="0">
                <a:solidFill>
                  <a:srgbClr val="2563EB"/>
                </a:solidFill>
                <a:latin typeface="Yu Gothic" pitchFamily="34" charset="0"/>
                <a:ea typeface="Yu Gothic" pitchFamily="34" charset="-122"/>
                <a:cs typeface="Yu Gothic" pitchFamily="34" charset="-120"/>
              </a:rPr>
              <a:t>Temporal Importance</a:t>
            </a:r>
            <a:endParaRPr lang="en-US" sz="900" dirty="0"/>
          </a:p>
        </p:txBody>
      </p:sp>
      <p:sp>
        <p:nvSpPr>
          <p:cNvPr id="16" name="Text 14"/>
          <p:cNvSpPr/>
          <p:nvPr/>
        </p:nvSpPr>
        <p:spPr>
          <a:xfrm>
            <a:off x="2834640" y="4983480"/>
            <a:ext cx="8412480" cy="347472"/>
          </a:xfrm>
          <a:prstGeom prst="rect">
            <a:avLst/>
          </a:prstGeom>
          <a:solidFill>
            <a:srgbClr val="FFFFFF"/>
          </a:solidFill>
          <a:ln w="12700">
            <a:solidFill>
              <a:srgbClr val="CBD5E1"/>
            </a:solidFill>
          </a:ln>
        </p:spPr>
        <p:txBody>
          <a:bodyPr wrap="square" lIns="1016" tIns="1016" rIns="1016" bIns="1016" rtlCol="0" anchor="ctr">
            <a:normAutofit/>
          </a:bodyPr>
          <a:lstStyle/>
          <a:p>
            <a:pPr algn="l" indent="0" marL="0">
              <a:buNone/>
            </a:pPr>
            <a:r>
              <a:rPr lang="en-US" sz="950" dirty="0">
                <a:solidFill>
                  <a:srgbClr val="334155"/>
                </a:solidFill>
                <a:latin typeface="Yu Gothic" pitchFamily="34" charset="0"/>
                <a:ea typeface="Yu Gothic" pitchFamily="34" charset="-122"/>
                <a:cs typeface="Yu Gothic" pitchFamily="34" charset="-120"/>
              </a:rPr>
              <a:t>TI(period) = Attention/Rollout + Occlusion + Gradient の合成</a:t>
            </a:r>
            <a:endParaRPr lang="en-US" sz="950" dirty="0"/>
          </a:p>
        </p:txBody>
      </p:sp>
      <p:sp>
        <p:nvSpPr>
          <p:cNvPr id="17" name="Text 15"/>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18" name="Text 16"/>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19</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310896"/>
            <a:ext cx="11155680" cy="420624"/>
          </a:xfrm>
          <a:prstGeom prst="rect">
            <a:avLst/>
          </a:prstGeom>
          <a:noFill/>
          <a:ln/>
        </p:spPr>
        <p:txBody>
          <a:bodyPr wrap="square" lIns="0" tIns="0" rIns="0" bIns="0" rtlCol="0" anchor="ctr">
            <a:normAutofit/>
          </a:bodyPr>
          <a:lstStyle/>
          <a:p>
            <a:pPr indent="0" marL="0">
              <a:buNone/>
            </a:pPr>
            <a:r>
              <a:rPr lang="en-US" sz="2200" b="1" dirty="0">
                <a:solidFill>
                  <a:srgbClr val="0B1F3A"/>
                </a:solidFill>
                <a:latin typeface="Yu Gothic" pitchFamily="34" charset="0"/>
                <a:ea typeface="Yu Gothic" pitchFamily="34" charset="-122"/>
                <a:cs typeface="Yu Gothic" pitchFamily="34" charset="-120"/>
              </a:rPr>
              <a:t>Appendix B：参考文献・研究上の位置づけ</a:t>
            </a:r>
            <a:endParaRPr lang="en-US" sz="2200" dirty="0"/>
          </a:p>
        </p:txBody>
      </p:sp>
      <p:sp>
        <p:nvSpPr>
          <p:cNvPr id="3" name="Text 1"/>
          <p:cNvSpPr/>
          <p:nvPr/>
        </p:nvSpPr>
        <p:spPr>
          <a:xfrm>
            <a:off x="475488" y="777240"/>
            <a:ext cx="10515600" cy="256032"/>
          </a:xfrm>
          <a:prstGeom prst="rect">
            <a:avLst/>
          </a:prstGeom>
          <a:noFill/>
          <a:ln/>
        </p:spPr>
        <p:txBody>
          <a:bodyPr wrap="square" lIns="0" tIns="0" rIns="0" bIns="0" rtlCol="0" anchor="ctr">
            <a:normAutofit/>
          </a:bodyPr>
          <a:lstStyle/>
          <a:p>
            <a:pPr indent="0" marL="0">
              <a:buNone/>
            </a:pPr>
            <a:r>
              <a:rPr lang="en-US" sz="940" dirty="0">
                <a:solidFill>
                  <a:srgbClr val="64748B"/>
                </a:solidFill>
                <a:latin typeface="Yu Gothic" pitchFamily="34" charset="0"/>
                <a:ea typeface="Yu Gothic" pitchFamily="34" charset="-122"/>
                <a:cs typeface="Yu Gothic" pitchFamily="34" charset="-120"/>
              </a:rPr>
              <a:t>本提案の根拠となる代表文献</a:t>
            </a:r>
            <a:endParaRPr lang="en-US" sz="940" dirty="0"/>
          </a:p>
        </p:txBody>
      </p:sp>
      <p:sp>
        <p:nvSpPr>
          <p:cNvPr id="4" name="Shape 2"/>
          <p:cNvSpPr/>
          <p:nvPr/>
        </p:nvSpPr>
        <p:spPr>
          <a:xfrm>
            <a:off x="457200" y="1078992"/>
            <a:ext cx="11247120" cy="0"/>
          </a:xfrm>
          <a:prstGeom prst="line">
            <a:avLst/>
          </a:prstGeom>
          <a:noFill/>
          <a:ln w="10160">
            <a:solidFill>
              <a:srgbClr val="CBD5E1"/>
            </a:solidFill>
            <a:prstDash val="solid"/>
          </a:ln>
        </p:spPr>
      </p:sp>
      <p:sp>
        <p:nvSpPr>
          <p:cNvPr id="5" name="Text 3"/>
          <p:cNvSpPr/>
          <p:nvPr/>
        </p:nvSpPr>
        <p:spPr>
          <a:xfrm>
            <a:off x="685800" y="1234440"/>
            <a:ext cx="10789920" cy="283464"/>
          </a:xfrm>
          <a:prstGeom prst="rect">
            <a:avLst/>
          </a:prstGeom>
          <a:noFill/>
          <a:ln/>
        </p:spPr>
        <p:txBody>
          <a:bodyPr wrap="square" lIns="0" tIns="0" rIns="0" bIns="0" rtlCol="0" anchor="ctr">
            <a:normAutofit/>
          </a:bodyPr>
          <a:lstStyle/>
          <a:p>
            <a:pPr indent="0" marL="0">
              <a:buNone/>
            </a:pPr>
            <a:r>
              <a:rPr lang="en-US" sz="760" dirty="0">
                <a:solidFill>
                  <a:srgbClr val="334155"/>
                </a:solidFill>
                <a:latin typeface="Yu Gothic" pitchFamily="34" charset="0"/>
                <a:ea typeface="Yu Gothic" pitchFamily="34" charset="-122"/>
                <a:cs typeface="Yu Gothic" pitchFamily="34" charset="-120"/>
              </a:rPr>
              <a:t>[1] Bates &amp; Granger (1969), The Combination of Forecasts — forecast combinationの古典的基礎。</a:t>
            </a:r>
            <a:endParaRPr lang="en-US" sz="760" dirty="0"/>
          </a:p>
        </p:txBody>
      </p:sp>
      <p:sp>
        <p:nvSpPr>
          <p:cNvPr id="6" name="Text 4"/>
          <p:cNvSpPr/>
          <p:nvPr/>
        </p:nvSpPr>
        <p:spPr>
          <a:xfrm>
            <a:off x="685800" y="1664208"/>
            <a:ext cx="10789920" cy="283464"/>
          </a:xfrm>
          <a:prstGeom prst="rect">
            <a:avLst/>
          </a:prstGeom>
          <a:noFill/>
          <a:ln/>
        </p:spPr>
        <p:txBody>
          <a:bodyPr wrap="square" lIns="0" tIns="0" rIns="0" bIns="0" rtlCol="0" anchor="ctr">
            <a:normAutofit/>
          </a:bodyPr>
          <a:lstStyle/>
          <a:p>
            <a:pPr indent="0" marL="0">
              <a:buNone/>
            </a:pPr>
            <a:r>
              <a:rPr lang="en-US" sz="760" dirty="0">
                <a:solidFill>
                  <a:srgbClr val="334155"/>
                </a:solidFill>
                <a:latin typeface="Yu Gothic" pitchFamily="34" charset="0"/>
                <a:ea typeface="Yu Gothic" pitchFamily="34" charset="-122"/>
                <a:cs typeface="Yu Gothic" pitchFamily="34" charset="-120"/>
              </a:rPr>
              <a:t>[2] Online expert advice / Exponential weights — 直近成績に応じたExpert重み更新の理論的枠組み。</a:t>
            </a:r>
            <a:endParaRPr lang="en-US" sz="760" dirty="0"/>
          </a:p>
        </p:txBody>
      </p:sp>
      <p:sp>
        <p:nvSpPr>
          <p:cNvPr id="7" name="Text 5"/>
          <p:cNvSpPr/>
          <p:nvPr/>
        </p:nvSpPr>
        <p:spPr>
          <a:xfrm>
            <a:off x="685800" y="2093976"/>
            <a:ext cx="10789920" cy="283464"/>
          </a:xfrm>
          <a:prstGeom prst="rect">
            <a:avLst/>
          </a:prstGeom>
          <a:noFill/>
          <a:ln/>
        </p:spPr>
        <p:txBody>
          <a:bodyPr wrap="square" lIns="0" tIns="0" rIns="0" bIns="0" rtlCol="0" anchor="ctr">
            <a:normAutofit/>
          </a:bodyPr>
          <a:lstStyle/>
          <a:p>
            <a:pPr indent="0" marL="0">
              <a:buNone/>
            </a:pPr>
            <a:r>
              <a:rPr lang="en-US" sz="760" dirty="0">
                <a:solidFill>
                  <a:srgbClr val="334155"/>
                </a:solidFill>
                <a:latin typeface="Yu Gothic" pitchFamily="34" charset="0"/>
                <a:ea typeface="Yu Gothic" pitchFamily="34" charset="-122"/>
                <a:cs typeface="Yu Gothic" pitchFamily="34" charset="-120"/>
              </a:rPr>
              <a:t>[3] Lundberg &amp; Lee (2017), SHAP — モデル説明の代表手法。ただし投資仮説説明には補完が必要。</a:t>
            </a:r>
            <a:endParaRPr lang="en-US" sz="760" dirty="0"/>
          </a:p>
        </p:txBody>
      </p:sp>
      <p:sp>
        <p:nvSpPr>
          <p:cNvPr id="8" name="Text 6"/>
          <p:cNvSpPr/>
          <p:nvPr/>
        </p:nvSpPr>
        <p:spPr>
          <a:xfrm>
            <a:off x="685800" y="2523744"/>
            <a:ext cx="10789920" cy="283464"/>
          </a:xfrm>
          <a:prstGeom prst="rect">
            <a:avLst/>
          </a:prstGeom>
          <a:noFill/>
          <a:ln/>
        </p:spPr>
        <p:txBody>
          <a:bodyPr wrap="square" lIns="0" tIns="0" rIns="0" bIns="0" rtlCol="0" anchor="ctr">
            <a:normAutofit/>
          </a:bodyPr>
          <a:lstStyle/>
          <a:p>
            <a:pPr indent="0" marL="0">
              <a:buNone/>
            </a:pPr>
            <a:r>
              <a:rPr lang="en-US" sz="760" dirty="0">
                <a:solidFill>
                  <a:srgbClr val="334155"/>
                </a:solidFill>
                <a:latin typeface="Yu Gothic" pitchFamily="34" charset="0"/>
                <a:ea typeface="Yu Gothic" pitchFamily="34" charset="-122"/>
                <a:cs typeface="Yu Gothic" pitchFamily="34" charset="-120"/>
              </a:rPr>
              <a:t>[4] Lim et al. (2021), Temporal Fusion Transformers — 多期間時系列予測と時間的解釈。</a:t>
            </a:r>
            <a:endParaRPr lang="en-US" sz="760" dirty="0"/>
          </a:p>
        </p:txBody>
      </p:sp>
      <p:sp>
        <p:nvSpPr>
          <p:cNvPr id="9" name="Text 7"/>
          <p:cNvSpPr/>
          <p:nvPr/>
        </p:nvSpPr>
        <p:spPr>
          <a:xfrm>
            <a:off x="685800" y="2953512"/>
            <a:ext cx="10789920" cy="283464"/>
          </a:xfrm>
          <a:prstGeom prst="rect">
            <a:avLst/>
          </a:prstGeom>
          <a:noFill/>
          <a:ln/>
        </p:spPr>
        <p:txBody>
          <a:bodyPr wrap="square" lIns="0" tIns="0" rIns="0" bIns="0" rtlCol="0" anchor="ctr">
            <a:normAutofit/>
          </a:bodyPr>
          <a:lstStyle/>
          <a:p>
            <a:pPr indent="0" marL="0">
              <a:buNone/>
            </a:pPr>
            <a:r>
              <a:rPr lang="en-US" sz="760" dirty="0">
                <a:solidFill>
                  <a:srgbClr val="334155"/>
                </a:solidFill>
                <a:latin typeface="Yu Gothic" pitchFamily="34" charset="0"/>
                <a:ea typeface="Yu Gothic" pitchFamily="34" charset="-122"/>
                <a:cs typeface="Yu Gothic" pitchFamily="34" charset="-120"/>
              </a:rPr>
              <a:t>[5] Nie et al. (2023), PatchTST — パッチ化により長期時系列を効率的に扱うTransformer。</a:t>
            </a:r>
            <a:endParaRPr lang="en-US" sz="760" dirty="0"/>
          </a:p>
        </p:txBody>
      </p:sp>
      <p:sp>
        <p:nvSpPr>
          <p:cNvPr id="10" name="Text 8"/>
          <p:cNvSpPr/>
          <p:nvPr/>
        </p:nvSpPr>
        <p:spPr>
          <a:xfrm>
            <a:off x="685800" y="3383280"/>
            <a:ext cx="10789920" cy="283464"/>
          </a:xfrm>
          <a:prstGeom prst="rect">
            <a:avLst/>
          </a:prstGeom>
          <a:noFill/>
          <a:ln/>
        </p:spPr>
        <p:txBody>
          <a:bodyPr wrap="square" lIns="0" tIns="0" rIns="0" bIns="0" rtlCol="0" anchor="ctr">
            <a:normAutofit/>
          </a:bodyPr>
          <a:lstStyle/>
          <a:p>
            <a:pPr indent="0" marL="0">
              <a:buNone/>
            </a:pPr>
            <a:r>
              <a:rPr lang="en-US" sz="760" dirty="0">
                <a:solidFill>
                  <a:srgbClr val="334155"/>
                </a:solidFill>
                <a:latin typeface="Yu Gothic" pitchFamily="34" charset="0"/>
                <a:ea typeface="Yu Gothic" pitchFamily="34" charset="-122"/>
                <a:cs typeface="Yu Gothic" pitchFamily="34" charset="-120"/>
              </a:rPr>
              <a:t>[6] Gu, Kelly &amp; Xiu (2020), Empirical Asset Pricing via ML — 金融MLの基礎文献。</a:t>
            </a:r>
            <a:endParaRPr lang="en-US" sz="760" dirty="0"/>
          </a:p>
        </p:txBody>
      </p:sp>
      <p:sp>
        <p:nvSpPr>
          <p:cNvPr id="11" name="Text 9"/>
          <p:cNvSpPr/>
          <p:nvPr/>
        </p:nvSpPr>
        <p:spPr>
          <a:xfrm>
            <a:off x="685800" y="3813048"/>
            <a:ext cx="10789920" cy="283464"/>
          </a:xfrm>
          <a:prstGeom prst="rect">
            <a:avLst/>
          </a:prstGeom>
          <a:noFill/>
          <a:ln/>
        </p:spPr>
        <p:txBody>
          <a:bodyPr wrap="square" lIns="0" tIns="0" rIns="0" bIns="0" rtlCol="0" anchor="ctr">
            <a:normAutofit/>
          </a:bodyPr>
          <a:lstStyle/>
          <a:p>
            <a:pPr indent="0" marL="0">
              <a:buNone/>
            </a:pPr>
            <a:r>
              <a:rPr lang="en-US" sz="760" dirty="0">
                <a:solidFill>
                  <a:srgbClr val="334155"/>
                </a:solidFill>
                <a:latin typeface="Yu Gothic" pitchFamily="34" charset="0"/>
                <a:ea typeface="Yu Gothic" pitchFamily="34" charset="-122"/>
                <a:cs typeface="Yu Gothic" pitchFamily="34" charset="-120"/>
              </a:rPr>
              <a:t>[7] Jain &amp; Wallace (2019), Attention is not Explanation — Attention解釈への注意。</a:t>
            </a:r>
            <a:endParaRPr lang="en-US" sz="760" dirty="0"/>
          </a:p>
        </p:txBody>
      </p:sp>
      <p:sp>
        <p:nvSpPr>
          <p:cNvPr id="12" name="Text 10"/>
          <p:cNvSpPr/>
          <p:nvPr/>
        </p:nvSpPr>
        <p:spPr>
          <a:xfrm>
            <a:off x="685800" y="4242816"/>
            <a:ext cx="10789920" cy="283464"/>
          </a:xfrm>
          <a:prstGeom prst="rect">
            <a:avLst/>
          </a:prstGeom>
          <a:noFill/>
          <a:ln/>
        </p:spPr>
        <p:txBody>
          <a:bodyPr wrap="square" lIns="0" tIns="0" rIns="0" bIns="0" rtlCol="0" anchor="ctr">
            <a:normAutofit/>
          </a:bodyPr>
          <a:lstStyle/>
          <a:p>
            <a:pPr indent="0" marL="0">
              <a:buNone/>
            </a:pPr>
            <a:r>
              <a:rPr lang="en-US" sz="760" dirty="0">
                <a:solidFill>
                  <a:srgbClr val="334155"/>
                </a:solidFill>
                <a:latin typeface="Yu Gothic" pitchFamily="34" charset="0"/>
                <a:ea typeface="Yu Gothic" pitchFamily="34" charset="-122"/>
                <a:cs typeface="Yu Gothic" pitchFamily="34" charset="-120"/>
              </a:rPr>
              <a:t>[8] Wiegreffe &amp; Pinter (2019), Attention is not not Explanation — Attention説明は設計・検証次第。</a:t>
            </a:r>
            <a:endParaRPr lang="en-US" sz="760" dirty="0"/>
          </a:p>
        </p:txBody>
      </p:sp>
      <p:sp>
        <p:nvSpPr>
          <p:cNvPr id="13" name="Text 11"/>
          <p:cNvSpPr/>
          <p:nvPr/>
        </p:nvSpPr>
        <p:spPr>
          <a:xfrm>
            <a:off x="685800" y="4672584"/>
            <a:ext cx="10789920" cy="283464"/>
          </a:xfrm>
          <a:prstGeom prst="rect">
            <a:avLst/>
          </a:prstGeom>
          <a:noFill/>
          <a:ln/>
        </p:spPr>
        <p:txBody>
          <a:bodyPr wrap="square" lIns="0" tIns="0" rIns="0" bIns="0" rtlCol="0" anchor="ctr">
            <a:normAutofit/>
          </a:bodyPr>
          <a:lstStyle/>
          <a:p>
            <a:pPr indent="0" marL="0">
              <a:buNone/>
            </a:pPr>
            <a:r>
              <a:rPr lang="en-US" sz="760" dirty="0">
                <a:solidFill>
                  <a:srgbClr val="334155"/>
                </a:solidFill>
                <a:latin typeface="Yu Gothic" pitchFamily="34" charset="0"/>
                <a:ea typeface="Yu Gothic" pitchFamily="34" charset="-122"/>
                <a:cs typeface="Yu Gothic" pitchFamily="34" charset="-120"/>
              </a:rPr>
              <a:t>[9] Combined ML with dynamic IC weighting (2025 preprint) — ICに基づく動的モデル加重の近年例。</a:t>
            </a:r>
            <a:endParaRPr lang="en-US" sz="760" dirty="0"/>
          </a:p>
        </p:txBody>
      </p:sp>
      <p:sp>
        <p:nvSpPr>
          <p:cNvPr id="14" name="Text 12"/>
          <p:cNvSpPr/>
          <p:nvPr/>
        </p:nvSpPr>
        <p:spPr>
          <a:xfrm>
            <a:off x="685800" y="5102352"/>
            <a:ext cx="10789920" cy="283464"/>
          </a:xfrm>
          <a:prstGeom prst="rect">
            <a:avLst/>
          </a:prstGeom>
          <a:noFill/>
          <a:ln/>
        </p:spPr>
        <p:txBody>
          <a:bodyPr wrap="square" lIns="0" tIns="0" rIns="0" bIns="0" rtlCol="0" anchor="ctr">
            <a:normAutofit/>
          </a:bodyPr>
          <a:lstStyle/>
          <a:p>
            <a:pPr indent="0" marL="0">
              <a:buNone/>
            </a:pPr>
            <a:r>
              <a:rPr lang="en-US" sz="760" dirty="0">
                <a:solidFill>
                  <a:srgbClr val="334155"/>
                </a:solidFill>
                <a:latin typeface="Yu Gothic" pitchFamily="34" charset="0"/>
                <a:ea typeface="Yu Gothic" pitchFamily="34" charset="-122"/>
                <a:cs typeface="Yu Gothic" pitchFamily="34" charset="-120"/>
              </a:rPr>
              <a:t>[10] Point-in-time Feature Store documentation — リーケージ防止の実務要件。</a:t>
            </a:r>
            <a:endParaRPr lang="en-US" sz="760" dirty="0"/>
          </a:p>
        </p:txBody>
      </p:sp>
      <p:sp>
        <p:nvSpPr>
          <p:cNvPr id="15" name="Text 13"/>
          <p:cNvSpPr/>
          <p:nvPr/>
        </p:nvSpPr>
        <p:spPr>
          <a:xfrm>
            <a:off x="685800" y="5806440"/>
            <a:ext cx="10789920" cy="384048"/>
          </a:xfrm>
          <a:prstGeom prst="rect">
            <a:avLst/>
          </a:prstGeom>
          <a:solidFill>
            <a:srgbClr val="F8FAFC"/>
          </a:solidFill>
          <a:ln w="12700">
            <a:solidFill>
              <a:srgbClr val="CBD5E1"/>
            </a:solidFill>
          </a:ln>
        </p:spPr>
        <p:txBody>
          <a:bodyPr wrap="square" lIns="1016" tIns="1016" rIns="1016" bIns="1016" rtlCol="0" anchor="ctr">
            <a:normAutofit/>
          </a:bodyPr>
          <a:lstStyle/>
          <a:p>
            <a:pPr algn="l" indent="0" marL="0">
              <a:buNone/>
            </a:pPr>
            <a:r>
              <a:rPr lang="en-US" sz="750" dirty="0">
                <a:solidFill>
                  <a:srgbClr val="64748B"/>
                </a:solidFill>
                <a:latin typeface="Yu Gothic" pitchFamily="34" charset="0"/>
                <a:ea typeface="Yu Gothic" pitchFamily="34" charset="-122"/>
                <a:cs typeface="Yu Gothic" pitchFamily="34" charset="-120"/>
              </a:rPr>
              <a:t>注：プレプリントや金融市場での外部研究結果は、そのまま本モデルで再現される保証はない。</a:t>
            </a:r>
            <a:endParaRPr lang="en-US" sz="750" dirty="0"/>
          </a:p>
          <a:p>
            <a:pPr algn="l" indent="0" marL="0">
              <a:buNone/>
            </a:pPr>
            <a:r>
              <a:rPr lang="en-US" sz="750" dirty="0">
                <a:solidFill>
                  <a:srgbClr val="64748B"/>
                </a:solidFill>
                <a:latin typeface="Yu Gothic" pitchFamily="34" charset="0"/>
                <a:ea typeface="Yu Gothic" pitchFamily="34" charset="-122"/>
                <a:cs typeface="Yu Gothic" pitchFamily="34" charset="-120"/>
              </a:rPr>
              <a:t>本提案では、あくまで上記知見を設計仮説として使い、12指数先物ユニバースでOOS検証する。</a:t>
            </a:r>
            <a:endParaRPr lang="en-US" sz="750" dirty="0"/>
          </a:p>
        </p:txBody>
      </p:sp>
      <p:sp>
        <p:nvSpPr>
          <p:cNvPr id="16" name="Text 14"/>
          <p:cNvSpPr/>
          <p:nvPr/>
        </p:nvSpPr>
        <p:spPr>
          <a:xfrm>
            <a:off x="411480" y="6510528"/>
            <a:ext cx="7132320" cy="182880"/>
          </a:xfrm>
          <a:prstGeom prst="rect">
            <a:avLst/>
          </a:prstGeom>
          <a:noFill/>
          <a:ln/>
        </p:spPr>
        <p:txBody>
          <a:bodyPr wrap="square" lIns="0" tIns="0" rIns="0" bIns="0" rtlCol="0" anchor="ctr"/>
          <a:lstStyle/>
          <a:p>
            <a:pPr indent="0" marL="0">
              <a:buNone/>
            </a:pPr>
            <a:r>
              <a:rPr lang="en-US" sz="580" dirty="0">
                <a:solidFill>
                  <a:srgbClr val="94A3B8"/>
                </a:solidFill>
                <a:latin typeface="Yu Gothic" pitchFamily="34" charset="0"/>
                <a:ea typeface="Yu Gothic" pitchFamily="34" charset="-122"/>
                <a:cs typeface="Yu Gothic" pitchFamily="34" charset="-120"/>
              </a:rPr>
              <a:t>Global Equity Futures AI | Evidence Ensemble + Transformer Temporal Expert</a:t>
            </a:r>
            <a:endParaRPr lang="en-US" sz="580" dirty="0"/>
          </a:p>
        </p:txBody>
      </p:sp>
      <p:sp>
        <p:nvSpPr>
          <p:cNvPr id="17" name="Text 15"/>
          <p:cNvSpPr/>
          <p:nvPr/>
        </p:nvSpPr>
        <p:spPr>
          <a:xfrm>
            <a:off x="11384280" y="6473952"/>
            <a:ext cx="320040" cy="201168"/>
          </a:xfrm>
          <a:prstGeom prst="rect">
            <a:avLst/>
          </a:prstGeom>
          <a:noFill/>
          <a:ln/>
        </p:spPr>
        <p:txBody>
          <a:bodyPr wrap="square" lIns="0" tIns="0" rIns="0" bIns="0" rtlCol="0" anchor="ctr"/>
          <a:lstStyle/>
          <a:p>
            <a:pPr algn="r" indent="0" marL="0">
              <a:buNone/>
            </a:pPr>
            <a:r>
              <a:rPr lang="en-US" sz="750" dirty="0">
                <a:solidFill>
                  <a:srgbClr val="94A3B8"/>
                </a:solidFill>
                <a:latin typeface="Aptos" pitchFamily="34" charset="0"/>
                <a:ea typeface="Aptos" pitchFamily="34" charset="-122"/>
                <a:cs typeface="Aptos" pitchFamily="34" charset="-120"/>
              </a:rPr>
              <a:t>20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PM向け提案資料：Explainable Evidence Ensemble + Transformer Temporal Expert</dc:title>
  <dc:subject>Global Equity Futures Explainable Evidence Ensemble</dc:subject>
  <dc:creator>OpenAI</dc:creator>
  <cp:lastModifiedBy>OpenAI</cp:lastModifiedBy>
  <cp:revision>1</cp:revision>
  <dcterms:created xsi:type="dcterms:W3CDTF">2026-07-12T05:08:30Z</dcterms:created>
  <dcterms:modified xsi:type="dcterms:W3CDTF">2026-07-12T05:08:30Z</dcterms:modified>
</cp:coreProperties>
</file>